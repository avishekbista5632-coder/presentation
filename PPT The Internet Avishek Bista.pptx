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Open Sauce Bold" charset="1" panose="00000800000000000000"/>
      <p:regular r:id="rId27"/>
    </p:embeddedFont>
    <p:embeddedFont>
      <p:font typeface="Open Sauce"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AutoShape 2" id="2"/>
          <p:cNvSpPr/>
          <p:nvPr/>
        </p:nvSpPr>
        <p:spPr>
          <a:xfrm>
            <a:off x="1529375" y="8515642"/>
            <a:ext cx="17690400" cy="42685"/>
          </a:xfrm>
          <a:prstGeom prst="line">
            <a:avLst/>
          </a:prstGeom>
          <a:ln cap="flat" w="38100">
            <a:solidFill>
              <a:srgbClr val="9B6543"/>
            </a:solidFill>
            <a:prstDash val="solid"/>
            <a:headEnd type="none" len="sm" w="sm"/>
            <a:tailEnd type="none" len="sm" w="sm"/>
          </a:ln>
        </p:spPr>
      </p:sp>
      <p:sp>
        <p:nvSpPr>
          <p:cNvPr name="AutoShape 3" id="3"/>
          <p:cNvSpPr/>
          <p:nvPr/>
        </p:nvSpPr>
        <p:spPr>
          <a:xfrm flipV="true">
            <a:off x="16275453" y="-5313442"/>
            <a:ext cx="0" cy="17120890"/>
          </a:xfrm>
          <a:prstGeom prst="line">
            <a:avLst/>
          </a:prstGeom>
          <a:ln cap="flat" w="38100">
            <a:solidFill>
              <a:srgbClr val="9B6543"/>
            </a:solidFill>
            <a:prstDash val="solid"/>
            <a:headEnd type="none" len="sm" w="sm"/>
            <a:tailEnd type="none" len="sm" w="sm"/>
          </a:ln>
        </p:spPr>
      </p:sp>
      <p:sp>
        <p:nvSpPr>
          <p:cNvPr name="Freeform 4" id="4"/>
          <p:cNvSpPr/>
          <p:nvPr/>
        </p:nvSpPr>
        <p:spPr>
          <a:xfrm flipH="false" flipV="false" rot="0">
            <a:off x="15668905" y="538895"/>
            <a:ext cx="1251197" cy="1251197"/>
          </a:xfrm>
          <a:custGeom>
            <a:avLst/>
            <a:gdLst/>
            <a:ahLst/>
            <a:cxnLst/>
            <a:rect r="r" b="b" t="t" l="l"/>
            <a:pathLst>
              <a:path h="1251197" w="1251197">
                <a:moveTo>
                  <a:pt x="0" y="0"/>
                </a:moveTo>
                <a:lnTo>
                  <a:pt x="1251197" y="0"/>
                </a:lnTo>
                <a:lnTo>
                  <a:pt x="1251197" y="1251197"/>
                </a:lnTo>
                <a:lnTo>
                  <a:pt x="0" y="1251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67053" y="4921104"/>
            <a:ext cx="5216125" cy="6154720"/>
          </a:xfrm>
          <a:custGeom>
            <a:avLst/>
            <a:gdLst/>
            <a:ahLst/>
            <a:cxnLst/>
            <a:rect r="r" b="b" t="t" l="l"/>
            <a:pathLst>
              <a:path h="6154720" w="5216125">
                <a:moveTo>
                  <a:pt x="0" y="0"/>
                </a:moveTo>
                <a:lnTo>
                  <a:pt x="5216126" y="0"/>
                </a:lnTo>
                <a:lnTo>
                  <a:pt x="5216126" y="6154720"/>
                </a:lnTo>
                <a:lnTo>
                  <a:pt x="0" y="6154720"/>
                </a:lnTo>
                <a:lnTo>
                  <a:pt x="0" y="0"/>
                </a:lnTo>
                <a:close/>
              </a:path>
            </a:pathLst>
          </a:custGeom>
          <a:blipFill>
            <a:blip r:embed="rId4"/>
            <a:stretch>
              <a:fillRect l="0" t="0" r="0" b="0"/>
            </a:stretch>
          </a:blipFill>
        </p:spPr>
      </p:sp>
      <p:sp>
        <p:nvSpPr>
          <p:cNvPr name="Freeform 6" id="6"/>
          <p:cNvSpPr/>
          <p:nvPr/>
        </p:nvSpPr>
        <p:spPr>
          <a:xfrm flipH="false" flipV="false" rot="0">
            <a:off x="2602207" y="2028569"/>
            <a:ext cx="4693731" cy="3114931"/>
          </a:xfrm>
          <a:custGeom>
            <a:avLst/>
            <a:gdLst/>
            <a:ahLst/>
            <a:cxnLst/>
            <a:rect r="r" b="b" t="t" l="l"/>
            <a:pathLst>
              <a:path h="3114931" w="4693731">
                <a:moveTo>
                  <a:pt x="0" y="0"/>
                </a:moveTo>
                <a:lnTo>
                  <a:pt x="4693731" y="0"/>
                </a:lnTo>
                <a:lnTo>
                  <a:pt x="4693731" y="3114931"/>
                </a:lnTo>
                <a:lnTo>
                  <a:pt x="0" y="311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2772944" y="3568555"/>
            <a:ext cx="1464374" cy="1352549"/>
          </a:xfrm>
          <a:custGeom>
            <a:avLst/>
            <a:gdLst/>
            <a:ahLst/>
            <a:cxnLst/>
            <a:rect r="r" b="b" t="t" l="l"/>
            <a:pathLst>
              <a:path h="1352549" w="1464374">
                <a:moveTo>
                  <a:pt x="0" y="0"/>
                </a:moveTo>
                <a:lnTo>
                  <a:pt x="1464374" y="0"/>
                </a:lnTo>
                <a:lnTo>
                  <a:pt x="1464374" y="1352549"/>
                </a:lnTo>
                <a:lnTo>
                  <a:pt x="0" y="1352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991132" y="4628990"/>
            <a:ext cx="4228689" cy="6738947"/>
          </a:xfrm>
          <a:custGeom>
            <a:avLst/>
            <a:gdLst/>
            <a:ahLst/>
            <a:cxnLst/>
            <a:rect r="r" b="b" t="t" l="l"/>
            <a:pathLst>
              <a:path h="6738947" w="4228689">
                <a:moveTo>
                  <a:pt x="0" y="0"/>
                </a:moveTo>
                <a:lnTo>
                  <a:pt x="4228689" y="0"/>
                </a:lnTo>
                <a:lnTo>
                  <a:pt x="4228689" y="6738947"/>
                </a:lnTo>
                <a:lnTo>
                  <a:pt x="0" y="6738947"/>
                </a:lnTo>
                <a:lnTo>
                  <a:pt x="0" y="0"/>
                </a:lnTo>
                <a:close/>
              </a:path>
            </a:pathLst>
          </a:custGeom>
          <a:blipFill>
            <a:blip r:embed="rId9"/>
            <a:stretch>
              <a:fillRect l="0" t="0" r="0" b="0"/>
            </a:stretch>
          </a:blipFill>
        </p:spPr>
      </p:sp>
      <p:sp>
        <p:nvSpPr>
          <p:cNvPr name="Freeform 9" id="9"/>
          <p:cNvSpPr/>
          <p:nvPr/>
        </p:nvSpPr>
        <p:spPr>
          <a:xfrm flipH="false" flipV="false" rot="0">
            <a:off x="-427834" y="-867796"/>
            <a:ext cx="2963187" cy="2657889"/>
          </a:xfrm>
          <a:custGeom>
            <a:avLst/>
            <a:gdLst/>
            <a:ahLst/>
            <a:cxnLst/>
            <a:rect r="r" b="b" t="t" l="l"/>
            <a:pathLst>
              <a:path h="2657889" w="2963187">
                <a:moveTo>
                  <a:pt x="0" y="0"/>
                </a:moveTo>
                <a:lnTo>
                  <a:pt x="2963186" y="0"/>
                </a:lnTo>
                <a:lnTo>
                  <a:pt x="2963186" y="2657888"/>
                </a:lnTo>
                <a:lnTo>
                  <a:pt x="0" y="26578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3092596" y="8577377"/>
            <a:ext cx="3534196" cy="3170067"/>
          </a:xfrm>
          <a:custGeom>
            <a:avLst/>
            <a:gdLst/>
            <a:ahLst/>
            <a:cxnLst/>
            <a:rect r="r" b="b" t="t" l="l"/>
            <a:pathLst>
              <a:path h="3170067" w="3534196">
                <a:moveTo>
                  <a:pt x="0" y="0"/>
                </a:moveTo>
                <a:lnTo>
                  <a:pt x="3534196" y="0"/>
                </a:lnTo>
                <a:lnTo>
                  <a:pt x="3534196" y="3170067"/>
                </a:lnTo>
                <a:lnTo>
                  <a:pt x="0" y="31700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272429" y="6008705"/>
            <a:ext cx="2686038" cy="4545603"/>
          </a:xfrm>
          <a:custGeom>
            <a:avLst/>
            <a:gdLst/>
            <a:ahLst/>
            <a:cxnLst/>
            <a:rect r="r" b="b" t="t" l="l"/>
            <a:pathLst>
              <a:path h="4545603" w="2686038">
                <a:moveTo>
                  <a:pt x="0" y="0"/>
                </a:moveTo>
                <a:lnTo>
                  <a:pt x="2686038" y="0"/>
                </a:lnTo>
                <a:lnTo>
                  <a:pt x="2686038" y="4545603"/>
                </a:lnTo>
                <a:lnTo>
                  <a:pt x="0" y="45456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4469724" y="3499095"/>
            <a:ext cx="9348551" cy="2996419"/>
          </a:xfrm>
          <a:prstGeom prst="rect">
            <a:avLst/>
          </a:prstGeom>
        </p:spPr>
        <p:txBody>
          <a:bodyPr anchor="t" rtlCol="false" tIns="0" lIns="0" bIns="0" rIns="0">
            <a:spAutoFit/>
          </a:bodyPr>
          <a:lstStyle/>
          <a:p>
            <a:pPr algn="ctr">
              <a:lnSpc>
                <a:spcPts val="11689"/>
              </a:lnSpc>
              <a:spcBef>
                <a:spcPct val="0"/>
              </a:spcBef>
            </a:pPr>
            <a:r>
              <a:rPr lang="en-US" b="true" sz="11027">
                <a:solidFill>
                  <a:srgbClr val="821438"/>
                </a:solidFill>
                <a:latin typeface="Open Sauce Bold"/>
                <a:ea typeface="Open Sauce Bold"/>
                <a:cs typeface="Open Sauce Bold"/>
                <a:sym typeface="Open Sauce Bold"/>
              </a:rPr>
              <a:t>THE INTERNET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AutoShape 2" id="2"/>
          <p:cNvSpPr/>
          <p:nvPr/>
        </p:nvSpPr>
        <p:spPr>
          <a:xfrm>
            <a:off x="-1434042" y="8463432"/>
            <a:ext cx="17690400" cy="42685"/>
          </a:xfrm>
          <a:prstGeom prst="line">
            <a:avLst/>
          </a:prstGeom>
          <a:ln cap="flat" w="38100">
            <a:solidFill>
              <a:srgbClr val="9B6543"/>
            </a:solidFill>
            <a:prstDash val="solid"/>
            <a:headEnd type="none" len="sm" w="sm"/>
            <a:tailEnd type="none" len="sm" w="sm"/>
          </a:ln>
        </p:spPr>
      </p:sp>
      <p:sp>
        <p:nvSpPr>
          <p:cNvPr name="AutoShape 3" id="3"/>
          <p:cNvSpPr/>
          <p:nvPr/>
        </p:nvSpPr>
        <p:spPr>
          <a:xfrm flipV="true">
            <a:off x="674063" y="-4848878"/>
            <a:ext cx="0" cy="17120890"/>
          </a:xfrm>
          <a:prstGeom prst="line">
            <a:avLst/>
          </a:prstGeom>
          <a:ln cap="flat" w="38100">
            <a:solidFill>
              <a:srgbClr val="9B6543"/>
            </a:solidFill>
            <a:prstDash val="solid"/>
            <a:headEnd type="none" len="sm" w="sm"/>
            <a:tailEnd type="none" len="sm" w="sm"/>
          </a:ln>
        </p:spPr>
      </p:sp>
      <p:sp>
        <p:nvSpPr>
          <p:cNvPr name="Freeform 4" id="4"/>
          <p:cNvSpPr/>
          <p:nvPr/>
        </p:nvSpPr>
        <p:spPr>
          <a:xfrm flipH="false" flipV="false" rot="0">
            <a:off x="0" y="611104"/>
            <a:ext cx="1386226" cy="1386226"/>
          </a:xfrm>
          <a:custGeom>
            <a:avLst/>
            <a:gdLst/>
            <a:ahLst/>
            <a:cxnLst/>
            <a:rect r="r" b="b" t="t" l="l"/>
            <a:pathLst>
              <a:path h="1386226" w="1386226">
                <a:moveTo>
                  <a:pt x="0" y="0"/>
                </a:moveTo>
                <a:lnTo>
                  <a:pt x="1386226" y="0"/>
                </a:lnTo>
                <a:lnTo>
                  <a:pt x="1386226" y="1386226"/>
                </a:lnTo>
                <a:lnTo>
                  <a:pt x="0" y="13862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388951" y="629086"/>
            <a:ext cx="3261914" cy="4114800"/>
          </a:xfrm>
          <a:custGeom>
            <a:avLst/>
            <a:gdLst/>
            <a:ahLst/>
            <a:cxnLst/>
            <a:rect r="r" b="b" t="t" l="l"/>
            <a:pathLst>
              <a:path h="4114800" w="3261914">
                <a:moveTo>
                  <a:pt x="0" y="0"/>
                </a:moveTo>
                <a:lnTo>
                  <a:pt x="3261914" y="0"/>
                </a:lnTo>
                <a:lnTo>
                  <a:pt x="3261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2994" y="1483655"/>
            <a:ext cx="16892052" cy="1202832"/>
          </a:xfrm>
          <a:prstGeom prst="rect">
            <a:avLst/>
          </a:prstGeom>
        </p:spPr>
        <p:txBody>
          <a:bodyPr anchor="t" rtlCol="false" tIns="0" lIns="0" bIns="0" rIns="0">
            <a:spAutoFit/>
          </a:bodyPr>
          <a:lstStyle/>
          <a:p>
            <a:pPr algn="ctr">
              <a:lnSpc>
                <a:spcPts val="9193"/>
              </a:lnSpc>
            </a:pPr>
            <a:r>
              <a:rPr lang="en-US" b="true" sz="8673">
                <a:solidFill>
                  <a:srgbClr val="821438"/>
                </a:solidFill>
                <a:latin typeface="Open Sauce Bold"/>
                <a:ea typeface="Open Sauce Bold"/>
                <a:cs typeface="Open Sauce Bold"/>
                <a:sym typeface="Open Sauce Bold"/>
              </a:rPr>
              <a:t>WHAT IS INTERNET?</a:t>
            </a:r>
          </a:p>
        </p:txBody>
      </p:sp>
      <p:sp>
        <p:nvSpPr>
          <p:cNvPr name="TextBox 7" id="7"/>
          <p:cNvSpPr txBox="true"/>
          <p:nvPr/>
        </p:nvSpPr>
        <p:spPr>
          <a:xfrm rot="0">
            <a:off x="740194" y="3602268"/>
            <a:ext cx="16279713" cy="3730636"/>
          </a:xfrm>
          <a:prstGeom prst="rect">
            <a:avLst/>
          </a:prstGeom>
        </p:spPr>
        <p:txBody>
          <a:bodyPr anchor="t" rtlCol="false" tIns="0" lIns="0" bIns="0" rIns="0">
            <a:spAutoFit/>
          </a:bodyPr>
          <a:lstStyle/>
          <a:p>
            <a:pPr algn="ctr">
              <a:lnSpc>
                <a:spcPts val="4922"/>
              </a:lnSpc>
              <a:spcBef>
                <a:spcPct val="0"/>
              </a:spcBef>
            </a:pPr>
          </a:p>
          <a:p>
            <a:pPr algn="ctr">
              <a:lnSpc>
                <a:spcPts val="4922"/>
              </a:lnSpc>
              <a:spcBef>
                <a:spcPct val="0"/>
              </a:spcBef>
            </a:pPr>
            <a:r>
              <a:rPr lang="en-US" b="true" sz="4643">
                <a:solidFill>
                  <a:srgbClr val="821438"/>
                </a:solidFill>
                <a:latin typeface="Open Sauce Bold"/>
                <a:ea typeface="Open Sauce Bold"/>
                <a:cs typeface="Open Sauce Bold"/>
                <a:sym typeface="Open Sauce Bold"/>
              </a:rPr>
              <a:t>THE INTERNET IS A GLOBAL NETWORK THAT CONNECTS MILLIONS OF COMPUTERS AND DEVICES. IT ALLOWS PEOPLE TO</a:t>
            </a:r>
          </a:p>
          <a:p>
            <a:pPr algn="ctr">
              <a:lnSpc>
                <a:spcPts val="4922"/>
              </a:lnSpc>
              <a:spcBef>
                <a:spcPct val="0"/>
              </a:spcBef>
            </a:pPr>
            <a:r>
              <a:rPr lang="en-US" b="true" sz="4643">
                <a:solidFill>
                  <a:srgbClr val="821438"/>
                </a:solidFill>
                <a:latin typeface="Open Sauce Bold"/>
                <a:ea typeface="Open Sauce Bold"/>
                <a:cs typeface="Open Sauce Bold"/>
                <a:sym typeface="Open Sauce Bold"/>
              </a:rPr>
              <a:t>SHARE INFORMATION AND COMMUNICATE FROM ANYWHERE IN THE WORLD.</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ADDCA"/>
        </a:solidFill>
      </p:bgPr>
    </p:bg>
    <p:spTree>
      <p:nvGrpSpPr>
        <p:cNvPr id="1" name=""/>
        <p:cNvGrpSpPr/>
        <p:nvPr/>
      </p:nvGrpSpPr>
      <p:grpSpPr>
        <a:xfrm>
          <a:off x="0" y="0"/>
          <a:ext cx="0" cy="0"/>
          <a:chOff x="0" y="0"/>
          <a:chExt cx="0" cy="0"/>
        </a:xfrm>
      </p:grpSpPr>
      <p:sp>
        <p:nvSpPr>
          <p:cNvPr name="TextBox 2" id="2"/>
          <p:cNvSpPr txBox="true"/>
          <p:nvPr/>
        </p:nvSpPr>
        <p:spPr>
          <a:xfrm rot="0">
            <a:off x="1722647" y="2079357"/>
            <a:ext cx="13969413" cy="7985713"/>
          </a:xfrm>
          <a:prstGeom prst="rect">
            <a:avLst/>
          </a:prstGeom>
        </p:spPr>
        <p:txBody>
          <a:bodyPr anchor="t" rtlCol="false" tIns="0" lIns="0" bIns="0" rIns="0">
            <a:spAutoFit/>
          </a:bodyPr>
          <a:lstStyle/>
          <a:p>
            <a:pPr algn="just">
              <a:lnSpc>
                <a:spcPts val="4517"/>
              </a:lnSpc>
            </a:pPr>
            <a:r>
              <a:rPr lang="en-US" sz="3226" b="true">
                <a:solidFill>
                  <a:srgbClr val="821438"/>
                </a:solidFill>
                <a:latin typeface="Open Sauce Bold"/>
                <a:ea typeface="Open Sauce Bold"/>
                <a:cs typeface="Open Sauce Bold"/>
                <a:sym typeface="Open Sauce Bold"/>
              </a:rPr>
              <a:t>1. Network of Networks: </a:t>
            </a:r>
            <a:r>
              <a:rPr lang="en-US" sz="3226">
                <a:solidFill>
                  <a:srgbClr val="821438"/>
                </a:solidFill>
                <a:latin typeface="Open Sauce"/>
                <a:ea typeface="Open Sauce"/>
                <a:cs typeface="Open Sauce"/>
                <a:sym typeface="Open Sauce"/>
              </a:rPr>
              <a:t>The Internet is not a single entity but rather a collection of interconnected networks. These networks, operated by different entities such as ISPs, government agencies, and corporations, agree to use common protocols and standards to exchange data.</a:t>
            </a:r>
          </a:p>
          <a:p>
            <a:pPr algn="just">
              <a:lnSpc>
                <a:spcPts val="4517"/>
              </a:lnSpc>
            </a:pPr>
            <a:r>
              <a:rPr lang="en-US" sz="3226" b="true">
                <a:solidFill>
                  <a:srgbClr val="821438"/>
                </a:solidFill>
                <a:latin typeface="Open Sauce Bold"/>
                <a:ea typeface="Open Sauce Bold"/>
                <a:cs typeface="Open Sauce Bold"/>
                <a:sym typeface="Open Sauce Bold"/>
              </a:rPr>
              <a:t>2. Internet Service Providers (ISPs):</a:t>
            </a:r>
            <a:r>
              <a:rPr lang="en-US" sz="3226">
                <a:solidFill>
                  <a:srgbClr val="821438"/>
                </a:solidFill>
                <a:latin typeface="Open Sauce"/>
                <a:ea typeface="Open Sauce"/>
                <a:cs typeface="Open Sauce"/>
                <a:sym typeface="Open Sauce"/>
              </a:rPr>
              <a:t> When users connect to the Internet, they do so through an Internet Service Provider (ISP). The ISP provides network services and serves as the gateway for users to access the Internet.</a:t>
            </a:r>
          </a:p>
          <a:p>
            <a:pPr algn="just">
              <a:lnSpc>
                <a:spcPts val="4517"/>
              </a:lnSpc>
            </a:pPr>
            <a:r>
              <a:rPr lang="en-US" sz="3226" b="true">
                <a:solidFill>
                  <a:srgbClr val="821438"/>
                </a:solidFill>
                <a:latin typeface="Open Sauce Bold"/>
                <a:ea typeface="Open Sauce Bold"/>
                <a:cs typeface="Open Sauce Bold"/>
                <a:sym typeface="Open Sauce Bold"/>
              </a:rPr>
              <a:t>3. Data Exchange:</a:t>
            </a:r>
            <a:r>
              <a:rPr lang="en-US" sz="3226">
                <a:solidFill>
                  <a:srgbClr val="821438"/>
                </a:solidFill>
                <a:latin typeface="Open Sauce"/>
                <a:ea typeface="Open Sauce"/>
                <a:cs typeface="Open Sauce"/>
                <a:sym typeface="Open Sauce"/>
              </a:rPr>
              <a:t> When users request content or services from websites or servers outside of their ISP's network, data packets flow through the ISP's network and through other interconnected networks to reach their destination. Each network charges its own customers for access but allows traffic from other networks to pass through.</a:t>
            </a:r>
          </a:p>
        </p:txBody>
      </p:sp>
      <p:sp>
        <p:nvSpPr>
          <p:cNvPr name="TextBox 3" id="3"/>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FUNCTION OF INTERNET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ADDCA"/>
        </a:solidFill>
      </p:bgPr>
    </p:bg>
    <p:spTree>
      <p:nvGrpSpPr>
        <p:cNvPr id="1" name=""/>
        <p:cNvGrpSpPr/>
        <p:nvPr/>
      </p:nvGrpSpPr>
      <p:grpSpPr>
        <a:xfrm>
          <a:off x="0" y="0"/>
          <a:ext cx="0" cy="0"/>
          <a:chOff x="0" y="0"/>
          <a:chExt cx="0" cy="0"/>
        </a:xfrm>
      </p:grpSpPr>
      <p:sp>
        <p:nvSpPr>
          <p:cNvPr name="TextBox 2" id="2"/>
          <p:cNvSpPr txBox="true"/>
          <p:nvPr/>
        </p:nvSpPr>
        <p:spPr>
          <a:xfrm rot="0">
            <a:off x="1722647" y="2079357"/>
            <a:ext cx="13969413" cy="7414213"/>
          </a:xfrm>
          <a:prstGeom prst="rect">
            <a:avLst/>
          </a:prstGeom>
        </p:spPr>
        <p:txBody>
          <a:bodyPr anchor="t" rtlCol="false" tIns="0" lIns="0" bIns="0" rIns="0">
            <a:spAutoFit/>
          </a:bodyPr>
          <a:lstStyle/>
          <a:p>
            <a:pPr algn="just">
              <a:lnSpc>
                <a:spcPts val="4517"/>
              </a:lnSpc>
            </a:pPr>
            <a:r>
              <a:rPr lang="en-US" b="true" sz="3226">
                <a:solidFill>
                  <a:srgbClr val="821438"/>
                </a:solidFill>
                <a:latin typeface="Open Sauce Bold"/>
                <a:ea typeface="Open Sauce Bold"/>
                <a:cs typeface="Open Sauce Bold"/>
                <a:sym typeface="Open Sauce Bold"/>
              </a:rPr>
              <a:t>4. Standards and Protocols: </a:t>
            </a:r>
            <a:r>
              <a:rPr lang="en-US" sz="3226">
                <a:solidFill>
                  <a:srgbClr val="821438"/>
                </a:solidFill>
                <a:latin typeface="Open Sauce"/>
                <a:ea typeface="Open Sauce"/>
                <a:cs typeface="Open Sauce"/>
                <a:sym typeface="Open Sauce"/>
              </a:rPr>
              <a:t>The Internet operates based on strict standards and protocols, particularly at the transport and network layers. These standards ensure compatibility and interoperability across different networks and devices connected to the Internet.</a:t>
            </a:r>
          </a:p>
          <a:p>
            <a:pPr algn="just">
              <a:lnSpc>
                <a:spcPts val="4517"/>
              </a:lnSpc>
            </a:pPr>
            <a:r>
              <a:rPr lang="en-US" b="true" sz="3226">
                <a:solidFill>
                  <a:srgbClr val="821438"/>
                </a:solidFill>
                <a:latin typeface="Open Sauce Bold"/>
                <a:ea typeface="Open Sauce Bold"/>
                <a:cs typeface="Open Sauce Bold"/>
                <a:sym typeface="Open Sauce Bold"/>
              </a:rPr>
              <a:t>5. Open Marketplace of Ideas: </a:t>
            </a:r>
            <a:r>
              <a:rPr lang="en-US" sz="3226">
                <a:solidFill>
                  <a:srgbClr val="821438"/>
                </a:solidFill>
                <a:latin typeface="Open Sauce"/>
                <a:ea typeface="Open Sauce"/>
                <a:cs typeface="Open Sauce"/>
                <a:sym typeface="Open Sauce"/>
              </a:rPr>
              <a:t>While the Internet adheres to rigid technical standards, it also fosters a culture of innovation and freedom of expression. Content and new application protocols are developed freely, and anyone in the world can contribute ideas and comments on proposed changes.</a:t>
            </a:r>
          </a:p>
          <a:p>
            <a:pPr algn="just">
              <a:lnSpc>
                <a:spcPts val="4517"/>
              </a:lnSpc>
            </a:pPr>
            <a:r>
              <a:rPr lang="en-US" b="true" sz="3226">
                <a:solidFill>
                  <a:srgbClr val="821438"/>
                </a:solidFill>
                <a:latin typeface="Open Sauce Bold"/>
                <a:ea typeface="Open Sauce Bold"/>
                <a:cs typeface="Open Sauce Bold"/>
                <a:sym typeface="Open Sauce Bold"/>
              </a:rPr>
              <a:t>6. Future of the Internet: </a:t>
            </a:r>
            <a:r>
              <a:rPr lang="en-US" sz="3226">
                <a:solidFill>
                  <a:srgbClr val="821438"/>
                </a:solidFill>
                <a:latin typeface="Open Sauce"/>
                <a:ea typeface="Open Sauce"/>
                <a:cs typeface="Open Sauce"/>
                <a:sym typeface="Open Sauce"/>
              </a:rPr>
              <a:t>The Internet continues to evolve, driven by advancements in technology, changing user behaviors, and emerging applications. As technology progresses, the Internet is likely to become even more pervasive and integral to daily life.</a:t>
            </a:r>
          </a:p>
        </p:txBody>
      </p:sp>
      <p:sp>
        <p:nvSpPr>
          <p:cNvPr name="TextBox 3" id="3"/>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FUNCTION OF INTERNET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62866" y="3479434"/>
            <a:ext cx="5916678" cy="3328131"/>
          </a:xfrm>
          <a:custGeom>
            <a:avLst/>
            <a:gdLst/>
            <a:ahLst/>
            <a:cxnLst/>
            <a:rect r="r" b="b" t="t" l="l"/>
            <a:pathLst>
              <a:path h="3328131" w="5916678">
                <a:moveTo>
                  <a:pt x="0" y="0"/>
                </a:moveTo>
                <a:lnTo>
                  <a:pt x="5916677" y="0"/>
                </a:lnTo>
                <a:lnTo>
                  <a:pt x="5916677" y="3328132"/>
                </a:lnTo>
                <a:lnTo>
                  <a:pt x="0" y="3328132"/>
                </a:lnTo>
                <a:lnTo>
                  <a:pt x="0" y="0"/>
                </a:lnTo>
                <a:close/>
              </a:path>
            </a:pathLst>
          </a:custGeom>
          <a:blipFill>
            <a:blip r:embed="rId4"/>
            <a:stretch>
              <a:fillRect l="0" t="0" r="0" b="0"/>
            </a:stretch>
          </a:blipFill>
        </p:spPr>
      </p:sp>
      <p:sp>
        <p:nvSpPr>
          <p:cNvPr name="TextBox 4" id="4"/>
          <p:cNvSpPr txBox="true"/>
          <p:nvPr/>
        </p:nvSpPr>
        <p:spPr>
          <a:xfrm rot="0">
            <a:off x="1700225" y="2389866"/>
            <a:ext cx="9642398" cy="5554892"/>
          </a:xfrm>
          <a:prstGeom prst="rect">
            <a:avLst/>
          </a:prstGeom>
        </p:spPr>
        <p:txBody>
          <a:bodyPr anchor="t" rtlCol="false" tIns="0" lIns="0" bIns="0" rIns="0">
            <a:spAutoFit/>
          </a:bodyPr>
          <a:lstStyle/>
          <a:p>
            <a:pPr algn="just">
              <a:lnSpc>
                <a:spcPts val="3688"/>
              </a:lnSpc>
              <a:spcBef>
                <a:spcPct val="0"/>
              </a:spcBef>
            </a:pPr>
            <a:r>
              <a:rPr lang="en-US" b="true" sz="3479">
                <a:solidFill>
                  <a:srgbClr val="821438"/>
                </a:solidFill>
                <a:latin typeface="Open Sauce Bold"/>
                <a:ea typeface="Open Sauce Bold"/>
                <a:cs typeface="Open Sauce Bold"/>
                <a:sym typeface="Open Sauce Bold"/>
              </a:rPr>
              <a:t>1. Tier 1 ISPS (Internet Service Providers):</a:t>
            </a:r>
          </a:p>
          <a:p>
            <a:pPr algn="just">
              <a:lnSpc>
                <a:spcPts val="3688"/>
              </a:lnSpc>
              <a:spcBef>
                <a:spcPct val="0"/>
              </a:spcBef>
            </a:pPr>
            <a:r>
              <a:rPr lang="en-US" b="true" sz="3479">
                <a:solidFill>
                  <a:srgbClr val="821438"/>
                </a:solidFill>
                <a:latin typeface="Open Sauce Bold"/>
                <a:ea typeface="Open Sauce Bold"/>
                <a:cs typeface="Open Sauce Bold"/>
                <a:sym typeface="Open Sauce Bold"/>
              </a:rPr>
              <a:t>➤ </a:t>
            </a:r>
            <a:r>
              <a:rPr lang="en-US" sz="3479">
                <a:solidFill>
                  <a:srgbClr val="821438"/>
                </a:solidFill>
                <a:latin typeface="Open Sauce"/>
                <a:ea typeface="Open Sauce"/>
                <a:cs typeface="Open Sauce"/>
                <a:sym typeface="Open Sauce"/>
              </a:rPr>
              <a:t>Tier 1 ISPs are the backbone of the Internet, providing high-speed connectivity and routing services on a global scale. </a:t>
            </a:r>
          </a:p>
          <a:p>
            <a:pPr algn="just">
              <a:lnSpc>
                <a:spcPts val="3688"/>
              </a:lnSpc>
              <a:spcBef>
                <a:spcPct val="0"/>
              </a:spcBef>
            </a:pPr>
            <a:r>
              <a:rPr lang="en-US" sz="3479">
                <a:solidFill>
                  <a:srgbClr val="821438"/>
                </a:solidFill>
                <a:latin typeface="Open Sauce"/>
                <a:ea typeface="Open Sauce"/>
                <a:cs typeface="Open Sauce"/>
                <a:sym typeface="Open Sauce"/>
              </a:rPr>
              <a:t>➤ These ISPs own and operate extensive networks of fiber-optic cables and other infrastructure to transmit data across long distances.</a:t>
            </a:r>
          </a:p>
          <a:p>
            <a:pPr algn="just">
              <a:lnSpc>
                <a:spcPts val="3688"/>
              </a:lnSpc>
              <a:spcBef>
                <a:spcPct val="0"/>
              </a:spcBef>
            </a:pPr>
            <a:r>
              <a:rPr lang="en-US" sz="3479">
                <a:solidFill>
                  <a:srgbClr val="821438"/>
                </a:solidFill>
                <a:latin typeface="Open Sauce"/>
                <a:ea typeface="Open Sauce"/>
                <a:cs typeface="Open Sauce"/>
                <a:sym typeface="Open Sauce"/>
              </a:rPr>
              <a:t>➤ Tier 1 ISPs peer with each other at major Internet exchange points to exchange traffic directly, minimizing the need for routing through other networks.</a:t>
            </a:r>
          </a:p>
        </p:txBody>
      </p:sp>
      <p:sp>
        <p:nvSpPr>
          <p:cNvPr name="TextBox 5" id="5"/>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BASIC 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45069" y="1972135"/>
            <a:ext cx="9777752" cy="6870885"/>
          </a:xfrm>
          <a:prstGeom prst="rect">
            <a:avLst/>
          </a:prstGeom>
        </p:spPr>
        <p:txBody>
          <a:bodyPr anchor="t" rtlCol="false" tIns="0" lIns="0" bIns="0" rIns="0">
            <a:spAutoFit/>
          </a:bodyPr>
          <a:lstStyle/>
          <a:p>
            <a:pPr algn="just">
              <a:lnSpc>
                <a:spcPts val="3607"/>
              </a:lnSpc>
            </a:pPr>
          </a:p>
          <a:p>
            <a:pPr algn="just">
              <a:lnSpc>
                <a:spcPts val="3607"/>
              </a:lnSpc>
            </a:pPr>
            <a:r>
              <a:rPr lang="en-US" sz="3403" b="true">
                <a:solidFill>
                  <a:srgbClr val="821438"/>
                </a:solidFill>
                <a:latin typeface="Open Sauce Bold"/>
                <a:ea typeface="Open Sauce Bold"/>
                <a:cs typeface="Open Sauce Bold"/>
                <a:sym typeface="Open Sauce Bold"/>
              </a:rPr>
              <a:t>2. Network Access Points (NAPs):</a:t>
            </a:r>
          </a:p>
          <a:p>
            <a:pPr algn="just">
              <a:lnSpc>
                <a:spcPts val="3607"/>
              </a:lnSpc>
            </a:pPr>
            <a:r>
              <a:rPr lang="en-US" sz="3403">
                <a:solidFill>
                  <a:srgbClr val="821438"/>
                </a:solidFill>
                <a:latin typeface="Open Sauce"/>
                <a:ea typeface="Open Sauce"/>
                <a:cs typeface="Open Sauce"/>
                <a:sym typeface="Open Sauce"/>
              </a:rPr>
              <a:t>➤ NAPs serve as pivotal exchange points where tier 1 ISPs interconnect to exchange traffic and data.</a:t>
            </a:r>
          </a:p>
          <a:p>
            <a:pPr algn="just">
              <a:lnSpc>
                <a:spcPts val="3607"/>
              </a:lnSpc>
            </a:pPr>
            <a:r>
              <a:rPr lang="en-US" sz="3403">
                <a:solidFill>
                  <a:srgbClr val="821438"/>
                </a:solidFill>
                <a:latin typeface="Open Sauce"/>
                <a:ea typeface="Open Sauce"/>
                <a:cs typeface="Open Sauce"/>
                <a:sym typeface="Open Sauce"/>
              </a:rPr>
              <a:t>➤ </a:t>
            </a:r>
            <a:r>
              <a:rPr lang="en-US" sz="3403">
                <a:solidFill>
                  <a:srgbClr val="821438"/>
                </a:solidFill>
                <a:latin typeface="Open Sauce"/>
                <a:ea typeface="Open Sauce"/>
                <a:cs typeface="Open Sauce"/>
                <a:sym typeface="Open Sauce"/>
              </a:rPr>
              <a:t>Initially established by the U.S. National Science Foundation (NSF) in the early 1990s, NAPs were designed to facilitate the connection of major ISPs.</a:t>
            </a:r>
          </a:p>
          <a:p>
            <a:pPr algn="just">
              <a:lnSpc>
                <a:spcPts val="3607"/>
              </a:lnSpc>
            </a:pPr>
            <a:r>
              <a:rPr lang="en-US" sz="3403">
                <a:solidFill>
                  <a:srgbClr val="821438"/>
                </a:solidFill>
                <a:latin typeface="Open Sauce"/>
                <a:ea typeface="Open Sauce"/>
                <a:cs typeface="Open Sauce"/>
                <a:sym typeface="Open Sauce"/>
              </a:rPr>
              <a:t>➤  </a:t>
            </a:r>
            <a:r>
              <a:rPr lang="en-US" sz="3403">
                <a:solidFill>
                  <a:srgbClr val="821438"/>
                </a:solidFill>
                <a:latin typeface="Open Sauce"/>
                <a:ea typeface="Open Sauce"/>
                <a:cs typeface="Open Sauce"/>
                <a:sym typeface="Open Sauce"/>
              </a:rPr>
              <a:t>NAPs are now managed by various entities, including not-for-profit organizations and commercial enterprises.</a:t>
            </a:r>
          </a:p>
          <a:p>
            <a:pPr algn="just">
              <a:lnSpc>
                <a:spcPts val="3607"/>
              </a:lnSpc>
              <a:spcBef>
                <a:spcPct val="0"/>
              </a:spcBef>
            </a:pPr>
            <a:r>
              <a:rPr lang="en-US" sz="3403">
                <a:solidFill>
                  <a:srgbClr val="821438"/>
                </a:solidFill>
                <a:latin typeface="Open Sauce"/>
                <a:ea typeface="Open Sauce"/>
                <a:cs typeface="Open Sauce"/>
                <a:sym typeface="Open Sauce"/>
              </a:rPr>
              <a:t>➤ </a:t>
            </a:r>
            <a:r>
              <a:rPr lang="en-US" sz="3403">
                <a:solidFill>
                  <a:srgbClr val="821438"/>
                </a:solidFill>
                <a:latin typeface="Open Sauce"/>
                <a:ea typeface="Open Sauce"/>
                <a:cs typeface="Open Sauce"/>
                <a:sym typeface="Open Sauce"/>
              </a:rPr>
              <a:t>They are strategically located in different regions to optimize data exchange efficiency and network redundancy.</a:t>
            </a:r>
          </a:p>
        </p:txBody>
      </p:sp>
      <p:sp>
        <p:nvSpPr>
          <p:cNvPr name="Freeform 4" id="4"/>
          <p:cNvSpPr/>
          <p:nvPr/>
        </p:nvSpPr>
        <p:spPr>
          <a:xfrm flipH="false" flipV="false" rot="0">
            <a:off x="11783438" y="3023486"/>
            <a:ext cx="5941631" cy="5230095"/>
          </a:xfrm>
          <a:custGeom>
            <a:avLst/>
            <a:gdLst/>
            <a:ahLst/>
            <a:cxnLst/>
            <a:rect r="r" b="b" t="t" l="l"/>
            <a:pathLst>
              <a:path h="5230095" w="5941631">
                <a:moveTo>
                  <a:pt x="0" y="0"/>
                </a:moveTo>
                <a:lnTo>
                  <a:pt x="5941630" y="0"/>
                </a:lnTo>
                <a:lnTo>
                  <a:pt x="5941630" y="5230095"/>
                </a:lnTo>
                <a:lnTo>
                  <a:pt x="0" y="5230095"/>
                </a:lnTo>
                <a:lnTo>
                  <a:pt x="0" y="0"/>
                </a:lnTo>
                <a:close/>
              </a:path>
            </a:pathLst>
          </a:custGeom>
          <a:blipFill>
            <a:blip r:embed="rId4"/>
            <a:stretch>
              <a:fillRect l="0" t="0" r="0" b="0"/>
            </a:stretch>
          </a:blipFill>
        </p:spPr>
      </p:sp>
      <p:sp>
        <p:nvSpPr>
          <p:cNvPr name="TextBox 5" id="5"/>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BASIC ARCHITECTURE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696639" y="2641373"/>
            <a:ext cx="6094031" cy="4567196"/>
          </a:xfrm>
          <a:custGeom>
            <a:avLst/>
            <a:gdLst/>
            <a:ahLst/>
            <a:cxnLst/>
            <a:rect r="r" b="b" t="t" l="l"/>
            <a:pathLst>
              <a:path h="4567196" w="6094031">
                <a:moveTo>
                  <a:pt x="0" y="0"/>
                </a:moveTo>
                <a:lnTo>
                  <a:pt x="6094032" y="0"/>
                </a:lnTo>
                <a:lnTo>
                  <a:pt x="6094032" y="4567196"/>
                </a:lnTo>
                <a:lnTo>
                  <a:pt x="0" y="4567196"/>
                </a:lnTo>
                <a:lnTo>
                  <a:pt x="0" y="0"/>
                </a:lnTo>
                <a:close/>
              </a:path>
            </a:pathLst>
          </a:custGeom>
          <a:blipFill>
            <a:blip r:embed="rId4"/>
            <a:stretch>
              <a:fillRect l="-15886" t="0" r="-15886" b="0"/>
            </a:stretch>
          </a:blipFill>
        </p:spPr>
      </p:sp>
      <p:sp>
        <p:nvSpPr>
          <p:cNvPr name="TextBox 4" id="4"/>
          <p:cNvSpPr txBox="true"/>
          <p:nvPr/>
        </p:nvSpPr>
        <p:spPr>
          <a:xfrm rot="0">
            <a:off x="1722647" y="2439826"/>
            <a:ext cx="9753292" cy="5042097"/>
          </a:xfrm>
          <a:prstGeom prst="rect">
            <a:avLst/>
          </a:prstGeom>
        </p:spPr>
        <p:txBody>
          <a:bodyPr anchor="t" rtlCol="false" tIns="0" lIns="0" bIns="0" rIns="0">
            <a:spAutoFit/>
          </a:bodyPr>
          <a:lstStyle/>
          <a:p>
            <a:pPr algn="just">
              <a:lnSpc>
                <a:spcPts val="3608"/>
              </a:lnSpc>
            </a:pPr>
            <a:r>
              <a:rPr lang="en-US" b="true" sz="3403">
                <a:solidFill>
                  <a:srgbClr val="821438"/>
                </a:solidFill>
                <a:latin typeface="Open Sauce Bold"/>
                <a:ea typeface="Open Sauce Bold"/>
                <a:cs typeface="Open Sauce Bold"/>
                <a:sym typeface="Open Sauce Bold"/>
              </a:rPr>
              <a:t>3. TIER 2 ISPS:</a:t>
            </a:r>
          </a:p>
          <a:p>
            <a:pPr algn="just">
              <a:lnSpc>
                <a:spcPts val="3608"/>
              </a:lnSpc>
            </a:pPr>
            <a:r>
              <a:rPr lang="en-US" sz="3403">
                <a:solidFill>
                  <a:srgbClr val="821438"/>
                </a:solidFill>
                <a:latin typeface="Open Sauce"/>
                <a:ea typeface="Open Sauce"/>
                <a:cs typeface="Open Sauce"/>
                <a:sym typeface="Open Sauce"/>
              </a:rPr>
              <a:t>➤ Tier 2 ISPs are regional or national providers that connect to tier 1 ISPs to access the broader Internet.</a:t>
            </a:r>
          </a:p>
          <a:p>
            <a:pPr algn="just">
              <a:lnSpc>
                <a:spcPts val="3608"/>
              </a:lnSpc>
            </a:pPr>
            <a:r>
              <a:rPr lang="en-US" sz="3403">
                <a:solidFill>
                  <a:srgbClr val="821438"/>
                </a:solidFill>
                <a:latin typeface="Open Sauce"/>
                <a:ea typeface="Open Sauce"/>
                <a:cs typeface="Open Sauce"/>
                <a:sym typeface="Open Sauce"/>
              </a:rPr>
              <a:t>➤ </a:t>
            </a:r>
            <a:r>
              <a:rPr lang="en-US" sz="3403">
                <a:solidFill>
                  <a:srgbClr val="821438"/>
                </a:solidFill>
                <a:latin typeface="Open Sauce"/>
                <a:ea typeface="Open Sauce"/>
                <a:cs typeface="Open Sauce"/>
                <a:sym typeface="Open Sauce"/>
              </a:rPr>
              <a:t>They often serve specific geographic areas or markets, providing connectivity and services to businesses, organizations, and residential customers.</a:t>
            </a:r>
          </a:p>
          <a:p>
            <a:pPr algn="just">
              <a:lnSpc>
                <a:spcPts val="3608"/>
              </a:lnSpc>
              <a:spcBef>
                <a:spcPct val="0"/>
              </a:spcBef>
            </a:pPr>
            <a:r>
              <a:rPr lang="en-US" sz="3403">
                <a:solidFill>
                  <a:srgbClr val="821438"/>
                </a:solidFill>
                <a:latin typeface="Open Sauce"/>
                <a:ea typeface="Open Sauce"/>
                <a:cs typeface="Open Sauce"/>
                <a:sym typeface="Open Sauce"/>
              </a:rPr>
              <a:t>➤ </a:t>
            </a:r>
            <a:r>
              <a:rPr lang="en-US" sz="3403">
                <a:solidFill>
                  <a:srgbClr val="821438"/>
                </a:solidFill>
                <a:latin typeface="Open Sauce"/>
                <a:ea typeface="Open Sauce"/>
                <a:cs typeface="Open Sauce"/>
                <a:sym typeface="Open Sauce"/>
              </a:rPr>
              <a:t>Tier 2 ISPs purchase bandwidth from tier 1 ISPs to transmit data across long distances and between regions or countries</a:t>
            </a:r>
          </a:p>
        </p:txBody>
      </p:sp>
      <p:sp>
        <p:nvSpPr>
          <p:cNvPr name="TextBox 5" id="5"/>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BASIC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900297" y="4012207"/>
            <a:ext cx="5498135" cy="3092701"/>
          </a:xfrm>
          <a:custGeom>
            <a:avLst/>
            <a:gdLst/>
            <a:ahLst/>
            <a:cxnLst/>
            <a:rect r="r" b="b" t="t" l="l"/>
            <a:pathLst>
              <a:path h="3092701" w="5498135">
                <a:moveTo>
                  <a:pt x="0" y="0"/>
                </a:moveTo>
                <a:lnTo>
                  <a:pt x="5498136" y="0"/>
                </a:lnTo>
                <a:lnTo>
                  <a:pt x="5498136" y="3092701"/>
                </a:lnTo>
                <a:lnTo>
                  <a:pt x="0" y="3092701"/>
                </a:lnTo>
                <a:lnTo>
                  <a:pt x="0" y="0"/>
                </a:lnTo>
                <a:close/>
              </a:path>
            </a:pathLst>
          </a:custGeom>
          <a:blipFill>
            <a:blip r:embed="rId4"/>
            <a:stretch>
              <a:fillRect l="0" t="0" r="0" b="0"/>
            </a:stretch>
          </a:blipFill>
        </p:spPr>
      </p:sp>
      <p:sp>
        <p:nvSpPr>
          <p:cNvPr name="TextBox 4" id="4"/>
          <p:cNvSpPr txBox="true"/>
          <p:nvPr/>
        </p:nvSpPr>
        <p:spPr>
          <a:xfrm rot="0">
            <a:off x="1722647" y="2439826"/>
            <a:ext cx="9753292" cy="6870897"/>
          </a:xfrm>
          <a:prstGeom prst="rect">
            <a:avLst/>
          </a:prstGeom>
        </p:spPr>
        <p:txBody>
          <a:bodyPr anchor="t" rtlCol="false" tIns="0" lIns="0" bIns="0" rIns="0">
            <a:spAutoFit/>
          </a:bodyPr>
          <a:lstStyle/>
          <a:p>
            <a:pPr algn="just">
              <a:lnSpc>
                <a:spcPts val="3608"/>
              </a:lnSpc>
            </a:pPr>
            <a:r>
              <a:rPr lang="en-US" b="true" sz="3403">
                <a:solidFill>
                  <a:srgbClr val="821438"/>
                </a:solidFill>
                <a:latin typeface="Open Sauce Bold"/>
                <a:ea typeface="Open Sauce Bold"/>
                <a:cs typeface="Open Sauce Bold"/>
                <a:sym typeface="Open Sauce Bold"/>
              </a:rPr>
              <a:t>4. METROPOLITAN AREA EXCHANGES (MAES):</a:t>
            </a:r>
          </a:p>
          <a:p>
            <a:pPr algn="just">
              <a:lnSpc>
                <a:spcPts val="3608"/>
              </a:lnSpc>
            </a:pPr>
            <a:r>
              <a:rPr lang="en-US" sz="3403" b="true">
                <a:solidFill>
                  <a:srgbClr val="821438"/>
                </a:solidFill>
                <a:latin typeface="Open Sauce Bold"/>
                <a:ea typeface="Open Sauce Bold"/>
                <a:cs typeface="Open Sauce Bold"/>
                <a:sym typeface="Open Sauce Bold"/>
              </a:rPr>
              <a:t>➤ </a:t>
            </a:r>
            <a:r>
              <a:rPr lang="en-US" sz="3403">
                <a:solidFill>
                  <a:srgbClr val="821438"/>
                </a:solidFill>
                <a:latin typeface="Open Sauce"/>
                <a:ea typeface="Open Sauce"/>
                <a:cs typeface="Open Sauce"/>
                <a:sym typeface="Open Sauce"/>
              </a:rPr>
              <a:t>MAEs are local exchange points located within major cities, facilitating the exchange of data among regional ISPs.</a:t>
            </a:r>
          </a:p>
          <a:p>
            <a:pPr algn="just">
              <a:lnSpc>
                <a:spcPts val="3608"/>
              </a:lnSpc>
            </a:pPr>
            <a:r>
              <a:rPr lang="en-US" sz="3403">
                <a:solidFill>
                  <a:srgbClr val="821438"/>
                </a:solidFill>
                <a:latin typeface="Open Sauce"/>
                <a:ea typeface="Open Sauce"/>
                <a:cs typeface="Open Sauce"/>
                <a:sym typeface="Open Sauce"/>
              </a:rPr>
              <a:t>➤ They function similarly to NAPS but operate at a smaller scale, focusing on connecting regional networks within specific metropolitan areas.</a:t>
            </a:r>
          </a:p>
          <a:p>
            <a:pPr algn="just">
              <a:lnSpc>
                <a:spcPts val="3608"/>
              </a:lnSpc>
            </a:pPr>
            <a:r>
              <a:rPr lang="en-US" sz="3403">
                <a:solidFill>
                  <a:srgbClr val="821438"/>
                </a:solidFill>
                <a:latin typeface="Open Sauce"/>
                <a:ea typeface="Open Sauce"/>
                <a:cs typeface="Open Sauce"/>
                <a:sym typeface="Open Sauce"/>
              </a:rPr>
              <a:t>➤ MAES enhance network efficiency by reducing latency and minimizing the need for data to travel long distances between regions.</a:t>
            </a:r>
          </a:p>
          <a:p>
            <a:pPr algn="just">
              <a:lnSpc>
                <a:spcPts val="3608"/>
              </a:lnSpc>
              <a:spcBef>
                <a:spcPct val="0"/>
              </a:spcBef>
            </a:pPr>
            <a:r>
              <a:rPr lang="en-US" sz="3403">
                <a:solidFill>
                  <a:srgbClr val="821438"/>
                </a:solidFill>
                <a:latin typeface="Open Sauce"/>
                <a:ea typeface="Open Sauce"/>
                <a:cs typeface="Open Sauce"/>
                <a:sym typeface="Open Sauce"/>
              </a:rPr>
              <a:t>➤ These exchanges play a crucial role in optimizing network performance and enabling local traffic exchange.</a:t>
            </a:r>
          </a:p>
        </p:txBody>
      </p:sp>
      <p:sp>
        <p:nvSpPr>
          <p:cNvPr name="TextBox 5" id="5"/>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BASIC ARCHITECTURE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60955"/>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CONNECTING TO AN ISP</a:t>
            </a:r>
          </a:p>
        </p:txBody>
      </p:sp>
      <p:sp>
        <p:nvSpPr>
          <p:cNvPr name="TextBox 4" id="4"/>
          <p:cNvSpPr txBox="true"/>
          <p:nvPr/>
        </p:nvSpPr>
        <p:spPr>
          <a:xfrm rot="0">
            <a:off x="1700225" y="2389866"/>
            <a:ext cx="15453675" cy="234786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1. Points of Presence (POPs):</a:t>
            </a:r>
          </a:p>
          <a:p>
            <a:pPr algn="just">
              <a:lnSpc>
                <a:spcPts val="3688"/>
              </a:lnSpc>
            </a:pPr>
            <a:r>
              <a:rPr lang="en-US" sz="3479" b="true">
                <a:solidFill>
                  <a:srgbClr val="821438"/>
                </a:solidFill>
                <a:latin typeface="Open Sauce Bold"/>
                <a:ea typeface="Open Sauce Bold"/>
                <a:cs typeface="Open Sauce Bold"/>
                <a:sym typeface="Open Sauce Bold"/>
              </a:rPr>
              <a:t>- </a:t>
            </a:r>
            <a:r>
              <a:rPr lang="en-US" sz="3479">
                <a:solidFill>
                  <a:srgbClr val="821438"/>
                </a:solidFill>
                <a:latin typeface="Open Sauce"/>
                <a:ea typeface="Open Sauce"/>
                <a:cs typeface="Open Sauce"/>
                <a:sym typeface="Open Sauce"/>
              </a:rPr>
              <a:t>POPs are physical locations where ISPs provide network services to their customers.</a:t>
            </a:r>
          </a:p>
          <a:p>
            <a:pPr algn="just">
              <a:lnSpc>
                <a:spcPts val="3688"/>
              </a:lnSpc>
              <a:spcBef>
                <a:spcPct val="0"/>
              </a:spcBef>
            </a:pPr>
            <a:r>
              <a:rPr lang="en-US" sz="3479">
                <a:solidFill>
                  <a:srgbClr val="821438"/>
                </a:solidFill>
                <a:latin typeface="Open Sauce"/>
                <a:ea typeface="Open Sauce"/>
                <a:cs typeface="Open Sauce"/>
                <a:sym typeface="Open Sauce"/>
              </a:rPr>
              <a:t>- ISPs strategically position POPs in areas with high demand for internet services, Such as urban centers and business districts.</a:t>
            </a:r>
          </a:p>
        </p:txBody>
      </p:sp>
      <p:sp>
        <p:nvSpPr>
          <p:cNvPr name="TextBox 5" id="5"/>
          <p:cNvSpPr txBox="true"/>
          <p:nvPr/>
        </p:nvSpPr>
        <p:spPr>
          <a:xfrm rot="0">
            <a:off x="1722647" y="5718805"/>
            <a:ext cx="15431252" cy="2814589"/>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2. Customer Circuits:</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Customers establish connections to their ISP's network through various types of circuits, each offering different speeds and capacities.</a:t>
            </a:r>
          </a:p>
          <a:p>
            <a:pPr algn="just">
              <a:lnSpc>
                <a:spcPts val="3688"/>
              </a:lnSpc>
              <a:spcBef>
                <a:spcPct val="0"/>
              </a:spcBef>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DSL modems and cable modems are common choices for residential users, offering broadband internet access over existing telephone or cable TV lines.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CONNECTING TO AN ISP</a:t>
            </a:r>
          </a:p>
        </p:txBody>
      </p:sp>
      <p:sp>
        <p:nvSpPr>
          <p:cNvPr name="TextBox 4" id="4"/>
          <p:cNvSpPr txBox="true"/>
          <p:nvPr/>
        </p:nvSpPr>
        <p:spPr>
          <a:xfrm rot="0">
            <a:off x="1722647" y="5452105"/>
            <a:ext cx="15453675" cy="421476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4. Internal ISP Network:</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 Within the ISP's network, traffic flows between customers and services hosted within the ISP's infrastructure.</a:t>
            </a:r>
          </a:p>
          <a:p>
            <a:pPr algn="just">
              <a:lnSpc>
                <a:spcPts val="3688"/>
              </a:lnSpc>
            </a:pPr>
            <a:r>
              <a:rPr lang="en-US" sz="3479">
                <a:solidFill>
                  <a:srgbClr val="821438"/>
                </a:solidFill>
                <a:latin typeface="Open Sauce"/>
                <a:ea typeface="Open Sauce"/>
                <a:cs typeface="Open Sauce"/>
                <a:sym typeface="Open Sauce"/>
              </a:rPr>
              <a:t>-</a:t>
            </a:r>
            <a:r>
              <a:rPr lang="en-US" sz="3479">
                <a:solidFill>
                  <a:srgbClr val="821438"/>
                </a:solidFill>
                <a:latin typeface="Open Sauce"/>
                <a:ea typeface="Open Sauce"/>
                <a:cs typeface="Open Sauce"/>
                <a:sym typeface="Open Sauce"/>
              </a:rPr>
              <a:t> ISPs deploy routing protocols and network management systems to optimize traffic flow, minimize latency, and ensure high availability.</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 Core routers and switches within the ISP's network handle the routing and forwarding of data packets between different network segments and POPs.</a:t>
            </a:r>
          </a:p>
          <a:p>
            <a:pPr algn="just">
              <a:lnSpc>
                <a:spcPts val="3688"/>
              </a:lnSpc>
              <a:spcBef>
                <a:spcPct val="0"/>
              </a:spcBef>
            </a:pPr>
          </a:p>
        </p:txBody>
      </p:sp>
      <p:sp>
        <p:nvSpPr>
          <p:cNvPr name="TextBox 5" id="5"/>
          <p:cNvSpPr txBox="true"/>
          <p:nvPr/>
        </p:nvSpPr>
        <p:spPr>
          <a:xfrm rot="0">
            <a:off x="1722647" y="2391774"/>
            <a:ext cx="15453675" cy="2814589"/>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3. Internet Access and Circuit Costs:</a:t>
            </a:r>
          </a:p>
          <a:p>
            <a:pPr algn="just">
              <a:lnSpc>
                <a:spcPts val="3688"/>
              </a:lnSpc>
            </a:pPr>
            <a:r>
              <a:rPr lang="en-US" sz="3479">
                <a:solidFill>
                  <a:srgbClr val="821438"/>
                </a:solidFill>
                <a:latin typeface="Open Sauce"/>
                <a:ea typeface="Open Sauce"/>
                <a:cs typeface="Open Sauce"/>
                <a:sym typeface="Open Sauce"/>
              </a:rPr>
              <a:t>-</a:t>
            </a:r>
            <a:r>
              <a:rPr lang="en-US" sz="3479">
                <a:solidFill>
                  <a:srgbClr val="821438"/>
                </a:solidFill>
                <a:latin typeface="Open Sauce"/>
                <a:ea typeface="Open Sauce"/>
                <a:cs typeface="Open Sauce"/>
                <a:sym typeface="Open Sauce"/>
              </a:rPr>
              <a:t> Customers pay for internet access based on the service plan and bandwidth allocation provided by the ISP.</a:t>
            </a:r>
          </a:p>
          <a:p>
            <a:pPr algn="just">
              <a:lnSpc>
                <a:spcPts val="3688"/>
              </a:lnSpc>
            </a:pPr>
            <a:r>
              <a:rPr lang="en-US" sz="3479">
                <a:solidFill>
                  <a:srgbClr val="821438"/>
                </a:solidFill>
                <a:latin typeface="Open Sauce"/>
                <a:ea typeface="Open Sauce"/>
                <a:cs typeface="Open Sauce"/>
                <a:sym typeface="Open Sauce"/>
              </a:rPr>
              <a:t>-</a:t>
            </a:r>
            <a:r>
              <a:rPr lang="en-US" sz="3479">
                <a:solidFill>
                  <a:srgbClr val="821438"/>
                </a:solidFill>
                <a:latin typeface="Open Sauce"/>
                <a:ea typeface="Open Sauce"/>
                <a:cs typeface="Open Sauce"/>
                <a:sym typeface="Open Sauce"/>
              </a:rPr>
              <a:t> Circuit costs depend on factors such as distance, capacity, and service level agreements (SLAs) with the service provider.</a:t>
            </a:r>
          </a:p>
          <a:p>
            <a:pPr algn="just">
              <a:lnSpc>
                <a:spcPts val="3688"/>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700225" y="2389866"/>
            <a:ext cx="15453675" cy="421476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5. Routing Efficiency Challenges:</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Internet traffic follows complex routing paths determined by routing protocols and traffic engineering algorithms.</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Routing decisions are influenced by factors such as network congestion, link availability, and peering agreements between ISPs.</a:t>
            </a:r>
          </a:p>
          <a:p>
            <a:pPr algn="just">
              <a:lnSpc>
                <a:spcPts val="3688"/>
              </a:lnSpc>
            </a:pPr>
            <a:r>
              <a:rPr lang="en-US" sz="3479">
                <a:solidFill>
                  <a:srgbClr val="821438"/>
                </a:solidFill>
                <a:latin typeface="Open Sauce"/>
                <a:ea typeface="Open Sauce"/>
                <a:cs typeface="Open Sauce"/>
                <a:sym typeface="Open Sauce"/>
              </a:rPr>
              <a:t>- </a:t>
            </a:r>
            <a:r>
              <a:rPr lang="en-US" sz="3479">
                <a:solidFill>
                  <a:srgbClr val="821438"/>
                </a:solidFill>
                <a:latin typeface="Open Sauce"/>
                <a:ea typeface="Open Sauce"/>
                <a:cs typeface="Open Sauce"/>
                <a:sym typeface="Open Sauce"/>
              </a:rPr>
              <a:t> Traffic may traverse multiple ISP networks, exchange points, and backbone links before reaching its final destination, leading to potential routing inefficiencies and latency issues.</a:t>
            </a:r>
          </a:p>
          <a:p>
            <a:pPr algn="just">
              <a:lnSpc>
                <a:spcPts val="3688"/>
              </a:lnSpc>
              <a:spcBef>
                <a:spcPct val="0"/>
              </a:spcBef>
            </a:pPr>
          </a:p>
        </p:txBody>
      </p:sp>
      <p:sp>
        <p:nvSpPr>
          <p:cNvPr name="TextBox 4" id="4"/>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CONNECTING TO AN ISP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TextBox 2" id="2"/>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THE INTERNET TODAY</a:t>
            </a:r>
          </a:p>
        </p:txBody>
      </p:sp>
      <p:sp>
        <p:nvSpPr>
          <p:cNvPr name="Freeform 3" id="3"/>
          <p:cNvSpPr/>
          <p:nvPr/>
        </p:nvSpPr>
        <p:spPr>
          <a:xfrm flipH="false" flipV="false" rot="0">
            <a:off x="332865" y="0"/>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700225" y="2380341"/>
            <a:ext cx="15095421" cy="3213666"/>
          </a:xfrm>
          <a:prstGeom prst="rect">
            <a:avLst/>
          </a:prstGeom>
        </p:spPr>
        <p:txBody>
          <a:bodyPr anchor="t" rtlCol="false" tIns="0" lIns="0" bIns="0" rIns="0">
            <a:spAutoFit/>
          </a:bodyPr>
          <a:lstStyle/>
          <a:p>
            <a:pPr algn="just">
              <a:lnSpc>
                <a:spcPts val="3602"/>
              </a:lnSpc>
            </a:pPr>
            <a:r>
              <a:rPr lang="en-US" sz="3398" b="true">
                <a:solidFill>
                  <a:srgbClr val="821438"/>
                </a:solidFill>
                <a:latin typeface="Open Sauce Bold"/>
                <a:ea typeface="Open Sauce Bold"/>
                <a:cs typeface="Open Sauce Bold"/>
                <a:sym typeface="Open Sauce Bold"/>
              </a:rPr>
              <a:t>1. Network Circuits and Interconnections:</a:t>
            </a:r>
          </a:p>
          <a:p>
            <a:pPr algn="just">
              <a:lnSpc>
                <a:spcPts val="3602"/>
              </a:lnSpc>
            </a:pPr>
            <a:r>
              <a:rPr lang="en-US" sz="3398">
                <a:solidFill>
                  <a:srgbClr val="821438"/>
                </a:solidFill>
                <a:latin typeface="Open Sauce"/>
                <a:ea typeface="Open Sauce"/>
                <a:cs typeface="Open Sauce"/>
                <a:sym typeface="Open Sauce"/>
              </a:rPr>
              <a:t>- Sprint's backbone network comprises multiple Internet circuits spanning the United States</a:t>
            </a:r>
          </a:p>
          <a:p>
            <a:pPr algn="just">
              <a:lnSpc>
                <a:spcPts val="3602"/>
              </a:lnSpc>
            </a:pPr>
            <a:r>
              <a:rPr lang="en-US" sz="3398">
                <a:solidFill>
                  <a:srgbClr val="821438"/>
                </a:solidFill>
                <a:latin typeface="Open Sauce"/>
                <a:ea typeface="Open Sauce"/>
                <a:cs typeface="Open Sauce"/>
                <a:sym typeface="Open Sauce"/>
              </a:rPr>
              <a:t>and Canada.</a:t>
            </a:r>
          </a:p>
          <a:p>
            <a:pPr algn="just">
              <a:lnSpc>
                <a:spcPts val="3602"/>
              </a:lnSpc>
              <a:spcBef>
                <a:spcPct val="0"/>
              </a:spcBef>
            </a:pPr>
            <a:r>
              <a:rPr lang="en-US" sz="3398">
                <a:solidFill>
                  <a:srgbClr val="821438"/>
                </a:solidFill>
                <a:latin typeface="Open Sauce"/>
                <a:ea typeface="Open Sauce"/>
                <a:cs typeface="Open Sauce"/>
                <a:sym typeface="Open Sauce"/>
              </a:rPr>
              <a:t>- These circuits interconnect at various strategic locations, including major network access points (NAPs) and metropolitan area exchanges (MAEs).</a:t>
            </a:r>
          </a:p>
        </p:txBody>
      </p:sp>
      <p:sp>
        <p:nvSpPr>
          <p:cNvPr name="TextBox 5" id="5"/>
          <p:cNvSpPr txBox="true"/>
          <p:nvPr/>
        </p:nvSpPr>
        <p:spPr>
          <a:xfrm rot="0">
            <a:off x="1722647" y="5841657"/>
            <a:ext cx="15431252" cy="421476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2. Circuit Capacities:</a:t>
            </a:r>
          </a:p>
          <a:p>
            <a:pPr algn="just">
              <a:lnSpc>
                <a:spcPts val="3688"/>
              </a:lnSpc>
            </a:pPr>
            <a:r>
              <a:rPr lang="en-US" sz="3479">
                <a:solidFill>
                  <a:srgbClr val="821438"/>
                </a:solidFill>
                <a:latin typeface="Open Sauce"/>
                <a:ea typeface="Open Sauce"/>
                <a:cs typeface="Open Sauce"/>
                <a:sym typeface="Open Sauce"/>
              </a:rPr>
              <a:t>- Sprint's backbone circuits predominantly utilize SONET (Synchronous Optical Networking) technology, with common capacities such as OC-12, OC-48, and OC-192.</a:t>
            </a:r>
          </a:p>
          <a:p>
            <a:pPr algn="just">
              <a:lnSpc>
                <a:spcPts val="3688"/>
              </a:lnSpc>
              <a:spcBef>
                <a:spcPct val="0"/>
              </a:spcBef>
            </a:pPr>
            <a:r>
              <a:rPr lang="en-US" sz="3479">
                <a:solidFill>
                  <a:srgbClr val="821438"/>
                </a:solidFill>
                <a:latin typeface="Open Sauce"/>
                <a:ea typeface="Open Sauce"/>
                <a:cs typeface="Open Sauce"/>
                <a:sym typeface="Open Sauce"/>
              </a:rPr>
              <a:t>- In response to increasing Internet traffic demands, major ISPs like Sprint have been upgrading their backbone circuits to higher capacities. OC-192 (10 Gbps) is widely deployed, while experimentation with even faster speeds like OC-768 (80 Gbps) and OC-3072 (160 Gbps) is underway.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TextBox 2" id="2"/>
          <p:cNvSpPr txBox="true"/>
          <p:nvPr/>
        </p:nvSpPr>
        <p:spPr>
          <a:xfrm rot="0">
            <a:off x="1722647" y="829275"/>
            <a:ext cx="15431252" cy="1316756"/>
          </a:xfrm>
          <a:prstGeom prst="rect">
            <a:avLst/>
          </a:prstGeom>
        </p:spPr>
        <p:txBody>
          <a:bodyPr anchor="t" rtlCol="false" tIns="0" lIns="0" bIns="0" rIns="0">
            <a:spAutoFit/>
          </a:bodyPr>
          <a:lstStyle/>
          <a:p>
            <a:pPr algn="l">
              <a:lnSpc>
                <a:spcPts val="10040"/>
              </a:lnSpc>
            </a:pPr>
            <a:r>
              <a:rPr lang="en-US" sz="9471" b="true">
                <a:solidFill>
                  <a:srgbClr val="821438"/>
                </a:solidFill>
                <a:latin typeface="Open Sauce Bold"/>
                <a:ea typeface="Open Sauce Bold"/>
                <a:cs typeface="Open Sauce Bold"/>
                <a:sym typeface="Open Sauce Bold"/>
              </a:rPr>
              <a:t>THE INTERNET TODAY</a:t>
            </a:r>
          </a:p>
        </p:txBody>
      </p:sp>
      <p:sp>
        <p:nvSpPr>
          <p:cNvPr name="Freeform 3" id="3"/>
          <p:cNvSpPr/>
          <p:nvPr/>
        </p:nvSpPr>
        <p:spPr>
          <a:xfrm flipH="false" flipV="false" rot="0">
            <a:off x="332865" y="60955"/>
            <a:ext cx="17622270" cy="10287000"/>
          </a:xfrm>
          <a:custGeom>
            <a:avLst/>
            <a:gdLst/>
            <a:ahLst/>
            <a:cxnLst/>
            <a:rect r="r" b="b" t="t" l="l"/>
            <a:pathLst>
              <a:path h="10287000" w="17622270">
                <a:moveTo>
                  <a:pt x="0" y="0"/>
                </a:moveTo>
                <a:lnTo>
                  <a:pt x="17622270" y="0"/>
                </a:lnTo>
                <a:lnTo>
                  <a:pt x="1762227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700225" y="2389866"/>
            <a:ext cx="15453675" cy="328131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3. Network Expansion and Bottlenecks:</a:t>
            </a:r>
          </a:p>
          <a:p>
            <a:pPr algn="just">
              <a:lnSpc>
                <a:spcPts val="3688"/>
              </a:lnSpc>
            </a:pPr>
            <a:r>
              <a:rPr lang="en-US" sz="3479">
                <a:solidFill>
                  <a:srgbClr val="821438"/>
                </a:solidFill>
                <a:latin typeface="Open Sauce"/>
                <a:ea typeface="Open Sauce"/>
                <a:cs typeface="Open Sauce"/>
                <a:sym typeface="Open Sauce"/>
              </a:rPr>
              <a:t>- As Internet traffic continues to grow, ISPs face the challenge of managing and scaling their network infrastructure to accommodate increasing demand.</a:t>
            </a:r>
          </a:p>
          <a:p>
            <a:pPr algn="just">
              <a:lnSpc>
                <a:spcPts val="3688"/>
              </a:lnSpc>
            </a:pPr>
            <a:r>
              <a:rPr lang="en-US" sz="3479">
                <a:solidFill>
                  <a:srgbClr val="821438"/>
                </a:solidFill>
                <a:latin typeface="Open Sauce"/>
                <a:ea typeface="Open Sauce"/>
                <a:cs typeface="Open Sauce"/>
                <a:sym typeface="Open Sauce"/>
              </a:rPr>
              <a:t>- While adding more and faster circuits is feasible, bottlenecks can emerge at network aggregation points such as NAPs and MAES.</a:t>
            </a:r>
          </a:p>
          <a:p>
            <a:pPr algn="just">
              <a:lnSpc>
                <a:spcPts val="3688"/>
              </a:lnSpc>
              <a:spcBef>
                <a:spcPct val="0"/>
              </a:spcBef>
            </a:pPr>
          </a:p>
        </p:txBody>
      </p:sp>
      <p:sp>
        <p:nvSpPr>
          <p:cNvPr name="TextBox 5" id="5"/>
          <p:cNvSpPr txBox="true"/>
          <p:nvPr/>
        </p:nvSpPr>
        <p:spPr>
          <a:xfrm rot="0">
            <a:off x="1722647" y="5718805"/>
            <a:ext cx="15431252" cy="3281314"/>
          </a:xfrm>
          <a:prstGeom prst="rect">
            <a:avLst/>
          </a:prstGeom>
        </p:spPr>
        <p:txBody>
          <a:bodyPr anchor="t" rtlCol="false" tIns="0" lIns="0" bIns="0" rIns="0">
            <a:spAutoFit/>
          </a:bodyPr>
          <a:lstStyle/>
          <a:p>
            <a:pPr algn="just">
              <a:lnSpc>
                <a:spcPts val="3688"/>
              </a:lnSpc>
            </a:pPr>
            <a:r>
              <a:rPr lang="en-US" sz="3479" b="true">
                <a:solidFill>
                  <a:srgbClr val="821438"/>
                </a:solidFill>
                <a:latin typeface="Open Sauce Bold"/>
                <a:ea typeface="Open Sauce Bold"/>
                <a:cs typeface="Open Sauce Bold"/>
                <a:sym typeface="Open Sauce Bold"/>
              </a:rPr>
              <a:t>4. Dynamic Nature of the Internet:</a:t>
            </a:r>
          </a:p>
          <a:p>
            <a:pPr algn="just">
              <a:lnSpc>
                <a:spcPts val="3688"/>
              </a:lnSpc>
            </a:pPr>
            <a:r>
              <a:rPr lang="en-US" sz="3479">
                <a:solidFill>
                  <a:srgbClr val="821438"/>
                </a:solidFill>
                <a:latin typeface="Open Sauce"/>
                <a:ea typeface="Open Sauce"/>
                <a:cs typeface="Open Sauce"/>
                <a:sym typeface="Open Sauce"/>
              </a:rPr>
              <a:t>-The Internet landscape is dynamic, with continuous evolution and adaptation to changing traffic patterns and technological advancements.</a:t>
            </a:r>
          </a:p>
          <a:p>
            <a:pPr algn="just">
              <a:lnSpc>
                <a:spcPts val="3688"/>
              </a:lnSpc>
              <a:spcBef>
                <a:spcPct val="0"/>
              </a:spcBef>
            </a:pPr>
            <a:r>
              <a:rPr lang="en-US" sz="3479">
                <a:solidFill>
                  <a:srgbClr val="821438"/>
                </a:solidFill>
                <a:latin typeface="Open Sauce"/>
                <a:ea typeface="Open Sauce"/>
                <a:cs typeface="Open Sauce"/>
                <a:sym typeface="Open Sauce"/>
              </a:rPr>
              <a:t>-Monitoring and understanding these network dynamics are essential for maintaining robust Internet connectivity and addressing emerging challenges in data transmission and network scalability.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4775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28700" y="1622999"/>
            <a:ext cx="16230600" cy="5008024"/>
          </a:xfrm>
          <a:prstGeom prst="rect">
            <a:avLst/>
          </a:prstGeom>
        </p:spPr>
        <p:txBody>
          <a:bodyPr anchor="t" rtlCol="false" tIns="0" lIns="0" bIns="0" rIns="0">
            <a:spAutoFit/>
          </a:bodyPr>
          <a:lstStyle/>
          <a:p>
            <a:pPr algn="ctr">
              <a:lnSpc>
                <a:spcPts val="4001"/>
              </a:lnSpc>
              <a:spcBef>
                <a:spcPct val="0"/>
              </a:spcBef>
            </a:pPr>
            <a:r>
              <a:rPr lang="en-US" b="true" sz="3775">
                <a:solidFill>
                  <a:srgbClr val="000000"/>
                </a:solidFill>
                <a:latin typeface="Open Sauce Bold"/>
                <a:ea typeface="Open Sauce Bold"/>
                <a:cs typeface="Open Sauce Bold"/>
                <a:sym typeface="Open Sauce Bold"/>
              </a:rPr>
              <a:t>INTERNET ACCESS TECHNOLOGIES</a:t>
            </a:r>
          </a:p>
          <a:p>
            <a:pPr algn="ctr">
              <a:lnSpc>
                <a:spcPts val="4001"/>
              </a:lnSpc>
              <a:spcBef>
                <a:spcPct val="0"/>
              </a:spcBef>
            </a:pPr>
            <a:r>
              <a:rPr lang="en-US" b="true" sz="3775">
                <a:solidFill>
                  <a:srgbClr val="000000"/>
                </a:solidFill>
                <a:latin typeface="Open Sauce Bold"/>
                <a:ea typeface="Open Sauce Bold"/>
                <a:cs typeface="Open Sauce Bold"/>
                <a:sym typeface="Open Sauce Bold"/>
              </a:rPr>
              <a:t>HERE ARE SOME COMMON WAYS TO CONNECT TO THE INTERNET:</a:t>
            </a:r>
          </a:p>
          <a:p>
            <a:pPr algn="ctr">
              <a:lnSpc>
                <a:spcPts val="5591"/>
              </a:lnSpc>
              <a:spcBef>
                <a:spcPct val="0"/>
              </a:spcBef>
            </a:pPr>
          </a:p>
          <a:p>
            <a:pPr algn="ctr">
              <a:lnSpc>
                <a:spcPts val="3694"/>
              </a:lnSpc>
              <a:spcBef>
                <a:spcPct val="0"/>
              </a:spcBef>
            </a:pPr>
            <a:r>
              <a:rPr lang="en-US" b="true" sz="3485">
                <a:solidFill>
                  <a:srgbClr val="D61010"/>
                </a:solidFill>
                <a:latin typeface="Open Sauce Bold"/>
                <a:ea typeface="Open Sauce Bold"/>
                <a:cs typeface="Open Sauce Bold"/>
                <a:sym typeface="Open Sauce Bold"/>
              </a:rPr>
              <a:t>1. DIGITAL SUBSCRIBER LINE (DSL)</a:t>
            </a:r>
          </a:p>
          <a:p>
            <a:pPr algn="ctr">
              <a:lnSpc>
                <a:spcPts val="3694"/>
              </a:lnSpc>
              <a:spcBef>
                <a:spcPct val="0"/>
              </a:spcBef>
            </a:pPr>
          </a:p>
          <a:p>
            <a:pPr algn="ctr">
              <a:lnSpc>
                <a:spcPts val="3694"/>
              </a:lnSpc>
              <a:spcBef>
                <a:spcPct val="0"/>
              </a:spcBef>
            </a:pPr>
            <a:r>
              <a:rPr lang="en-US" b="true" sz="3485">
                <a:solidFill>
                  <a:srgbClr val="000000"/>
                </a:solidFill>
                <a:latin typeface="Open Sauce Bold"/>
                <a:ea typeface="Open Sauce Bold"/>
                <a:cs typeface="Open Sauce Bold"/>
                <a:sym typeface="Open Sauce Bold"/>
              </a:rPr>
              <a:t>DSL USES YOUR PHONE LINE TO PROVIDE INTERNET ACCESS. IT ALLOWS YOU TO USE THE INTERNET AND YOUR</a:t>
            </a:r>
          </a:p>
          <a:p>
            <a:pPr algn="ctr">
              <a:lnSpc>
                <a:spcPts val="3694"/>
              </a:lnSpc>
              <a:spcBef>
                <a:spcPct val="0"/>
              </a:spcBef>
            </a:pPr>
            <a:r>
              <a:rPr lang="en-US" b="true" sz="3485">
                <a:solidFill>
                  <a:srgbClr val="000000"/>
                </a:solidFill>
                <a:latin typeface="Open Sauce Bold"/>
                <a:ea typeface="Open Sauce Bold"/>
                <a:cs typeface="Open Sauce Bold"/>
                <a:sym typeface="Open Sauce Bold"/>
              </a:rPr>
              <a:t>PHONE AT THE SAME TIME. DSL IS WIDELY AVAILABLE AND OFFERS GOOD SPEEDS FOR MOST ONLINE ACTIVITIES</a:t>
            </a:r>
          </a:p>
          <a:p>
            <a:pPr algn="ctr">
              <a:lnSpc>
                <a:spcPts val="3694"/>
              </a:lnSpc>
              <a:spcBef>
                <a:spcPct val="0"/>
              </a:spcBef>
            </a:pPr>
            <a:r>
              <a:rPr lang="en-US" b="true" sz="3485">
                <a:solidFill>
                  <a:srgbClr val="000000"/>
                </a:solidFill>
                <a:latin typeface="Open Sauce Bold"/>
                <a:ea typeface="Open Sauce Bold"/>
                <a:cs typeface="Open Sauce Bold"/>
                <a:sym typeface="Open Sauce Bold"/>
              </a:rPr>
              <a:t>LIKE BROWSING AND STREAMING.</a:t>
            </a:r>
          </a:p>
        </p:txBody>
      </p:sp>
      <p:sp>
        <p:nvSpPr>
          <p:cNvPr name="Freeform 8" id="8"/>
          <p:cNvSpPr/>
          <p:nvPr/>
        </p:nvSpPr>
        <p:spPr>
          <a:xfrm flipH="false" flipV="false" rot="0">
            <a:off x="5243492" y="6923847"/>
            <a:ext cx="6359346" cy="2820509"/>
          </a:xfrm>
          <a:custGeom>
            <a:avLst/>
            <a:gdLst/>
            <a:ahLst/>
            <a:cxnLst/>
            <a:rect r="r" b="b" t="t" l="l"/>
            <a:pathLst>
              <a:path h="2820509" w="6359346">
                <a:moveTo>
                  <a:pt x="0" y="0"/>
                </a:moveTo>
                <a:lnTo>
                  <a:pt x="6359346" y="0"/>
                </a:lnTo>
                <a:lnTo>
                  <a:pt x="6359346" y="2820509"/>
                </a:lnTo>
                <a:lnTo>
                  <a:pt x="0" y="2820509"/>
                </a:lnTo>
                <a:lnTo>
                  <a:pt x="0" y="0"/>
                </a:lnTo>
                <a:close/>
              </a:path>
            </a:pathLst>
          </a:custGeom>
          <a:blipFill>
            <a:blip r:embed="rId8"/>
            <a:stretch>
              <a:fillRect l="-2643" t="0" r="-2643"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041798" y="1542734"/>
            <a:ext cx="14172724" cy="5426995"/>
          </a:xfrm>
          <a:prstGeom prst="rect">
            <a:avLst/>
          </a:prstGeom>
        </p:spPr>
        <p:txBody>
          <a:bodyPr anchor="t" rtlCol="false" tIns="0" lIns="0" bIns="0" rIns="0">
            <a:spAutoFit/>
          </a:bodyPr>
          <a:lstStyle/>
          <a:p>
            <a:pPr algn="ctr">
              <a:lnSpc>
                <a:spcPts val="6815"/>
              </a:lnSpc>
            </a:pPr>
            <a:r>
              <a:rPr lang="en-US" b="true" sz="3477">
                <a:solidFill>
                  <a:srgbClr val="D61010"/>
                </a:solidFill>
                <a:latin typeface="Open Sauce Bold"/>
                <a:ea typeface="Open Sauce Bold"/>
                <a:cs typeface="Open Sauce Bold"/>
                <a:sym typeface="Open Sauce Bold"/>
              </a:rPr>
              <a:t>2. CABLE MODEM</a:t>
            </a:r>
          </a:p>
          <a:p>
            <a:pPr algn="ctr">
              <a:lnSpc>
                <a:spcPts val="3338"/>
              </a:lnSpc>
            </a:pPr>
          </a:p>
          <a:p>
            <a:pPr algn="ctr">
              <a:lnSpc>
                <a:spcPts val="3338"/>
              </a:lnSpc>
            </a:pPr>
            <a:r>
              <a:rPr lang="en-US" b="true" sz="3477">
                <a:solidFill>
                  <a:srgbClr val="000000"/>
                </a:solidFill>
                <a:latin typeface="Open Sauce Bold"/>
                <a:ea typeface="Open Sauce Bold"/>
                <a:cs typeface="Open Sauce Bold"/>
                <a:sym typeface="Open Sauce Bold"/>
              </a:rPr>
              <a:t>CABLE MODEMS CONNECT TO THE INTERNET THROUGH THE SAME CABLES THAT DELIVER CABLE TV. THIS OPTION USUALLY OFFERS FASTER SPEEDS THAN DSL, MAKING IT SUITABLE FOR STREAMING, GAMING, AND DOWNLOADING LARGE FILES. HOWEVER, SPEEDS MAY DECREASE IF MANY PEOPLE IN YOUR AREA ARE ONLINESIMULTANEOUSLY.</a:t>
            </a:r>
          </a:p>
          <a:p>
            <a:pPr algn="ctr">
              <a:lnSpc>
                <a:spcPts val="6815"/>
              </a:lnSpc>
            </a:pPr>
          </a:p>
          <a:p>
            <a:pPr algn="ctr">
              <a:lnSpc>
                <a:spcPts val="6815"/>
              </a:lnSpc>
            </a:pPr>
          </a:p>
        </p:txBody>
      </p:sp>
      <p:sp>
        <p:nvSpPr>
          <p:cNvPr name="Freeform 8" id="8"/>
          <p:cNvSpPr/>
          <p:nvPr/>
        </p:nvSpPr>
        <p:spPr>
          <a:xfrm flipH="false" flipV="false" rot="0">
            <a:off x="7440016" y="5850999"/>
            <a:ext cx="2822917" cy="4086666"/>
          </a:xfrm>
          <a:custGeom>
            <a:avLst/>
            <a:gdLst/>
            <a:ahLst/>
            <a:cxnLst/>
            <a:rect r="r" b="b" t="t" l="l"/>
            <a:pathLst>
              <a:path h="4086666" w="2822917">
                <a:moveTo>
                  <a:pt x="0" y="0"/>
                </a:moveTo>
                <a:lnTo>
                  <a:pt x="2822918" y="0"/>
                </a:lnTo>
                <a:lnTo>
                  <a:pt x="2822918" y="4086666"/>
                </a:lnTo>
                <a:lnTo>
                  <a:pt x="0" y="4086666"/>
                </a:lnTo>
                <a:lnTo>
                  <a:pt x="0" y="0"/>
                </a:lnTo>
                <a:close/>
              </a:path>
            </a:pathLst>
          </a:custGeom>
          <a:blipFill>
            <a:blip r:embed="rId8"/>
            <a:stretch>
              <a:fillRect l="0" t="-1807" r="0" b="-1807"/>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904475" y="6167676"/>
            <a:ext cx="6134635" cy="3643799"/>
          </a:xfrm>
          <a:custGeom>
            <a:avLst/>
            <a:gdLst/>
            <a:ahLst/>
            <a:cxnLst/>
            <a:rect r="r" b="b" t="t" l="l"/>
            <a:pathLst>
              <a:path h="3643799" w="6134635">
                <a:moveTo>
                  <a:pt x="0" y="0"/>
                </a:moveTo>
                <a:lnTo>
                  <a:pt x="6134635" y="0"/>
                </a:lnTo>
                <a:lnTo>
                  <a:pt x="6134635" y="3643799"/>
                </a:lnTo>
                <a:lnTo>
                  <a:pt x="0" y="3643799"/>
                </a:lnTo>
                <a:lnTo>
                  <a:pt x="0" y="0"/>
                </a:lnTo>
                <a:close/>
              </a:path>
            </a:pathLst>
          </a:custGeom>
          <a:blipFill>
            <a:blip r:embed="rId8"/>
            <a:stretch>
              <a:fillRect l="0" t="0" r="0" b="0"/>
            </a:stretch>
          </a:blipFill>
        </p:spPr>
      </p:sp>
      <p:sp>
        <p:nvSpPr>
          <p:cNvPr name="TextBox 8" id="8"/>
          <p:cNvSpPr txBox="true"/>
          <p:nvPr/>
        </p:nvSpPr>
        <p:spPr>
          <a:xfrm rot="0">
            <a:off x="1949587" y="1400989"/>
            <a:ext cx="13935031" cy="5736081"/>
          </a:xfrm>
          <a:prstGeom prst="rect">
            <a:avLst/>
          </a:prstGeom>
        </p:spPr>
        <p:txBody>
          <a:bodyPr anchor="t" rtlCol="false" tIns="0" lIns="0" bIns="0" rIns="0">
            <a:spAutoFit/>
          </a:bodyPr>
          <a:lstStyle/>
          <a:p>
            <a:pPr algn="ctr">
              <a:lnSpc>
                <a:spcPts val="3994"/>
              </a:lnSpc>
            </a:pPr>
          </a:p>
          <a:p>
            <a:pPr algn="ctr">
              <a:lnSpc>
                <a:spcPts val="3994"/>
              </a:lnSpc>
            </a:pPr>
            <a:r>
              <a:rPr lang="en-US" b="true" sz="3768" spc="-158">
                <a:solidFill>
                  <a:srgbClr val="D61010"/>
                </a:solidFill>
                <a:latin typeface="Open Sauce Bold"/>
                <a:ea typeface="Open Sauce Bold"/>
                <a:cs typeface="Open Sauce Bold"/>
                <a:sym typeface="Open Sauce Bold"/>
              </a:rPr>
              <a:t>3. Fiber to the Home (FTTH) </a:t>
            </a:r>
          </a:p>
          <a:p>
            <a:pPr algn="ctr">
              <a:lnSpc>
                <a:spcPts val="3994"/>
              </a:lnSpc>
            </a:pPr>
          </a:p>
          <a:p>
            <a:pPr algn="ctr">
              <a:lnSpc>
                <a:spcPts val="3617"/>
              </a:lnSpc>
            </a:pPr>
            <a:r>
              <a:rPr lang="en-US" sz="3768" b="true">
                <a:solidFill>
                  <a:srgbClr val="000000"/>
                </a:solidFill>
                <a:latin typeface="Open Sauce Bold"/>
                <a:ea typeface="Open Sauce Bold"/>
                <a:cs typeface="Open Sauce Bold"/>
                <a:sym typeface="Open Sauce Bold"/>
              </a:rPr>
              <a:t>FTTH uses fiber-optic cables to deliver extremely fast Internet speeds directly to your home. This technology is excellent for activities like HD video streaming, online gaming, and using multiple devices at once. It’s one of the fastest options available but isn’t available everywhere yet.</a:t>
            </a:r>
          </a:p>
          <a:p>
            <a:pPr algn="ctr">
              <a:lnSpc>
                <a:spcPts val="3994"/>
              </a:lnSpc>
            </a:pPr>
          </a:p>
          <a:p>
            <a:pPr algn="just">
              <a:lnSpc>
                <a:spcPts val="4182"/>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046091" y="5677797"/>
            <a:ext cx="7808386" cy="4303063"/>
          </a:xfrm>
          <a:custGeom>
            <a:avLst/>
            <a:gdLst/>
            <a:ahLst/>
            <a:cxnLst/>
            <a:rect r="r" b="b" t="t" l="l"/>
            <a:pathLst>
              <a:path h="4303063" w="7808386">
                <a:moveTo>
                  <a:pt x="0" y="0"/>
                </a:moveTo>
                <a:lnTo>
                  <a:pt x="7808386" y="0"/>
                </a:lnTo>
                <a:lnTo>
                  <a:pt x="7808386" y="4303063"/>
                </a:lnTo>
                <a:lnTo>
                  <a:pt x="0" y="4303063"/>
                </a:lnTo>
                <a:lnTo>
                  <a:pt x="0" y="0"/>
                </a:lnTo>
                <a:close/>
              </a:path>
            </a:pathLst>
          </a:custGeom>
          <a:blipFill>
            <a:blip r:embed="rId8"/>
            <a:stretch>
              <a:fillRect l="0" t="-764" r="0" b="0"/>
            </a:stretch>
          </a:blipFill>
        </p:spPr>
      </p:sp>
      <p:sp>
        <p:nvSpPr>
          <p:cNvPr name="TextBox 8" id="8"/>
          <p:cNvSpPr txBox="true"/>
          <p:nvPr/>
        </p:nvSpPr>
        <p:spPr>
          <a:xfrm rot="0">
            <a:off x="2041798" y="1789030"/>
            <a:ext cx="13147900" cy="3888768"/>
          </a:xfrm>
          <a:prstGeom prst="rect">
            <a:avLst/>
          </a:prstGeom>
        </p:spPr>
        <p:txBody>
          <a:bodyPr anchor="t" rtlCol="false" tIns="0" lIns="0" bIns="0" rIns="0">
            <a:spAutoFit/>
          </a:bodyPr>
          <a:lstStyle/>
          <a:p>
            <a:pPr algn="ctr">
              <a:lnSpc>
                <a:spcPts val="3413"/>
              </a:lnSpc>
            </a:pPr>
            <a:r>
              <a:rPr lang="en-US" b="true" sz="3555">
                <a:solidFill>
                  <a:srgbClr val="D61010"/>
                </a:solidFill>
                <a:latin typeface="Open Sauce Bold"/>
                <a:ea typeface="Open Sauce Bold"/>
                <a:cs typeface="Open Sauce Bold"/>
                <a:sym typeface="Open Sauce Bold"/>
              </a:rPr>
              <a:t>4. WIMAX</a:t>
            </a:r>
          </a:p>
          <a:p>
            <a:pPr algn="ctr">
              <a:lnSpc>
                <a:spcPts val="3413"/>
              </a:lnSpc>
            </a:pPr>
          </a:p>
          <a:p>
            <a:pPr algn="ctr">
              <a:lnSpc>
                <a:spcPts val="3413"/>
              </a:lnSpc>
            </a:pPr>
            <a:r>
              <a:rPr lang="en-US" sz="3555" b="true">
                <a:solidFill>
                  <a:srgbClr val="000000"/>
                </a:solidFill>
                <a:latin typeface="Open Sauce Bold"/>
                <a:ea typeface="Open Sauce Bold"/>
                <a:cs typeface="Open Sauce Bold"/>
                <a:sym typeface="Open Sauce Bold"/>
              </a:rPr>
              <a:t>WiMax is a wireless technology that provides Internet access over long distances. It’s like Wi-Fi but can cover much larger areas, making it ideal for rural or remote locations. WiMax offers decent speeds, though it may not be as fast as fiber or cable connections.</a:t>
            </a:r>
          </a:p>
          <a:p>
            <a:pPr algn="just">
              <a:lnSpc>
                <a:spcPts val="341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568597" y="1796216"/>
            <a:ext cx="9115156" cy="7251871"/>
          </a:xfrm>
          <a:prstGeom prst="rect">
            <a:avLst/>
          </a:prstGeom>
        </p:spPr>
        <p:txBody>
          <a:bodyPr anchor="t" rtlCol="false" tIns="0" lIns="0" bIns="0" rIns="0">
            <a:spAutoFit/>
          </a:bodyPr>
          <a:lstStyle/>
          <a:p>
            <a:pPr algn="ctr">
              <a:lnSpc>
                <a:spcPts val="3699"/>
              </a:lnSpc>
            </a:pPr>
            <a:r>
              <a:rPr lang="en-US" b="true" sz="3489">
                <a:solidFill>
                  <a:srgbClr val="D61010"/>
                </a:solidFill>
                <a:latin typeface="Open Sauce Bold"/>
                <a:ea typeface="Open Sauce Bold"/>
                <a:cs typeface="Open Sauce Bold"/>
                <a:sym typeface="Open Sauce Bold"/>
              </a:rPr>
              <a:t>THE FUTURE OF THE INTERNET </a:t>
            </a:r>
          </a:p>
          <a:p>
            <a:pPr algn="ctr">
              <a:lnSpc>
                <a:spcPts val="3699"/>
              </a:lnSpc>
              <a:spcBef>
                <a:spcPct val="0"/>
              </a:spcBef>
            </a:pPr>
          </a:p>
          <a:p>
            <a:pPr algn="l">
              <a:lnSpc>
                <a:spcPts val="3873"/>
              </a:lnSpc>
              <a:spcBef>
                <a:spcPct val="0"/>
              </a:spcBef>
            </a:pPr>
            <a:r>
              <a:rPr lang="en-US" b="true" sz="3489" spc="-146">
                <a:solidFill>
                  <a:srgbClr val="000000"/>
                </a:solidFill>
                <a:latin typeface="Open Sauce Bold"/>
                <a:ea typeface="Open Sauce Bold"/>
                <a:cs typeface="Open Sauce Bold"/>
                <a:sym typeface="Open Sauce Bold"/>
              </a:rPr>
              <a:t>EFFORTS ARE BEING MADE TO BRIDGE THE DIGITAL DIVIDE, ENSURING THAT EVEN REMOTE AND UNDERSERVED AREAS</a:t>
            </a:r>
          </a:p>
          <a:p>
            <a:pPr algn="l">
              <a:lnSpc>
                <a:spcPts val="3873"/>
              </a:lnSpc>
              <a:spcBef>
                <a:spcPct val="0"/>
              </a:spcBef>
            </a:pPr>
            <a:r>
              <a:rPr lang="en-US" b="true" sz="3489" spc="-146">
                <a:solidFill>
                  <a:srgbClr val="000000"/>
                </a:solidFill>
                <a:latin typeface="Open Sauce Bold"/>
                <a:ea typeface="Open Sauce Bold"/>
                <a:cs typeface="Open Sauce Bold"/>
                <a:sym typeface="Open Sauce Bold"/>
              </a:rPr>
              <a:t>CAN ACCESS THE INTERNET. THE FUTURE INTERNET WILL ALSO FOCUS ON SUSTAINABILITY, AIMING TO REDUCE THE ENERGY</a:t>
            </a:r>
          </a:p>
          <a:p>
            <a:pPr algn="l">
              <a:lnSpc>
                <a:spcPts val="3873"/>
              </a:lnSpc>
            </a:pPr>
            <a:r>
              <a:rPr lang="en-US" b="true" sz="3489" spc="-146">
                <a:solidFill>
                  <a:srgbClr val="000000"/>
                </a:solidFill>
                <a:latin typeface="Open Sauce Bold"/>
                <a:ea typeface="Open Sauce Bold"/>
                <a:cs typeface="Open Sauce Bold"/>
                <a:sym typeface="Open Sauce Bold"/>
              </a:rPr>
              <a:t>USED BY DATA CENTERS AND NETWORKS, HELPING PROTECT THE ENVIRONMENT.</a:t>
            </a:r>
          </a:p>
          <a:p>
            <a:pPr algn="ctr">
              <a:lnSpc>
                <a:spcPts val="3873"/>
              </a:lnSpc>
            </a:pPr>
          </a:p>
          <a:p>
            <a:pPr algn="ctr">
              <a:lnSpc>
                <a:spcPts val="3873"/>
              </a:lnSpc>
            </a:pPr>
          </a:p>
          <a:p>
            <a:pPr algn="ctr">
              <a:lnSpc>
                <a:spcPts val="3873"/>
              </a:lnSpc>
            </a:pPr>
          </a:p>
          <a:p>
            <a:pPr algn="just">
              <a:lnSpc>
                <a:spcPts val="3873"/>
              </a:lnSpc>
            </a:pPr>
          </a:p>
        </p:txBody>
      </p:sp>
      <p:sp>
        <p:nvSpPr>
          <p:cNvPr name="Freeform 8" id="8"/>
          <p:cNvSpPr/>
          <p:nvPr/>
        </p:nvSpPr>
        <p:spPr>
          <a:xfrm flipH="false" flipV="false" rot="0">
            <a:off x="10683753" y="2882177"/>
            <a:ext cx="7448203" cy="4192274"/>
          </a:xfrm>
          <a:custGeom>
            <a:avLst/>
            <a:gdLst/>
            <a:ahLst/>
            <a:cxnLst/>
            <a:rect r="r" b="b" t="t" l="l"/>
            <a:pathLst>
              <a:path h="4192274" w="7448203">
                <a:moveTo>
                  <a:pt x="0" y="0"/>
                </a:moveTo>
                <a:lnTo>
                  <a:pt x="7448203" y="0"/>
                </a:lnTo>
                <a:lnTo>
                  <a:pt x="7448203" y="4192274"/>
                </a:lnTo>
                <a:lnTo>
                  <a:pt x="0" y="4192274"/>
                </a:lnTo>
                <a:lnTo>
                  <a:pt x="0" y="0"/>
                </a:lnTo>
                <a:close/>
              </a:path>
            </a:pathLst>
          </a:custGeom>
          <a:blipFill>
            <a:blip r:embed="rId8"/>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66271"/>
            <a:ext cx="16230600" cy="9474613"/>
          </a:xfrm>
          <a:custGeom>
            <a:avLst/>
            <a:gdLst/>
            <a:ahLst/>
            <a:cxnLst/>
            <a:rect r="r" b="b" t="t" l="l"/>
            <a:pathLst>
              <a:path h="9474613" w="16230600">
                <a:moveTo>
                  <a:pt x="0" y="0"/>
                </a:moveTo>
                <a:lnTo>
                  <a:pt x="16230600" y="0"/>
                </a:lnTo>
                <a:lnTo>
                  <a:pt x="16230600" y="9474612"/>
                </a:lnTo>
                <a:lnTo>
                  <a:pt x="0" y="94746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852656" y="1786691"/>
            <a:ext cx="14006288" cy="5254575"/>
          </a:xfrm>
          <a:prstGeom prst="rect">
            <a:avLst/>
          </a:prstGeom>
        </p:spPr>
        <p:txBody>
          <a:bodyPr anchor="t" rtlCol="false" tIns="0" lIns="0" bIns="0" rIns="0">
            <a:spAutoFit/>
          </a:bodyPr>
          <a:lstStyle/>
          <a:p>
            <a:pPr algn="ctr">
              <a:lnSpc>
                <a:spcPts val="3796"/>
              </a:lnSpc>
            </a:pPr>
            <a:r>
              <a:rPr lang="en-US" b="true" sz="3420" spc="-143">
                <a:solidFill>
                  <a:srgbClr val="D61010"/>
                </a:solidFill>
                <a:latin typeface="Open Sauce Bold"/>
                <a:ea typeface="Open Sauce Bold"/>
                <a:cs typeface="Open Sauce Bold"/>
                <a:sym typeface="Open Sauce Bold"/>
              </a:rPr>
              <a:t>1. INTERNET GOVERNANCE:</a:t>
            </a:r>
          </a:p>
          <a:p>
            <a:pPr algn="ctr">
              <a:lnSpc>
                <a:spcPts val="3796"/>
              </a:lnSpc>
            </a:pPr>
          </a:p>
          <a:p>
            <a:pPr algn="just">
              <a:lnSpc>
                <a:spcPts val="4275"/>
              </a:lnSpc>
            </a:pPr>
            <a:r>
              <a:rPr lang="en-US" b="true" sz="3420" spc="-218">
                <a:solidFill>
                  <a:srgbClr val="000000"/>
                </a:solidFill>
                <a:latin typeface="Open Sauce Bold"/>
                <a:ea typeface="Open Sauce Bold"/>
                <a:cs typeface="Open Sauce Bold"/>
                <a:sym typeface="Open Sauce Bold"/>
              </a:rPr>
              <a:t> INTERNET GOVERNANCE REFERS TO HOW THE INTERNET IS MANAGED AND REGULATED. AS THE INTERNET GROWS, IT'S IMPORTANT TO ENSURE THAT IT REMAINS OPEN, SECURE, AND ACCESSIBLE TO EVERYONE. DECISIONS ABOUT INTERNET GOVERNANCE INVOLVE MANY GROUPS, INCLUDING GOVERNMENTS, COMPANIES, AND INTERNATIONAL ORGANIZATIONS. THESE GROUPS WORK TOGETHER TO SET RULES AND POLICIES THAT PROTECT USERS' RIGHTS, ENSURE PRIVACY, AND MAINTAIN THE INTERNET'S GLOBAL NATURE.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Freeform 2" id="2"/>
          <p:cNvSpPr/>
          <p:nvPr/>
        </p:nvSpPr>
        <p:spPr>
          <a:xfrm flipH="false" flipV="false" rot="0">
            <a:off x="933742" y="518792"/>
            <a:ext cx="16230600" cy="9474613"/>
          </a:xfrm>
          <a:custGeom>
            <a:avLst/>
            <a:gdLst/>
            <a:ahLst/>
            <a:cxnLst/>
            <a:rect r="r" b="b" t="t" l="l"/>
            <a:pathLst>
              <a:path h="9474613" w="16230600">
                <a:moveTo>
                  <a:pt x="0" y="0"/>
                </a:moveTo>
                <a:lnTo>
                  <a:pt x="16230600" y="0"/>
                </a:lnTo>
                <a:lnTo>
                  <a:pt x="16230600" y="9474613"/>
                </a:lnTo>
                <a:lnTo>
                  <a:pt x="0" y="9474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30381">
            <a:off x="-2286763" y="-472501"/>
            <a:ext cx="5863057" cy="4114800"/>
          </a:xfrm>
          <a:custGeom>
            <a:avLst/>
            <a:gdLst/>
            <a:ahLst/>
            <a:cxnLst/>
            <a:rect r="r" b="b" t="t" l="l"/>
            <a:pathLst>
              <a:path h="4114800" w="5863057">
                <a:moveTo>
                  <a:pt x="0" y="4114800"/>
                </a:moveTo>
                <a:lnTo>
                  <a:pt x="5863057" y="4114800"/>
                </a:lnTo>
                <a:lnTo>
                  <a:pt x="586305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56141">
            <a:off x="15000050" y="6537424"/>
            <a:ext cx="5863057" cy="4114800"/>
          </a:xfrm>
          <a:custGeom>
            <a:avLst/>
            <a:gdLst/>
            <a:ahLst/>
            <a:cxnLst/>
            <a:rect r="r" b="b" t="t" l="l"/>
            <a:pathLst>
              <a:path h="4114800" w="5863057">
                <a:moveTo>
                  <a:pt x="5863057" y="0"/>
                </a:moveTo>
                <a:lnTo>
                  <a:pt x="0" y="0"/>
                </a:lnTo>
                <a:lnTo>
                  <a:pt x="0" y="4114800"/>
                </a:lnTo>
                <a:lnTo>
                  <a:pt x="5863057" y="4114800"/>
                </a:lnTo>
                <a:lnTo>
                  <a:pt x="5863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327892" y="1481192"/>
            <a:ext cx="2722762" cy="1400985"/>
          </a:xfrm>
          <a:custGeom>
            <a:avLst/>
            <a:gdLst/>
            <a:ahLst/>
            <a:cxnLst/>
            <a:rect r="r" b="b" t="t" l="l"/>
            <a:pathLst>
              <a:path h="1400985" w="2722762">
                <a:moveTo>
                  <a:pt x="0" y="0"/>
                </a:moveTo>
                <a:lnTo>
                  <a:pt x="2722762" y="0"/>
                </a:lnTo>
                <a:lnTo>
                  <a:pt x="2722762" y="1400985"/>
                </a:lnTo>
                <a:lnTo>
                  <a:pt x="0" y="1400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154166" y="7193839"/>
            <a:ext cx="2722762" cy="1400985"/>
          </a:xfrm>
          <a:custGeom>
            <a:avLst/>
            <a:gdLst/>
            <a:ahLst/>
            <a:cxnLst/>
            <a:rect r="r" b="b" t="t" l="l"/>
            <a:pathLst>
              <a:path h="1400985" w="2722762">
                <a:moveTo>
                  <a:pt x="2722763" y="0"/>
                </a:moveTo>
                <a:lnTo>
                  <a:pt x="0" y="0"/>
                </a:lnTo>
                <a:lnTo>
                  <a:pt x="0" y="1400985"/>
                </a:lnTo>
                <a:lnTo>
                  <a:pt x="2722763" y="1400985"/>
                </a:lnTo>
                <a:lnTo>
                  <a:pt x="272276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568597" y="1777166"/>
            <a:ext cx="14195390" cy="6162015"/>
          </a:xfrm>
          <a:prstGeom prst="rect">
            <a:avLst/>
          </a:prstGeom>
        </p:spPr>
        <p:txBody>
          <a:bodyPr anchor="t" rtlCol="false" tIns="0" lIns="0" bIns="0" rIns="0">
            <a:spAutoFit/>
          </a:bodyPr>
          <a:lstStyle/>
          <a:p>
            <a:pPr algn="ctr">
              <a:lnSpc>
                <a:spcPts val="3873"/>
              </a:lnSpc>
            </a:pPr>
            <a:r>
              <a:rPr lang="en-US" b="true" sz="3489" spc="-146">
                <a:solidFill>
                  <a:srgbClr val="D61010"/>
                </a:solidFill>
                <a:latin typeface="Open Sauce Bold"/>
                <a:ea typeface="Open Sauce Bold"/>
                <a:cs typeface="Open Sauce Bold"/>
                <a:sym typeface="Open Sauce Bold"/>
              </a:rPr>
              <a:t>2. BUILDING THE FUTURE:</a:t>
            </a:r>
          </a:p>
          <a:p>
            <a:pPr algn="l">
              <a:lnSpc>
                <a:spcPts val="4083"/>
              </a:lnSpc>
            </a:pPr>
          </a:p>
          <a:p>
            <a:pPr algn="l">
              <a:lnSpc>
                <a:spcPts val="4083"/>
              </a:lnSpc>
            </a:pPr>
            <a:r>
              <a:rPr lang="en-US" sz="3489" b="true">
                <a:solidFill>
                  <a:srgbClr val="000000"/>
                </a:solidFill>
                <a:latin typeface="Open Sauce Bold"/>
                <a:ea typeface="Open Sauce Bold"/>
                <a:cs typeface="Open Sauce Bold"/>
                <a:sym typeface="Open Sauce Bold"/>
              </a:rPr>
              <a:t>  THE FUTURE OF THE INTERNET INVOLVES MAKING IT FASTER, MORE SECURE, AND ACCESSIBLE TO MORE PEOPLE AROUND THE WORLD. THIS INCLUDES EXPANDING HIGH-SPEED CONNECTIONS LIKE FIBER-OPTIC NETWORKS AND 5G, WHICH WILL ENABLE NEW TECHNOLOGIES LIKE SMART CITIES, SELF-DRIVING CARS, AND ADVANCED HEALTHCARE SYSTEMS. THE INTERNET OF THINGS (IOT), WHERE EVERYDAY OBJECTS ARE CONNECTED TO THE INTERNET, WILL ALSO CONTINUE TO GROW, MAKING OUR LIVES MORE INTERCONNECTED.</a:t>
            </a:r>
          </a:p>
          <a:p>
            <a:pPr algn="just">
              <a:lnSpc>
                <a:spcPts val="4362"/>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ADDCA"/>
        </a:solidFill>
      </p:bgPr>
    </p:bg>
    <p:spTree>
      <p:nvGrpSpPr>
        <p:cNvPr id="1" name=""/>
        <p:cNvGrpSpPr/>
        <p:nvPr/>
      </p:nvGrpSpPr>
      <p:grpSpPr>
        <a:xfrm>
          <a:off x="0" y="0"/>
          <a:ext cx="0" cy="0"/>
          <a:chOff x="0" y="0"/>
          <a:chExt cx="0" cy="0"/>
        </a:xfrm>
      </p:grpSpPr>
      <p:sp>
        <p:nvSpPr>
          <p:cNvPr name="AutoShape 2" id="2"/>
          <p:cNvSpPr/>
          <p:nvPr/>
        </p:nvSpPr>
        <p:spPr>
          <a:xfrm>
            <a:off x="-1434042" y="8463432"/>
            <a:ext cx="17690400" cy="42685"/>
          </a:xfrm>
          <a:prstGeom prst="line">
            <a:avLst/>
          </a:prstGeom>
          <a:ln cap="flat" w="38100">
            <a:solidFill>
              <a:srgbClr val="9B6543"/>
            </a:solidFill>
            <a:prstDash val="solid"/>
            <a:headEnd type="none" len="sm" w="sm"/>
            <a:tailEnd type="none" len="sm" w="sm"/>
          </a:ln>
        </p:spPr>
      </p:sp>
      <p:sp>
        <p:nvSpPr>
          <p:cNvPr name="AutoShape 3" id="3"/>
          <p:cNvSpPr/>
          <p:nvPr/>
        </p:nvSpPr>
        <p:spPr>
          <a:xfrm flipV="true">
            <a:off x="2147049" y="-5105346"/>
            <a:ext cx="0" cy="17120890"/>
          </a:xfrm>
          <a:prstGeom prst="line">
            <a:avLst/>
          </a:prstGeom>
          <a:ln cap="flat" w="38100">
            <a:solidFill>
              <a:srgbClr val="9B6543"/>
            </a:solidFill>
            <a:prstDash val="solid"/>
            <a:headEnd type="none" len="sm" w="sm"/>
            <a:tailEnd type="none" len="sm" w="sm"/>
          </a:ln>
        </p:spPr>
      </p:sp>
      <p:sp>
        <p:nvSpPr>
          <p:cNvPr name="Freeform 4" id="4"/>
          <p:cNvSpPr/>
          <p:nvPr/>
        </p:nvSpPr>
        <p:spPr>
          <a:xfrm flipH="false" flipV="false" rot="0">
            <a:off x="-427834" y="-867796"/>
            <a:ext cx="2963187" cy="2657889"/>
          </a:xfrm>
          <a:custGeom>
            <a:avLst/>
            <a:gdLst/>
            <a:ahLst/>
            <a:cxnLst/>
            <a:rect r="r" b="b" t="t" l="l"/>
            <a:pathLst>
              <a:path h="2657889" w="2963187">
                <a:moveTo>
                  <a:pt x="0" y="0"/>
                </a:moveTo>
                <a:lnTo>
                  <a:pt x="2963186" y="0"/>
                </a:lnTo>
                <a:lnTo>
                  <a:pt x="2963186" y="2657888"/>
                </a:lnTo>
                <a:lnTo>
                  <a:pt x="0" y="26578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311361" y="8005196"/>
            <a:ext cx="3534196" cy="3170067"/>
          </a:xfrm>
          <a:custGeom>
            <a:avLst/>
            <a:gdLst/>
            <a:ahLst/>
            <a:cxnLst/>
            <a:rect r="r" b="b" t="t" l="l"/>
            <a:pathLst>
              <a:path h="3170067" w="3534196">
                <a:moveTo>
                  <a:pt x="0" y="0"/>
                </a:moveTo>
                <a:lnTo>
                  <a:pt x="3534196" y="0"/>
                </a:lnTo>
                <a:lnTo>
                  <a:pt x="3534196" y="3170067"/>
                </a:lnTo>
                <a:lnTo>
                  <a:pt x="0" y="3170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3126254" y="-10252"/>
            <a:ext cx="5216125" cy="6154720"/>
          </a:xfrm>
          <a:custGeom>
            <a:avLst/>
            <a:gdLst/>
            <a:ahLst/>
            <a:cxnLst/>
            <a:rect r="r" b="b" t="t" l="l"/>
            <a:pathLst>
              <a:path h="6154720" w="5216125">
                <a:moveTo>
                  <a:pt x="5216125" y="6154720"/>
                </a:moveTo>
                <a:lnTo>
                  <a:pt x="0" y="6154720"/>
                </a:lnTo>
                <a:lnTo>
                  <a:pt x="0" y="0"/>
                </a:lnTo>
                <a:lnTo>
                  <a:pt x="5216125" y="0"/>
                </a:lnTo>
                <a:lnTo>
                  <a:pt x="5216125" y="6154720"/>
                </a:lnTo>
                <a:close/>
              </a:path>
            </a:pathLst>
          </a:custGeom>
          <a:blipFill>
            <a:blip r:embed="rId4"/>
            <a:stretch>
              <a:fillRect l="0" t="0" r="0" b="0"/>
            </a:stretch>
          </a:blipFill>
        </p:spPr>
      </p:sp>
      <p:sp>
        <p:nvSpPr>
          <p:cNvPr name="TextBox 7" id="7"/>
          <p:cNvSpPr txBox="true"/>
          <p:nvPr/>
        </p:nvSpPr>
        <p:spPr>
          <a:xfrm rot="0">
            <a:off x="3209378" y="3276658"/>
            <a:ext cx="13047025" cy="4220453"/>
          </a:xfrm>
          <a:prstGeom prst="rect">
            <a:avLst/>
          </a:prstGeom>
        </p:spPr>
        <p:txBody>
          <a:bodyPr anchor="t" rtlCol="false" tIns="0" lIns="0" bIns="0" rIns="0">
            <a:spAutoFit/>
          </a:bodyPr>
          <a:lstStyle/>
          <a:p>
            <a:pPr algn="l">
              <a:lnSpc>
                <a:spcPts val="16396"/>
              </a:lnSpc>
            </a:pPr>
            <a:r>
              <a:rPr lang="en-US" sz="15468" b="true">
                <a:solidFill>
                  <a:srgbClr val="821438"/>
                </a:solidFill>
                <a:latin typeface="Open Sauce Bold"/>
                <a:ea typeface="Open Sauce Bold"/>
                <a:cs typeface="Open Sauce Bold"/>
                <a:sym typeface="Open Sauce Bold"/>
              </a:rPr>
              <a:t>THANK YOU</a:t>
            </a:r>
          </a:p>
          <a:p>
            <a:pPr algn="l">
              <a:lnSpc>
                <a:spcPts val="16396"/>
              </a:lnSpc>
            </a:pPr>
            <a:r>
              <a:rPr lang="en-US" sz="15468" b="true">
                <a:solidFill>
                  <a:srgbClr val="821438"/>
                </a:solidFill>
                <a:latin typeface="Open Sauce Bold"/>
                <a:ea typeface="Open Sauce Bold"/>
                <a:cs typeface="Open Sauce Bold"/>
                <a:sym typeface="Open Sauce Bold"/>
              </a:rPr>
              <a:t>SO MUCH</a:t>
            </a:r>
          </a:p>
        </p:txBody>
      </p:sp>
      <p:sp>
        <p:nvSpPr>
          <p:cNvPr name="Freeform 8" id="8"/>
          <p:cNvSpPr/>
          <p:nvPr/>
        </p:nvSpPr>
        <p:spPr>
          <a:xfrm flipH="false" flipV="false" rot="0">
            <a:off x="-427834" y="7497110"/>
            <a:ext cx="4382529" cy="2908406"/>
          </a:xfrm>
          <a:custGeom>
            <a:avLst/>
            <a:gdLst/>
            <a:ahLst/>
            <a:cxnLst/>
            <a:rect r="r" b="b" t="t" l="l"/>
            <a:pathLst>
              <a:path h="2908406" w="4382529">
                <a:moveTo>
                  <a:pt x="0" y="0"/>
                </a:moveTo>
                <a:lnTo>
                  <a:pt x="4382529" y="0"/>
                </a:lnTo>
                <a:lnTo>
                  <a:pt x="4382529" y="2908406"/>
                </a:lnTo>
                <a:lnTo>
                  <a:pt x="0" y="29084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818522" y="6144468"/>
            <a:ext cx="2469478" cy="4179117"/>
          </a:xfrm>
          <a:custGeom>
            <a:avLst/>
            <a:gdLst/>
            <a:ahLst/>
            <a:cxnLst/>
            <a:rect r="r" b="b" t="t" l="l"/>
            <a:pathLst>
              <a:path h="4179117" w="2469478">
                <a:moveTo>
                  <a:pt x="0" y="0"/>
                </a:moveTo>
                <a:lnTo>
                  <a:pt x="2469478" y="0"/>
                </a:lnTo>
                <a:lnTo>
                  <a:pt x="2469478" y="4179116"/>
                </a:lnTo>
                <a:lnTo>
                  <a:pt x="0" y="41791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949165" y="3059837"/>
            <a:ext cx="2334214" cy="4114800"/>
          </a:xfrm>
          <a:custGeom>
            <a:avLst/>
            <a:gdLst/>
            <a:ahLst/>
            <a:cxnLst/>
            <a:rect r="r" b="b" t="t" l="l"/>
            <a:pathLst>
              <a:path h="4114800" w="2334214">
                <a:moveTo>
                  <a:pt x="0" y="0"/>
                </a:moveTo>
                <a:lnTo>
                  <a:pt x="2334214" y="0"/>
                </a:lnTo>
                <a:lnTo>
                  <a:pt x="2334214"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DAGPqoVChc0</dc:identifier>
  <dcterms:modified xsi:type="dcterms:W3CDTF">2011-08-01T06:04:30Z</dcterms:modified>
  <cp:revision>1</cp:revision>
  <dc:title>Brown and Beige Aesthetic Modern Group Project Presentation</dc:title>
</cp:coreProperties>
</file>