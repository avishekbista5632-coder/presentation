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4" r:id="rId9"/>
    <p:sldId id="276" r:id="rId10"/>
    <p:sldId id="271" r:id="rId11"/>
    <p:sldId id="272" r:id="rId12"/>
    <p:sldId id="273" r:id="rId13"/>
    <p:sldId id="260" r:id="rId14"/>
  </p:sldIdLst>
  <p:sldSz cx="9144000" cy="5143500" type="screen16x9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2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AE"/>
    <a:srgbClr val="0E73B9"/>
    <a:srgbClr val="3E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/>
    <p:restoredTop sz="94694" autoAdjust="0"/>
  </p:normalViewPr>
  <p:slideViewPr>
    <p:cSldViewPr snapToGrid="0" showGuides="1">
      <p:cViewPr varScale="1">
        <p:scale>
          <a:sx n="103" d="100"/>
          <a:sy n="103" d="100"/>
        </p:scale>
        <p:origin x="902" y="-149"/>
      </p:cViewPr>
      <p:guideLst>
        <p:guide orient="horz" pos="3239"/>
        <p:guide pos="52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-3720" y="-108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C44A2C-65F7-5C73-8427-4A1582EAC9BF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35B30-52F4-D787-B692-FD089E91C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rgbClr val="005EA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5" y="2457907"/>
            <a:ext cx="7500939" cy="416138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5" y="2892920"/>
            <a:ext cx="7500938" cy="271350"/>
          </a:xfrm>
        </p:spPr>
        <p:txBody>
          <a:bodyPr/>
          <a:lstStyle>
            <a:lvl1pPr marL="0" indent="0" algn="l">
              <a:buNone/>
              <a:defRPr sz="16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 dirty="0"/>
              <a:t>Click to edit Master subtitle style</a:t>
            </a:r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28675" y="3352888"/>
            <a:ext cx="4679325" cy="713346"/>
          </a:xfrm>
        </p:spPr>
        <p:txBody>
          <a:bodyPr anchor="b"/>
          <a:lstStyle>
            <a:lvl1pPr>
              <a:spcBef>
                <a:spcPts val="0"/>
              </a:spcBef>
              <a:defRPr sz="1600">
                <a:solidFill>
                  <a:srgbClr val="005EA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0" indent="0">
              <a:spcBef>
                <a:spcPts val="0"/>
              </a:spcBef>
              <a:buNone/>
              <a:defRPr sz="160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0" indent="0">
              <a:spcBef>
                <a:spcPts val="567"/>
              </a:spcBef>
              <a:buNone/>
              <a:defRPr sz="160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88934D-A56E-462C-9969-3B738E7797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188FF0-386C-49AB-9625-D58BFBABCE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8" y="260099"/>
            <a:ext cx="3816927" cy="7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5" y="1410806"/>
            <a:ext cx="7500938" cy="3030141"/>
          </a:xfrm>
        </p:spPr>
        <p:txBody>
          <a:bodyPr/>
          <a:lstStyle/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7B07C86-F304-48AC-0635-D3C06C989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30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3B1C33-E9BA-C38F-77DA-85710411B458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939200" y="1457325"/>
            <a:ext cx="4204800" cy="3087749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AE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80" y="1428750"/>
            <a:ext cx="3819525" cy="2990766"/>
          </a:xfrm>
        </p:spPr>
        <p:txBody>
          <a:bodyPr/>
          <a:lstStyle>
            <a:lvl1pPr marL="238125" indent="-238125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600" b="0"/>
            </a:lvl1pPr>
            <a:lvl2pPr marL="503238" indent="-207963">
              <a:spcBef>
                <a:spcPts val="0"/>
              </a:spcBef>
              <a:spcAft>
                <a:spcPts val="567"/>
              </a:spcAft>
              <a:defRPr sz="16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DF015-CA75-45AD-9204-C89F62C3C4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DF1DB0-7D8B-DDFF-6951-891321E3F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7F9307-EA7D-C977-0CBF-B7B6F4B555ED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36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D0204B-03F2-338E-8F07-AC68D3182F9D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076880"/>
            <a:ext cx="9144000" cy="3407478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AE"/>
                </a:solidFill>
              </a:defRPr>
            </a:lvl1pPr>
          </a:lstStyle>
          <a:p>
            <a:r>
              <a:rPr lang="ga-IE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BA6EDD-8F92-4FD1-B7B9-9FF10128AF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5E5D1A-269B-DD56-2BB1-0EEFAEAAD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B46DB1-79CD-DC38-6845-87362A51B923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61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9" y="2786400"/>
            <a:ext cx="7500939" cy="416138"/>
          </a:xfrm>
        </p:spPr>
        <p:txBody>
          <a:bodyPr/>
          <a:lstStyle>
            <a:lvl1pPr algn="l">
              <a:defRPr sz="4200">
                <a:solidFill>
                  <a:srgbClr val="005EAE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4873500"/>
            <a:ext cx="9144000" cy="270000"/>
          </a:xfrm>
          <a:prstGeom prst="rect">
            <a:avLst/>
          </a:prstGeom>
          <a:solidFill>
            <a:srgbClr val="005EAE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rgbClr val="005EA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B0D008-112C-4BFF-A865-DBF682902E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8" y="260099"/>
            <a:ext cx="3816927" cy="76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8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AE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A00225-20E0-3F88-F7D4-E82EEC46B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74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E8F112-E47C-B02E-DA5B-E49A52410A7D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410809"/>
            <a:ext cx="7527924" cy="2732569"/>
          </a:xfrm>
        </p:spPr>
        <p:txBody>
          <a:bodyPr/>
          <a:lstStyle>
            <a:lvl1pPr marL="0" indent="0" rtl="0">
              <a:spcBef>
                <a:spcPts val="900"/>
              </a:spcBef>
              <a:buClr>
                <a:schemeClr val="tx2"/>
              </a:buClr>
              <a:buSzPts val="2000"/>
              <a:buFont typeface="Arial"/>
              <a:buNone/>
              <a:defRPr sz="2000" b="1"/>
            </a:lvl1pPr>
            <a:lvl2pPr marL="625475" indent="-233363" rtl="0">
              <a:buSzPts val="2000"/>
              <a:buFont typeface="Minion Pro"/>
              <a:buChar char="‒"/>
              <a:defRPr sz="2000"/>
            </a:lvl2pPr>
            <a:lvl3pPr marL="912813" indent="-222250" rtl="0">
              <a:buSzPts val="2000"/>
              <a:buFont typeface="Arial"/>
              <a:buChar char="»"/>
              <a:defRPr sz="2000"/>
            </a:lvl3pPr>
            <a:lvl4pPr marL="1128713" indent="-190500">
              <a:defRPr sz="2000"/>
            </a:lvl4pPr>
            <a:lvl5pPr marL="1439863" indent="-185738">
              <a:defRPr sz="2000"/>
            </a:lvl5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600" b="0">
                <a:solidFill>
                  <a:srgbClr val="005EAE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64B9B-5E3C-44F1-AA3B-F13AE6F79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340D839-58E1-7FC1-D822-C12CACEB7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BD7178-394F-DCCD-FA2B-5B4DC821DFE2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76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1403663"/>
            <a:ext cx="7500938" cy="3072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067A8-1EFE-4446-89BE-26BD2C5F9AE0}"/>
              </a:ext>
            </a:extLst>
          </p:cNvPr>
          <p:cNvSpPr/>
          <p:nvPr userDrawn="1"/>
        </p:nvSpPr>
        <p:spPr>
          <a:xfrm>
            <a:off x="0" y="4545078"/>
            <a:ext cx="9144000" cy="597231"/>
          </a:xfrm>
          <a:prstGeom prst="rect">
            <a:avLst/>
          </a:prstGeom>
          <a:solidFill>
            <a:srgbClr val="0E73B9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5C853-F1F4-4B47-B05A-BA9D26BFE68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75" y="4626026"/>
            <a:ext cx="1873076" cy="374615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97C24C9-299D-445E-B26B-79F3BEA9A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93528" y="3602182"/>
            <a:ext cx="1935998" cy="147771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200">
                <a:solidFill>
                  <a:schemeClr val="tx1"/>
                </a:solidFill>
                <a:latin typeface="Impact" panose="020B0806030902050204" pitchFamily="34" charset="0"/>
              </a:defRPr>
            </a:lvl1pPr>
          </a:lstStyle>
          <a:p>
            <a:fld id="{DDBE135E-2566-4748-853C-8A3B78F0FB00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7DA9EA-A61A-4869-90D9-5220EDD0AB6B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06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54" r:id="rId6"/>
    <p:sldLayoutId id="2147483661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0E73B9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spcBef>
          <a:spcPts val="1417"/>
        </a:spcBef>
        <a:buFont typeface="Arial" pitchFamily="34" charset="0"/>
        <a:buNone/>
        <a:defRPr sz="2000" b="1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317500" indent="-3175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568325" indent="-22225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784225" indent="-201613" algn="l" defTabSz="914400" rtl="0" eaLnBrk="1" latinLnBrk="0" hangingPunct="1">
        <a:spcBef>
          <a:spcPts val="1134"/>
        </a:spcBef>
        <a:buClr>
          <a:schemeClr val="tx2"/>
        </a:buClr>
        <a:buFont typeface="Minion Pro" pitchFamily="18" charset="0"/>
        <a:buChar char="‒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1000125" indent="-185738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»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vishekbista.pythonanywhere.com/admin/login/?next=/admin/shop/order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1948" y="2476782"/>
            <a:ext cx="7500939" cy="416138"/>
          </a:xfrm>
        </p:spPr>
        <p:txBody>
          <a:bodyPr/>
          <a:lstStyle/>
          <a:p>
            <a:r>
              <a:rPr lang="en-US" dirty="0"/>
              <a:t>Online E-Commerce System 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Sales and Order Management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28675" y="3580408"/>
            <a:ext cx="4679325" cy="787618"/>
          </a:xfrm>
        </p:spPr>
        <p:txBody>
          <a:bodyPr/>
          <a:lstStyle/>
          <a:p>
            <a:r>
              <a:rPr lang="en-US" dirty="0"/>
              <a:t>Avishek Bista</a:t>
            </a:r>
          </a:p>
          <a:p>
            <a:r>
              <a:rPr lang="en-US" b="0" dirty="0"/>
              <a:t>TU Roll No: 14892/22</a:t>
            </a:r>
          </a:p>
          <a:p>
            <a:r>
              <a:rPr lang="en-US" b="0" dirty="0"/>
              <a:t>Supervisor: Pravin Ratna Shakya</a:t>
            </a:r>
          </a:p>
          <a:p>
            <a:r>
              <a:rPr lang="en-US" b="0" dirty="0"/>
              <a:t>Designation: Lecturer, SXC </a:t>
            </a:r>
          </a:p>
          <a:p>
            <a:r>
              <a:rPr lang="en-GB" b="0" dirty="0">
                <a:latin typeface="Poppins" panose="00000500000000000000" pitchFamily="2" charset="0"/>
                <a:cs typeface="Poppins" panose="00000500000000000000" pitchFamily="2" charset="0"/>
              </a:rPr>
              <a:t>Date </a:t>
            </a:r>
            <a:r>
              <a:rPr lang="en-GB" b="0" dirty="0"/>
              <a:t>2</a:t>
            </a:r>
            <a:r>
              <a:rPr lang="en-GB" b="0" dirty="0">
                <a:latin typeface="Poppins" panose="00000500000000000000" pitchFamily="2" charset="0"/>
                <a:cs typeface="Poppins" panose="00000500000000000000" pitchFamily="2" charset="0"/>
              </a:rPr>
              <a:t>0/02/2026</a:t>
            </a:r>
          </a:p>
        </p:txBody>
      </p:sp>
    </p:spTree>
    <p:extLst>
      <p:ext uri="{BB962C8B-B14F-4D97-AF65-F5344CB8AC3E}">
        <p14:creationId xmlns:p14="http://schemas.microsoft.com/office/powerpoint/2010/main" val="177279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3030141"/>
          </a:xfrm>
        </p:spPr>
        <p:txBody>
          <a:bodyPr/>
          <a:lstStyle/>
          <a:p>
            <a:pPr lvl="1">
              <a:buBlip>
                <a:blip r:embed="rId2"/>
              </a:buBlip>
            </a:pPr>
            <a:r>
              <a:rPr lang="en-US" dirty="0"/>
              <a:t>Web-based e-commerce system for managing product sales and customer orders.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buBlip>
                <a:blip r:embed="rId2"/>
              </a:buBlip>
            </a:pPr>
            <a:r>
              <a:rPr lang="en-US" dirty="0"/>
              <a:t>Automates product browsing, cart, order, and transaction recording.</a:t>
            </a:r>
          </a:p>
          <a:p>
            <a:pPr lvl="1">
              <a:buBlip>
                <a:blip r:embed="rId2"/>
              </a:buBlip>
            </a:pPr>
            <a:r>
              <a:rPr lang="en-US" dirty="0"/>
              <a:t>Designed mainly for small &amp; medium businesses needing digital sales management.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2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08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3030141"/>
          </a:xfrm>
        </p:spPr>
        <p:txBody>
          <a:bodyPr/>
          <a:lstStyle/>
          <a:p>
            <a:pPr lvl="1">
              <a:buBlip>
                <a:blip r:embed="rId2"/>
              </a:buBlip>
            </a:pPr>
            <a:r>
              <a:rPr lang="en-US" sz="2000" b="0" i="0" dirty="0">
                <a:effectLst/>
              </a:rPr>
              <a:t>Limited market reach due to lack of online presence</a:t>
            </a:r>
          </a:p>
          <a:p>
            <a:pPr lvl="1">
              <a:buBlip>
                <a:blip r:embed="rId2"/>
              </a:buBlip>
            </a:pPr>
            <a:r>
              <a:rPr lang="en-US" dirty="0"/>
              <a:t>No customer engagement or digital marketing tools</a:t>
            </a:r>
          </a:p>
          <a:p>
            <a:pPr lvl="1">
              <a:buBlip>
                <a:blip r:embed="rId2"/>
              </a:buBlip>
            </a:pPr>
            <a:r>
              <a:rPr lang="en-US" sz="2000" b="0" i="0" dirty="0">
                <a:effectLst/>
              </a:rPr>
              <a:t>Competition from bigger brands</a:t>
            </a:r>
          </a:p>
          <a:p>
            <a:pPr lvl="1">
              <a:buBlip>
                <a:blip r:embed="rId2"/>
              </a:buBlip>
            </a:pPr>
            <a:r>
              <a:rPr lang="en-US" dirty="0"/>
              <a:t>No feedback or review system</a:t>
            </a:r>
          </a:p>
          <a:p>
            <a:pPr lvl="1">
              <a:buBlip>
                <a:blip r:embed="rId2"/>
              </a:buBlip>
            </a:pPr>
            <a:r>
              <a:rPr lang="en-US" sz="2000" b="0" i="0" dirty="0">
                <a:effectLst/>
              </a:rPr>
              <a:t>Need for an e-commer</a:t>
            </a:r>
            <a:r>
              <a:rPr lang="en-US" dirty="0"/>
              <a:t>ce platform to boost visibility and sales</a:t>
            </a:r>
            <a:endParaRPr lang="en-US" sz="2000" b="0" i="0" dirty="0">
              <a:effectLst/>
            </a:endParaRPr>
          </a:p>
          <a:p>
            <a:pPr lvl="1">
              <a:buBlip>
                <a:blip r:embed="rId2"/>
              </a:buBlip>
            </a:pPr>
            <a:endParaRPr lang="en-US" sz="2000" b="0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3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6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3030141"/>
          </a:xfrm>
        </p:spPr>
        <p:txBody>
          <a:bodyPr/>
          <a:lstStyle/>
          <a:p>
            <a:pPr lvl="1">
              <a:buBlip>
                <a:blip r:embed="rId2"/>
              </a:buBlip>
            </a:pPr>
            <a:r>
              <a:rPr lang="en-US" dirty="0"/>
              <a:t>Develop a web-based e-commerce platform for online selling</a:t>
            </a:r>
          </a:p>
          <a:p>
            <a:pPr lvl="1">
              <a:buBlip>
                <a:blip r:embed="rId2"/>
              </a:buBlip>
            </a:pPr>
            <a:r>
              <a:rPr lang="en-US" dirty="0"/>
              <a:t>Implement cart, order processing, and transaction recording</a:t>
            </a:r>
          </a:p>
          <a:p>
            <a:pPr lvl="1">
              <a:buBlip>
                <a:blip r:embed="rId2"/>
              </a:buBlip>
            </a:pPr>
            <a:r>
              <a:rPr lang="en-US" dirty="0"/>
              <a:t>Provide admin dashboard for product &amp; order management</a:t>
            </a:r>
            <a:endParaRPr lang="en-US" sz="2000" b="0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4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5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B482F3-F00E-70BD-1099-1303F7823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50849" y="1308773"/>
            <a:ext cx="11166088" cy="2818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Design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7371" y="685802"/>
            <a:ext cx="7852242" cy="207169"/>
          </a:xfrm>
        </p:spPr>
        <p:txBody>
          <a:bodyPr/>
          <a:lstStyle/>
          <a:p>
            <a:r>
              <a:rPr lang="en-US" dirty="0"/>
              <a:t>System Design Flow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5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09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>
                <a:latin typeface="Poppins" panose="00000500000000000000" pitchFamily="2" charset="0"/>
                <a:cs typeface="Poppins" panose="00000500000000000000" pitchFamily="2" charset="0"/>
              </a:rPr>
              <a:t>Tools Used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7371" y="685802"/>
            <a:ext cx="7852242" cy="207169"/>
          </a:xfrm>
        </p:spPr>
        <p:txBody>
          <a:bodyPr/>
          <a:lstStyle/>
          <a:p>
            <a:r>
              <a:rPr lang="en-US" dirty="0"/>
              <a:t>Tools &amp; Technologies Used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6</a:t>
            </a:fld>
            <a:endParaRPr lang="en-GB" dirty="0">
              <a:cs typeface="Poppins" panose="00000500000000000000" pitchFamily="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C215D06-CABB-289D-CB67-12750E41A638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77838" y="1816567"/>
            <a:ext cx="270138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 (Backend)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Django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SQLite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03683C-A7CE-E79C-4916-88AAB8519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04" y="1466694"/>
            <a:ext cx="1332696" cy="1319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65D6F1-B571-5B54-E7CA-DD60055DD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664" y="1366490"/>
            <a:ext cx="3714812" cy="1200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FDDB46-D1F2-85CB-0C67-1777B6E7B4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205" y="2901475"/>
            <a:ext cx="3377450" cy="1538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C85EA5-5094-1D08-AD93-EB183E5EB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796" y="2798445"/>
            <a:ext cx="2605849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4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/>
              <a:t>Deliverables</a:t>
            </a:r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77371" y="685802"/>
            <a:ext cx="7852242" cy="207169"/>
          </a:xfrm>
        </p:spPr>
        <p:txBody>
          <a:bodyPr/>
          <a:lstStyle/>
          <a:p>
            <a:r>
              <a:rPr lang="en-US" dirty="0"/>
              <a:t>User Side Screens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4AF69E1-04AF-9571-FA1F-112ACF2C490F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77371" y="1308773"/>
            <a:ext cx="17780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Home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1F3C1-AB7F-C795-205C-0C35C3DCB97B}"/>
              </a:ext>
            </a:extLst>
          </p:cNvPr>
          <p:cNvSpPr txBox="1"/>
          <p:nvPr/>
        </p:nvSpPr>
        <p:spPr>
          <a:xfrm>
            <a:off x="2983830" y="1308773"/>
            <a:ext cx="2322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Product Listing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276F6-B4CD-B766-FBC4-34A781A17690}"/>
              </a:ext>
            </a:extLst>
          </p:cNvPr>
          <p:cNvSpPr txBox="1"/>
          <p:nvPr/>
        </p:nvSpPr>
        <p:spPr>
          <a:xfrm>
            <a:off x="5871411" y="1308773"/>
            <a:ext cx="3038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Product Detail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23554-F9F7-59D4-66AB-3E482AE4DA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71" y="1814888"/>
            <a:ext cx="2141313" cy="24938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385656-D31C-17AA-0BEB-A1722A5A77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210" y="1814888"/>
            <a:ext cx="2033337" cy="24668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D25754-3413-504A-D733-186F8B81F4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33" y="1814888"/>
            <a:ext cx="2319533" cy="271662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7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09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27E4-1F67-5CFF-A07A-8290EB47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C706-D1E3-43DB-6C9E-69DEA3A39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/>
              <a:t>Deliverables</a:t>
            </a:r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1FF17-52BF-6307-D73A-4F1DFF8C17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371" y="685802"/>
            <a:ext cx="7852242" cy="207169"/>
          </a:xfrm>
        </p:spPr>
        <p:txBody>
          <a:bodyPr/>
          <a:lstStyle/>
          <a:p>
            <a:r>
              <a:rPr lang="en-US" dirty="0"/>
              <a:t>Order Process Screens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A727DE-DBE3-9091-B1A3-496E6B644E0D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477371" y="1280986"/>
            <a:ext cx="1574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/>
              <a:t>Cart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E77DC-BB56-1956-5AE2-455030047958}"/>
              </a:ext>
            </a:extLst>
          </p:cNvPr>
          <p:cNvSpPr txBox="1"/>
          <p:nvPr/>
        </p:nvSpPr>
        <p:spPr>
          <a:xfrm>
            <a:off x="3243823" y="1226779"/>
            <a:ext cx="2265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Checkout 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D568D-E58B-620B-9D34-ED1FDEDA9A7A}"/>
              </a:ext>
            </a:extLst>
          </p:cNvPr>
          <p:cNvSpPr txBox="1"/>
          <p:nvPr/>
        </p:nvSpPr>
        <p:spPr>
          <a:xfrm>
            <a:off x="6099021" y="1226779"/>
            <a:ext cx="2810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Order Confirmation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69202B-3052-C569-B5E6-0C35798103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29" y="1681096"/>
            <a:ext cx="2468681" cy="25508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298C09-6D33-318A-F118-CF4D827E47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213" y="1681096"/>
            <a:ext cx="2284557" cy="26300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D96646C-A13F-1960-59A0-02A558E866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000" y="1617547"/>
            <a:ext cx="2667271" cy="27571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BFB03-A092-F3A9-01AF-D8B2136DF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8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0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F7BD-B51C-3D45-064F-D35807A5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A86D-21F2-8074-2ED7-1549A2CE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/>
              <a:t>Deliverables</a:t>
            </a:r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20A4A-BD77-F85D-BD2C-626A17F12F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371" y="685802"/>
            <a:ext cx="7852242" cy="207169"/>
          </a:xfrm>
        </p:spPr>
        <p:txBody>
          <a:bodyPr/>
          <a:lstStyle/>
          <a:p>
            <a:r>
              <a:rPr lang="en-US" dirty="0"/>
              <a:t>Admin Side</a:t>
            </a:r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D0433C-C316-ADCD-EF96-2BA0E45BEE23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328688" y="1308773"/>
            <a:ext cx="26276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0" dirty="0"/>
              <a:t>Admin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1B34F-5631-736B-AFC0-03B3E832CF51}"/>
              </a:ext>
            </a:extLst>
          </p:cNvPr>
          <p:cNvSpPr txBox="1"/>
          <p:nvPr/>
        </p:nvSpPr>
        <p:spPr>
          <a:xfrm>
            <a:off x="3108546" y="1308773"/>
            <a:ext cx="31576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Product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8E9CC-40EB-F8F7-20AF-4BA19B05F8D4}"/>
              </a:ext>
            </a:extLst>
          </p:cNvPr>
          <p:cNvSpPr txBox="1"/>
          <p:nvPr/>
        </p:nvSpPr>
        <p:spPr>
          <a:xfrm>
            <a:off x="6562143" y="1308773"/>
            <a:ext cx="25108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Order View Panel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26D5C-10EE-A3C6-F367-3CE90C1166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88" y="1636550"/>
            <a:ext cx="2654499" cy="28211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2E205B-314C-79E5-D78A-ED8D098EB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086" y="1636550"/>
            <a:ext cx="2583968" cy="28211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F0E853-E5A7-3CAF-8AAD-F221E34C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416" y="1636551"/>
            <a:ext cx="2491060" cy="282114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7661C-A9C9-D576-0694-FC119A024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9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041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/>
              <a:t>Critical Analysis</a:t>
            </a:r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10</a:t>
            </a:fld>
            <a:endParaRPr lang="en-GB" dirty="0"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BA13D-0221-59E2-1AD8-ACBA2044E6E6}"/>
              </a:ext>
            </a:extLst>
          </p:cNvPr>
          <p:cNvSpPr txBox="1"/>
          <p:nvPr/>
        </p:nvSpPr>
        <p:spPr>
          <a:xfrm>
            <a:off x="423583" y="3149289"/>
            <a:ext cx="47404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No integrated payment gateway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Limited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Poppins" panose="00000500000000000000" pitchFamily="2" charset="0"/>
                <a:cs typeface="Poppins" panose="00000500000000000000" pitchFamily="2" charset="0"/>
              </a:rPr>
              <a:t>Basic inventory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DCFAF-06A9-12B3-2B3A-17EB354353DF}"/>
              </a:ext>
            </a:extLst>
          </p:cNvPr>
          <p:cNvSpPr txBox="1"/>
          <p:nvPr/>
        </p:nvSpPr>
        <p:spPr>
          <a:xfrm>
            <a:off x="423583" y="1253655"/>
            <a:ext cx="48098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Strengths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Automated transaction recording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Improved data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Reduced manual errors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Scalable modular design</a:t>
            </a:r>
          </a:p>
        </p:txBody>
      </p:sp>
    </p:spTree>
    <p:extLst>
      <p:ext uri="{BB962C8B-B14F-4D97-AF65-F5344CB8AC3E}">
        <p14:creationId xmlns:p14="http://schemas.microsoft.com/office/powerpoint/2010/main" val="174365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/>
              <a:t>Conclusion</a:t>
            </a:r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3030141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/>
              <a:t>Successfully developed a functional e-commerce TPS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/>
              <a:t>Automates sales and order management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/>
              <a:t>Improves efficiency and data reliability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0" dirty="0"/>
              <a:t>Provides base for future MIS &amp; analytics features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11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484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83" y="270000"/>
            <a:ext cx="7906036" cy="421200"/>
          </a:xfrm>
        </p:spPr>
        <p:txBody>
          <a:bodyPr/>
          <a:lstStyle/>
          <a:p>
            <a:r>
              <a:rPr lang="en-GB" b="1" dirty="0"/>
              <a:t>Project Demo</a:t>
            </a:r>
            <a:endParaRPr lang="en-GB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77371" y="1271154"/>
            <a:ext cx="8169088" cy="3030141"/>
          </a:xfrm>
        </p:spPr>
        <p:txBody>
          <a:bodyPr/>
          <a:lstStyle/>
          <a:p>
            <a:pPr lvl="1">
              <a:buBlip>
                <a:blip r:embed="rId2"/>
              </a:buBlip>
            </a:pPr>
            <a:r>
              <a:rPr lang="en-US" dirty="0"/>
              <a:t>Admin panel - </a:t>
            </a:r>
            <a:r>
              <a:rPr lang="en-US" dirty="0">
                <a:hlinkClick r:id="rId3"/>
              </a:rPr>
              <a:t>https://avishekbista.pythonanywhere.com/admin/login/?next=/admin/shop/order/</a:t>
            </a:r>
            <a:endParaRPr lang="en-US" dirty="0"/>
          </a:p>
          <a:p>
            <a:pPr lvl="1">
              <a:buBlip>
                <a:blip r:embed="rId2"/>
              </a:buBlip>
            </a:pPr>
            <a:endParaRPr lang="en-US" sz="2000" b="0" i="0" dirty="0">
              <a:effectLst/>
            </a:endParaRPr>
          </a:p>
          <a:p>
            <a:pPr lvl="1">
              <a:buBlip>
                <a:blip r:embed="rId2"/>
              </a:buBlip>
            </a:pPr>
            <a:r>
              <a:rPr lang="en-US" dirty="0"/>
              <a:t>User panel – https://avishekbista.pythonanywhere.com/</a:t>
            </a:r>
            <a:endParaRPr lang="en-US" sz="2000" b="0" i="0" dirty="0">
              <a:effectLst/>
            </a:endParaRPr>
          </a:p>
          <a:p>
            <a:pPr marL="0" lvl="1" indent="0">
              <a:buNone/>
            </a:pPr>
            <a:endParaRPr lang="en-US" sz="2000" b="0" i="0" dirty="0">
              <a:effectLst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9C512-C1CD-6243-B746-D52DD9D79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795" y="3872346"/>
            <a:ext cx="1943681" cy="1200764"/>
          </a:xfrm>
        </p:spPr>
        <p:txBody>
          <a:bodyPr/>
          <a:lstStyle/>
          <a:p>
            <a:fld id="{DDBE135E-2566-4748-853C-8A3B78F0FB00}" type="slidenum">
              <a:rPr lang="en-GB" smtClean="0">
                <a:cs typeface="Poppins" panose="00000500000000000000" pitchFamily="2" charset="0"/>
              </a:rPr>
              <a:pPr/>
              <a:t>12</a:t>
            </a:fld>
            <a:endParaRPr lang="en-GB" dirty="0"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160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1444" y="3462906"/>
            <a:ext cx="8341111" cy="416138"/>
          </a:xfrm>
        </p:spPr>
        <p:txBody>
          <a:bodyPr/>
          <a:lstStyle/>
          <a:p>
            <a:pPr algn="ctr"/>
            <a:r>
              <a:rPr lang="en-GB" sz="3600" dirty="0">
                <a:latin typeface="Poppins" panose="00000500000000000000" pitchFamily="2" charset="0"/>
                <a:cs typeface="Poppins" panose="00000500000000000000" pitchFamily="2" charset="0"/>
              </a:rPr>
              <a:t>Thank  </a:t>
            </a:r>
            <a:br>
              <a:rPr lang="en-GB" sz="36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3600" dirty="0">
                <a:latin typeface="Poppins" panose="00000500000000000000" pitchFamily="2" charset="0"/>
                <a:cs typeface="Poppins" panose="00000500000000000000" pitchFamily="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theme/theme1.xml><?xml version="1.0" encoding="utf-8"?>
<a:theme xmlns:a="http://schemas.openxmlformats.org/drawingml/2006/main" name="TCD_PPT_Calibri_Option2a">
  <a:themeElements>
    <a:clrScheme name="Trinity College">
      <a:dk1>
        <a:sysClr val="windowText" lastClr="000000"/>
      </a:dk1>
      <a:lt1>
        <a:sysClr val="window" lastClr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Trinity Colleg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TCD_PPT_Calibri_Option2a.potx</Template>
  <TotalTime>549</TotalTime>
  <Words>278</Words>
  <Application>Microsoft Office PowerPoint</Application>
  <PresentationFormat>On-screen Show (16:9)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Impact</vt:lpstr>
      <vt:lpstr>Minion Pro</vt:lpstr>
      <vt:lpstr>Poppins</vt:lpstr>
      <vt:lpstr>TCD_PPT_Calibri_Option2a</vt:lpstr>
      <vt:lpstr>Online E-Commerce System </vt:lpstr>
      <vt:lpstr>Introduction</vt:lpstr>
      <vt:lpstr>Problem Statement</vt:lpstr>
      <vt:lpstr>Objective</vt:lpstr>
      <vt:lpstr>Design</vt:lpstr>
      <vt:lpstr>Tools Used</vt:lpstr>
      <vt:lpstr>Deliverables</vt:lpstr>
      <vt:lpstr>Deliverables</vt:lpstr>
      <vt:lpstr>Deliverables</vt:lpstr>
      <vt:lpstr>Critical Analysis</vt:lpstr>
      <vt:lpstr>Conclusion</vt:lpstr>
      <vt:lpstr>Project Demo</vt:lpstr>
      <vt:lpstr>Thank  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dtpgraphics</dc:creator>
  <cp:lastModifiedBy>Dell</cp:lastModifiedBy>
  <cp:revision>61</cp:revision>
  <cp:lastPrinted>2014-12-16T10:33:11Z</cp:lastPrinted>
  <dcterms:created xsi:type="dcterms:W3CDTF">2013-07-29T09:34:50Z</dcterms:created>
  <dcterms:modified xsi:type="dcterms:W3CDTF">2026-02-19T10:39:16Z</dcterms:modified>
</cp:coreProperties>
</file>