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317" r:id="rId5"/>
    <p:sldId id="307" r:id="rId6"/>
    <p:sldId id="308" r:id="rId7"/>
    <p:sldId id="318" r:id="rId8"/>
    <p:sldId id="319" r:id="rId9"/>
    <p:sldId id="320" r:id="rId10"/>
    <p:sldId id="321" r:id="rId11"/>
    <p:sldId id="278" r:id="rId12"/>
    <p:sldId id="322" r:id="rId13"/>
    <p:sldId id="323" r:id="rId14"/>
    <p:sldId id="324" r:id="rId15"/>
    <p:sldId id="325" r:id="rId16"/>
    <p:sldId id="326" r:id="rId17"/>
    <p:sldId id="309" r:id="rId18"/>
    <p:sldId id="263" r:id="rId19"/>
    <p:sldId id="327" r:id="rId20"/>
    <p:sldId id="328" r:id="rId21"/>
    <p:sldId id="312" r:id="rId22"/>
    <p:sldId id="329"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81" d="100"/>
          <a:sy n="81" d="100"/>
        </p:scale>
        <p:origin x="754" y="4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1/24/2025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1/24/2025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3177-B4DE-E5D8-60DE-54AB40B38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A77A6-48A5-395D-8E66-9F8DC9A5A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C4CB2-3809-FE87-3C18-6AFCD87D7F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BAEB0F-50A1-FB24-B3B2-07E58F49ABDB}"/>
              </a:ext>
            </a:extLst>
          </p:cNvPr>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2591408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F629A-169D-BB71-E168-56F44F43F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C491C-E46E-D1A1-5B7A-4A5410B77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D5D008-37F1-CB33-9EF2-E8006BD780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F0234D-224A-45EA-3615-2B7EC23634E2}"/>
              </a:ext>
            </a:extLst>
          </p:cNvPr>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2835789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0A104-1AF1-0E4C-D4AF-A05CD9FF8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5A898-A065-37F7-93F7-C3832F7213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C52DB-0576-0B8A-A5ED-846F66C0D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904A2D-1217-E9AF-5CE3-9492BF765167}"/>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403553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9A256-B38C-FCBA-A787-AA702396F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8958C-C480-5B8A-0B68-6B930D6D2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EC732-5AF6-CE87-9D1C-22645F220C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7ECB4C-C5C2-F459-5F84-03C1DC35113E}"/>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775057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BD0E5-5FA5-76EF-0F25-C7205859B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E0826-FAC3-4E92-BB20-A9282CB76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2B0FB-88C4-37DA-A4BB-F83F669708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C497A-BDEA-416A-1CDD-844E140DB990}"/>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031004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8B577-9369-24D8-179D-18996533B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D621E-8F89-AFBD-E946-0FDEE109C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47D7A6-0766-642A-6BDE-0CB5FF9D0F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C93C05-A24A-2027-B36C-60FD1F5CEF95}"/>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2189934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27526-0841-E14E-73D3-DD7F6742A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EB887-9898-EE5B-7878-69B9789C1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C51F0-D676-0FEA-7F60-D5F6FD81F1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9ACA2A-C13D-F262-D133-C954B88FEA2C}"/>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984698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553D1-2E40-D849-8396-8052706FE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5C614-527B-F38E-F562-8A42B6225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FC801-BA23-930D-1403-CF1326DD96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DED99B-1697-25EC-1D41-8FD540BE4AC3}"/>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1853363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4E1B0-B652-EB51-DA7D-9B3C7EDF0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2B35C-4F09-2D04-6E12-66836BB79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CDC57-CAD3-F63D-5F93-C259330D4B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C2999-5550-10AB-5236-DEB86C496604}"/>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1840457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6E548-B956-9E72-6547-EB115ACE0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C5866F-E216-B76A-32DC-4252141D86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67445-24C5-C652-3DAD-A4B75309C9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A055B4-98D5-488F-CF14-EA525AC0D4DA}"/>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1403595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2B54C-006A-B8D6-EC46-1BB05906F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1B075-71C3-89A5-4CA5-99A19ED67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FE921-86F7-3E80-431A-D0560427CB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473812-6F4D-F96B-3AE3-AB57DAE1C51B}"/>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2801338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303CE-148B-A418-D23B-1A818D5E0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7C446-8062-CC16-DF20-D1A11E36F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0C168-59C6-0D9A-8457-42C9964B23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26F172-4BFA-3968-62BE-9F204CB9963D}"/>
              </a:ext>
            </a:extLst>
          </p:cNvPr>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3519083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elf.name/"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elf.name/"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elf.name/"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__init__.py/"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2514600"/>
          </a:xfrm>
        </p:spPr>
        <p:txBody>
          <a:bodyPr anchor="ctr"/>
          <a:lstStyle/>
          <a:p>
            <a:r>
              <a:rPr lang="en-US" b="1" i="0" dirty="0">
                <a:solidFill>
                  <a:srgbClr val="473821"/>
                </a:solidFill>
                <a:effectLst/>
              </a:rPr>
              <a:t>Unit 5: Object-oriented Programming</a:t>
            </a:r>
            <a:endParaRPr lang="en-US" b="1" dirty="0"/>
          </a:p>
        </p:txBody>
      </p:sp>
      <p:sp>
        <p:nvSpPr>
          <p:cNvPr id="2" name="TextBox 1">
            <a:extLst>
              <a:ext uri="{FF2B5EF4-FFF2-40B4-BE49-F238E27FC236}">
                <a16:creationId xmlns:a16="http://schemas.microsoft.com/office/drawing/2014/main" id="{E3B514AB-FF3F-0207-732F-643319CB48E3}"/>
              </a:ext>
            </a:extLst>
          </p:cNvPr>
          <p:cNvSpPr txBox="1"/>
          <p:nvPr/>
        </p:nvSpPr>
        <p:spPr>
          <a:xfrm>
            <a:off x="4682463" y="4428318"/>
            <a:ext cx="3468757" cy="369332"/>
          </a:xfrm>
          <a:prstGeom prst="rect">
            <a:avLst/>
          </a:prstGeom>
          <a:noFill/>
        </p:spPr>
        <p:txBody>
          <a:bodyPr wrap="square" rtlCol="0">
            <a:spAutoFit/>
          </a:bodyPr>
          <a:lstStyle/>
          <a:p>
            <a:r>
              <a:rPr lang="en-US" b="1" i="0" dirty="0">
                <a:solidFill>
                  <a:srgbClr val="473821"/>
                </a:solidFill>
                <a:effectLst/>
                <a:latin typeface="Arial Black" panose="020B0A04020102020204" pitchFamily="34" charset="0"/>
              </a:rPr>
              <a:t>Avishek Bista 022BIM016</a:t>
            </a:r>
            <a:endParaRPr lang="en-US" b="1" dirty="0">
              <a:latin typeface="Arial Black" panose="020B0A04020102020204" pitchFamily="34"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966563A-8FD5-AAF5-C8FC-9C39E5BC179C}"/>
              </a:ext>
            </a:extLst>
          </p:cNvPr>
          <p:cNvSpPr txBox="1"/>
          <p:nvPr/>
        </p:nvSpPr>
        <p:spPr>
          <a:xfrm>
            <a:off x="4356651" y="412543"/>
            <a:ext cx="3478697" cy="523220"/>
          </a:xfrm>
          <a:prstGeom prst="rect">
            <a:avLst/>
          </a:prstGeom>
          <a:noFill/>
        </p:spPr>
        <p:txBody>
          <a:bodyPr wrap="square" rtlCol="0">
            <a:spAutoFit/>
          </a:bodyPr>
          <a:lstStyle/>
          <a:p>
            <a:r>
              <a:rPr lang="en-US" sz="2800" b="1" i="0" dirty="0">
                <a:solidFill>
                  <a:schemeClr val="accent1">
                    <a:lumMod val="25000"/>
                  </a:schemeClr>
                </a:solidFill>
                <a:effectLst/>
                <a:latin typeface="+mj-lt"/>
              </a:rPr>
              <a:t>Introduction</a:t>
            </a:r>
            <a:endParaRPr lang="en-US" sz="1600" b="1" dirty="0">
              <a:solidFill>
                <a:schemeClr val="accent1">
                  <a:lumMod val="25000"/>
                </a:schemeClr>
              </a:solidFill>
              <a:latin typeface="+mj-lt"/>
            </a:endParaRPr>
          </a:p>
        </p:txBody>
      </p:sp>
      <p:sp>
        <p:nvSpPr>
          <p:cNvPr id="13" name="TextBox 12">
            <a:extLst>
              <a:ext uri="{FF2B5EF4-FFF2-40B4-BE49-F238E27FC236}">
                <a16:creationId xmlns:a16="http://schemas.microsoft.com/office/drawing/2014/main" id="{D1624891-CBFF-63C4-6074-540E6BB5DC97}"/>
              </a:ext>
            </a:extLst>
          </p:cNvPr>
          <p:cNvSpPr txBox="1"/>
          <p:nvPr/>
        </p:nvSpPr>
        <p:spPr>
          <a:xfrm>
            <a:off x="626165" y="1063486"/>
            <a:ext cx="10833651" cy="1200329"/>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Object-Oriented Programming (OOP) is a programming paradigm that organizes code into reusable units called objects, which represent real-world entities. Objects are defined by classes, which act as blueprints. Python, being a multi-paradigm programming language, supports OOP concepts extensively.</a:t>
            </a:r>
            <a:endParaRPr lang="en-US" dirty="0">
              <a:latin typeface="Arial Black" panose="020B0A04020102020204" pitchFamily="34" charset="0"/>
            </a:endParaRPr>
          </a:p>
        </p:txBody>
      </p:sp>
      <p:sp>
        <p:nvSpPr>
          <p:cNvPr id="14" name="TextBox 13">
            <a:extLst>
              <a:ext uri="{FF2B5EF4-FFF2-40B4-BE49-F238E27FC236}">
                <a16:creationId xmlns:a16="http://schemas.microsoft.com/office/drawing/2014/main" id="{51568269-6D95-3D80-759A-2E6D9F5567F1}"/>
              </a:ext>
            </a:extLst>
          </p:cNvPr>
          <p:cNvSpPr txBox="1"/>
          <p:nvPr/>
        </p:nvSpPr>
        <p:spPr>
          <a:xfrm>
            <a:off x="626165" y="2651442"/>
            <a:ext cx="10939670" cy="3011081"/>
          </a:xfrm>
          <a:prstGeom prst="rect">
            <a:avLst/>
          </a:prstGeom>
          <a:noFill/>
        </p:spPr>
        <p:txBody>
          <a:bodyPr wrap="square" rtlCol="0">
            <a:spAutoFit/>
          </a:bodyPr>
          <a:lstStyle/>
          <a:p>
            <a:pPr>
              <a:lnSpc>
                <a:spcPts val="9750"/>
              </a:lnSpc>
            </a:pPr>
            <a:r>
              <a:rPr lang="en-US" sz="2400" b="1" i="0" dirty="0">
                <a:solidFill>
                  <a:srgbClr val="473821"/>
                </a:solidFill>
                <a:effectLst/>
                <a:latin typeface="+mj-lt"/>
              </a:rPr>
              <a:t>Object-Oriented Principles</a:t>
            </a:r>
            <a:endParaRPr lang="en-US" sz="2400" b="1" dirty="0">
              <a:solidFill>
                <a:srgbClr val="004AAD"/>
              </a:solidFill>
              <a:effectLst/>
              <a:latin typeface="+mj-lt"/>
            </a:endParaRPr>
          </a:p>
          <a:p>
            <a:pPr marL="285750" indent="-285750">
              <a:buFont typeface="Arial" panose="020B0604020202020204" pitchFamily="34" charset="0"/>
              <a:buChar char="•"/>
            </a:pPr>
            <a:r>
              <a:rPr lang="en-US" b="1" i="0" dirty="0">
                <a:solidFill>
                  <a:srgbClr val="000000"/>
                </a:solidFill>
                <a:effectLst/>
                <a:latin typeface="+mj-lt"/>
              </a:rPr>
              <a:t>classes and Objects</a:t>
            </a:r>
            <a:endParaRPr lang="en-US" b="1" dirty="0">
              <a:latin typeface="+mj-lt"/>
            </a:endParaRPr>
          </a:p>
          <a:p>
            <a:pPr marL="285750" indent="-285750">
              <a:buFont typeface="Arial" panose="020B0604020202020204" pitchFamily="34" charset="0"/>
              <a:buChar char="•"/>
            </a:pPr>
            <a:r>
              <a:rPr lang="en-US" b="1" i="0" dirty="0">
                <a:solidFill>
                  <a:srgbClr val="000000"/>
                </a:solidFill>
                <a:effectLst/>
                <a:latin typeface="+mj-lt"/>
              </a:rPr>
              <a:t>Encapsulation</a:t>
            </a:r>
            <a:endParaRPr lang="en-US" b="1" dirty="0">
              <a:latin typeface="+mj-lt"/>
            </a:endParaRPr>
          </a:p>
          <a:p>
            <a:pPr marL="285750" indent="-285750">
              <a:buFont typeface="Arial" panose="020B0604020202020204" pitchFamily="34" charset="0"/>
              <a:buChar char="•"/>
            </a:pPr>
            <a:r>
              <a:rPr lang="en-US" b="1" i="0" dirty="0">
                <a:solidFill>
                  <a:srgbClr val="000000"/>
                </a:solidFill>
                <a:effectLst/>
                <a:latin typeface="+mj-lt"/>
              </a:rPr>
              <a:t>Inheritance</a:t>
            </a:r>
            <a:endParaRPr lang="en-US" b="1" dirty="0">
              <a:latin typeface="+mj-lt"/>
            </a:endParaRPr>
          </a:p>
          <a:p>
            <a:pPr marL="285750" indent="-285750">
              <a:buFont typeface="Arial" panose="020B0604020202020204" pitchFamily="34" charset="0"/>
              <a:buChar char="•"/>
            </a:pPr>
            <a:r>
              <a:rPr lang="en-US" b="1" i="0" dirty="0">
                <a:solidFill>
                  <a:srgbClr val="000000"/>
                </a:solidFill>
                <a:effectLst/>
                <a:latin typeface="+mj-lt"/>
              </a:rPr>
              <a:t>Polymorphism</a:t>
            </a:r>
            <a:endParaRPr lang="en-US" b="1" dirty="0">
              <a:latin typeface="+mj-lt"/>
            </a:endParaRPr>
          </a:p>
          <a:p>
            <a:pPr marL="285750" indent="-285750">
              <a:buFont typeface="Arial" panose="020B0604020202020204" pitchFamily="34" charset="0"/>
              <a:buChar char="•"/>
            </a:pPr>
            <a:r>
              <a:rPr lang="en-US" b="1" i="0" dirty="0">
                <a:solidFill>
                  <a:srgbClr val="000000"/>
                </a:solidFill>
                <a:effectLst/>
                <a:latin typeface="+mj-lt"/>
              </a:rPr>
              <a:t>Abstraction</a:t>
            </a:r>
            <a:endParaRPr lang="en-US" b="1" dirty="0">
              <a:latin typeface="+mj-lt"/>
            </a:endParaRPr>
          </a:p>
          <a:p>
            <a:endParaRPr lang="en-US" dirty="0"/>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3397525" y="417443"/>
            <a:ext cx="5396949" cy="1858617"/>
          </a:xfrm>
        </p:spPr>
        <p:txBody>
          <a:bodyPr/>
          <a:lstStyle/>
          <a:p>
            <a:pPr>
              <a:lnSpc>
                <a:spcPts val="4125"/>
              </a:lnSpc>
            </a:pPr>
            <a:r>
              <a:rPr lang="en-US" b="0" i="0" dirty="0">
                <a:solidFill>
                  <a:srgbClr val="473821"/>
                </a:solidFill>
                <a:effectLst/>
                <a:latin typeface="YACkoOFEi8A 0"/>
              </a:rPr>
              <a:t>Classes and Objects:</a:t>
            </a:r>
            <a:br>
              <a:rPr lang="en-US" dirty="0">
                <a:solidFill>
                  <a:srgbClr val="473821"/>
                </a:solidFill>
                <a:effectLst/>
                <a:latin typeface="YACkoOFEi8A 0"/>
              </a:rPr>
            </a:br>
            <a:br>
              <a:rPr lang="en-US" dirty="0">
                <a:solidFill>
                  <a:srgbClr val="473821"/>
                </a:solidFill>
                <a:effectLst/>
                <a:latin typeface="YACkoOFEi8A 0"/>
              </a:rPr>
            </a:br>
            <a:endParaRPr lang="en-US" dirty="0"/>
          </a:p>
        </p:txBody>
      </p:sp>
      <p:sp>
        <p:nvSpPr>
          <p:cNvPr id="5" name="TextBox 4">
            <a:extLst>
              <a:ext uri="{FF2B5EF4-FFF2-40B4-BE49-F238E27FC236}">
                <a16:creationId xmlns:a16="http://schemas.microsoft.com/office/drawing/2014/main" id="{F43F5BAC-B81B-8327-F9A6-AC083B2BE436}"/>
              </a:ext>
            </a:extLst>
          </p:cNvPr>
          <p:cNvSpPr txBox="1"/>
          <p:nvPr/>
        </p:nvSpPr>
        <p:spPr>
          <a:xfrm>
            <a:off x="544704" y="1192695"/>
            <a:ext cx="10825661" cy="923330"/>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Classes: Templates for creating objects. A class defines properties (attributes) and behaviors (methods) of its objects.</a:t>
            </a:r>
            <a:br>
              <a:rPr lang="en-US" dirty="0">
                <a:solidFill>
                  <a:srgbClr val="000000"/>
                </a:solidFill>
                <a:effectLst/>
                <a:latin typeface="Arial Black" panose="020B0A04020102020204" pitchFamily="34" charset="0"/>
              </a:rPr>
            </a:br>
            <a:r>
              <a:rPr lang="en-US" b="0" i="0" dirty="0">
                <a:solidFill>
                  <a:srgbClr val="000000"/>
                </a:solidFill>
                <a:effectLst/>
                <a:latin typeface="Arial Black" panose="020B0A04020102020204" pitchFamily="34" charset="0"/>
              </a:rPr>
              <a:t>Objects: Instances of a class. They hold specific data defined by the class blueprint.</a:t>
            </a:r>
            <a:endParaRPr lang="en-US" dirty="0">
              <a:solidFill>
                <a:srgbClr val="000000"/>
              </a:solidFill>
              <a:latin typeface="Arial Black" panose="020B0A04020102020204" pitchFamily="34" charset="0"/>
            </a:endParaRPr>
          </a:p>
        </p:txBody>
      </p:sp>
      <p:sp>
        <p:nvSpPr>
          <p:cNvPr id="6" name="TextBox 5">
            <a:extLst>
              <a:ext uri="{FF2B5EF4-FFF2-40B4-BE49-F238E27FC236}">
                <a16:creationId xmlns:a16="http://schemas.microsoft.com/office/drawing/2014/main" id="{D88C7547-D756-A822-0C76-16859CF9DE65}"/>
              </a:ext>
            </a:extLst>
          </p:cNvPr>
          <p:cNvSpPr txBox="1"/>
          <p:nvPr/>
        </p:nvSpPr>
        <p:spPr>
          <a:xfrm>
            <a:off x="544704" y="2782956"/>
            <a:ext cx="4770782" cy="3236655"/>
          </a:xfrm>
          <a:prstGeom prst="rect">
            <a:avLst/>
          </a:prstGeom>
          <a:noFill/>
        </p:spPr>
        <p:txBody>
          <a:bodyPr wrap="square" rtlCol="0">
            <a:spAutoFit/>
          </a:bodyPr>
          <a:lstStyle/>
          <a:p>
            <a:pPr>
              <a:lnSpc>
                <a:spcPts val="4200"/>
              </a:lnSpc>
            </a:pPr>
            <a:r>
              <a:rPr lang="en-US" sz="1400" b="1" i="0" dirty="0">
                <a:solidFill>
                  <a:srgbClr val="000000"/>
                </a:solidFill>
                <a:effectLst/>
                <a:latin typeface="Arial Black" panose="020B0A04020102020204" pitchFamily="34" charset="0"/>
              </a:rPr>
              <a:t>class Animal:</a:t>
            </a:r>
            <a:endParaRPr lang="en-US" sz="1400" b="1" dirty="0">
              <a:solidFill>
                <a:srgbClr val="000000"/>
              </a:solidFill>
              <a:effectLst/>
              <a:latin typeface="Arial Black" panose="020B0A04020102020204" pitchFamily="34" charset="0"/>
            </a:endParaRPr>
          </a:p>
          <a:p>
            <a:pPr>
              <a:lnSpc>
                <a:spcPts val="4200"/>
              </a:lnSpc>
            </a:pPr>
            <a:r>
              <a:rPr lang="en-US" sz="1400" b="1" i="0" dirty="0">
                <a:solidFill>
                  <a:srgbClr val="000000"/>
                </a:solidFill>
                <a:effectLst/>
                <a:latin typeface="Arial Black" panose="020B0A04020102020204" pitchFamily="34" charset="0"/>
              </a:rPr>
              <a:t>def __</a:t>
            </a:r>
            <a:r>
              <a:rPr lang="en-US" sz="1400" b="1" i="0" dirty="0" err="1">
                <a:solidFill>
                  <a:srgbClr val="000000"/>
                </a:solidFill>
                <a:effectLst/>
                <a:latin typeface="Arial Black" panose="020B0A04020102020204" pitchFamily="34" charset="0"/>
              </a:rPr>
              <a:t>init</a:t>
            </a:r>
            <a:r>
              <a:rPr lang="en-US" sz="1400" b="1" i="0" dirty="0">
                <a:solidFill>
                  <a:srgbClr val="000000"/>
                </a:solidFill>
                <a:effectLst/>
                <a:latin typeface="Arial Black" panose="020B0A04020102020204" pitchFamily="34" charset="0"/>
              </a:rPr>
              <a:t>__(self, name):</a:t>
            </a:r>
            <a:endParaRPr lang="en-US" sz="1400" b="1" dirty="0">
              <a:solidFill>
                <a:srgbClr val="000000"/>
              </a:solidFill>
              <a:effectLst/>
              <a:latin typeface="Arial Black" panose="020B0A04020102020204" pitchFamily="34" charset="0"/>
            </a:endParaRPr>
          </a:p>
          <a:p>
            <a:pPr>
              <a:lnSpc>
                <a:spcPts val="4200"/>
              </a:lnSpc>
            </a:pPr>
            <a:r>
              <a:rPr lang="en-US" sz="1400" b="1" i="0" dirty="0">
                <a:solidFill>
                  <a:srgbClr val="000000"/>
                </a:solidFill>
                <a:effectLst/>
                <a:latin typeface="Arial Black" panose="020B0A04020102020204" pitchFamily="34" charset="0"/>
              </a:rPr>
              <a:t>self.name = name # Instance variable</a:t>
            </a:r>
          </a:p>
          <a:p>
            <a:pPr>
              <a:lnSpc>
                <a:spcPts val="4200"/>
              </a:lnSpc>
            </a:pPr>
            <a:r>
              <a:rPr lang="en-US" sz="1400" b="1" i="0" dirty="0">
                <a:solidFill>
                  <a:srgbClr val="000000"/>
                </a:solidFill>
                <a:effectLst/>
                <a:latin typeface="Arial Black" panose="020B0A04020102020204" pitchFamily="34" charset="0"/>
              </a:rPr>
              <a:t># Create an object (instance) of the class</a:t>
            </a:r>
            <a:endParaRPr lang="en-US" sz="1400" b="1" dirty="0">
              <a:solidFill>
                <a:srgbClr val="000000"/>
              </a:solidFill>
              <a:effectLst/>
              <a:latin typeface="Arial Black" panose="020B0A04020102020204" pitchFamily="34" charset="0"/>
            </a:endParaRPr>
          </a:p>
          <a:p>
            <a:pPr>
              <a:lnSpc>
                <a:spcPts val="4200"/>
              </a:lnSpc>
            </a:pPr>
            <a:r>
              <a:rPr lang="en-US" sz="1400" b="1" i="0" dirty="0">
                <a:solidFill>
                  <a:srgbClr val="000000"/>
                </a:solidFill>
                <a:effectLst/>
                <a:latin typeface="Arial Black" panose="020B0A04020102020204" pitchFamily="34" charset="0"/>
              </a:rPr>
              <a:t>cat = Animal("Whiskers")</a:t>
            </a:r>
            <a:endParaRPr lang="en-US" sz="1400" b="1" dirty="0">
              <a:solidFill>
                <a:srgbClr val="000000"/>
              </a:solidFill>
              <a:effectLst/>
              <a:latin typeface="Arial Black" panose="020B0A04020102020204" pitchFamily="34" charset="0"/>
            </a:endParaRPr>
          </a:p>
          <a:p>
            <a:pPr>
              <a:lnSpc>
                <a:spcPts val="4200"/>
              </a:lnSpc>
            </a:pPr>
            <a:r>
              <a:rPr lang="en-US" sz="1400" b="1" i="0" dirty="0">
                <a:solidFill>
                  <a:srgbClr val="000000"/>
                </a:solidFill>
                <a:effectLst/>
                <a:latin typeface="Arial Black" panose="020B0A04020102020204" pitchFamily="34" charset="0"/>
              </a:rPr>
              <a:t>print(cat.name) # Output: Whiskers</a:t>
            </a:r>
            <a:endParaRPr lang="en-US" sz="1400" b="1" dirty="0">
              <a:solidFill>
                <a:srgbClr val="000000"/>
              </a:solidFill>
              <a:effectLst/>
              <a:latin typeface="Arial Black" panose="020B0A04020102020204" pitchFamily="34" charset="0"/>
            </a:endParaRPr>
          </a:p>
        </p:txBody>
      </p:sp>
      <p:sp>
        <p:nvSpPr>
          <p:cNvPr id="7" name="TextBox 6">
            <a:extLst>
              <a:ext uri="{FF2B5EF4-FFF2-40B4-BE49-F238E27FC236}">
                <a16:creationId xmlns:a16="http://schemas.microsoft.com/office/drawing/2014/main" id="{9DFA0F65-7591-7A9F-4634-77760454D7EE}"/>
              </a:ext>
            </a:extLst>
          </p:cNvPr>
          <p:cNvSpPr txBox="1"/>
          <p:nvPr/>
        </p:nvSpPr>
        <p:spPr>
          <a:xfrm>
            <a:off x="514886" y="2582901"/>
            <a:ext cx="2415209" cy="400110"/>
          </a:xfrm>
          <a:prstGeom prst="rect">
            <a:avLst/>
          </a:prstGeom>
          <a:noFill/>
        </p:spPr>
        <p:txBody>
          <a:bodyPr wrap="square" rtlCol="0">
            <a:spAutoFit/>
          </a:bodyPr>
          <a:lstStyle/>
          <a:p>
            <a:r>
              <a:rPr lang="en-US" sz="2000" b="1" dirty="0">
                <a:solidFill>
                  <a:srgbClr val="000000"/>
                </a:solidFill>
                <a:latin typeface="Arial Black" panose="020B0A04020102020204" pitchFamily="34" charset="0"/>
              </a:rPr>
              <a:t>Example</a:t>
            </a:r>
            <a:endParaRPr lang="en-US" sz="1400" b="1"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0409-ED03-7D5C-A9FB-9CD69DE76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3774B-9433-2A6F-E607-C8EDE3B77793}"/>
              </a:ext>
            </a:extLst>
          </p:cNvPr>
          <p:cNvSpPr>
            <a:spLocks noGrp="1"/>
          </p:cNvSpPr>
          <p:nvPr>
            <p:ph type="title"/>
          </p:nvPr>
        </p:nvSpPr>
        <p:spPr>
          <a:xfrm>
            <a:off x="3397525" y="417443"/>
            <a:ext cx="5396949" cy="1858617"/>
          </a:xfrm>
        </p:spPr>
        <p:txBody>
          <a:bodyPr/>
          <a:lstStyle/>
          <a:p>
            <a:pPr>
              <a:lnSpc>
                <a:spcPts val="4125"/>
              </a:lnSpc>
            </a:pPr>
            <a:r>
              <a:rPr lang="en-US" b="0" i="0" dirty="0">
                <a:solidFill>
                  <a:srgbClr val="473821"/>
                </a:solidFill>
                <a:effectLst/>
                <a:latin typeface="YACkoOFEi8A 0"/>
              </a:rPr>
              <a:t>Encapsulation</a:t>
            </a:r>
            <a:br>
              <a:rPr lang="en-US" dirty="0">
                <a:solidFill>
                  <a:srgbClr val="473821"/>
                </a:solidFill>
                <a:effectLst/>
                <a:latin typeface="YACkoOFEi8A 0"/>
              </a:rPr>
            </a:br>
            <a:br>
              <a:rPr lang="en-US" dirty="0">
                <a:solidFill>
                  <a:srgbClr val="473821"/>
                </a:solidFill>
                <a:effectLst/>
                <a:latin typeface="YACkoOFEi8A 0"/>
              </a:rPr>
            </a:br>
            <a:endParaRPr lang="en-US" dirty="0"/>
          </a:p>
        </p:txBody>
      </p:sp>
      <p:sp>
        <p:nvSpPr>
          <p:cNvPr id="5" name="TextBox 4">
            <a:extLst>
              <a:ext uri="{FF2B5EF4-FFF2-40B4-BE49-F238E27FC236}">
                <a16:creationId xmlns:a16="http://schemas.microsoft.com/office/drawing/2014/main" id="{9F2B55B3-F9FD-92D4-C6C5-316CB1D88AB1}"/>
              </a:ext>
            </a:extLst>
          </p:cNvPr>
          <p:cNvSpPr txBox="1"/>
          <p:nvPr/>
        </p:nvSpPr>
        <p:spPr>
          <a:xfrm>
            <a:off x="544704" y="1192695"/>
            <a:ext cx="10825661" cy="1200329"/>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Encapsulation restricts access to an object's internal state and allows controlled interaction using methods. This is achieved with access modifiers (public, private, protected). Encapsulation ensures data hiding by restricting direct access to variables or methods.</a:t>
            </a:r>
            <a:endParaRPr lang="en-US" dirty="0">
              <a:solidFill>
                <a:srgbClr val="000000"/>
              </a:solidFill>
              <a:latin typeface="Arial Black" panose="020B0A04020102020204" pitchFamily="34" charset="0"/>
            </a:endParaRPr>
          </a:p>
        </p:txBody>
      </p:sp>
      <p:sp>
        <p:nvSpPr>
          <p:cNvPr id="6" name="TextBox 5">
            <a:extLst>
              <a:ext uri="{FF2B5EF4-FFF2-40B4-BE49-F238E27FC236}">
                <a16:creationId xmlns:a16="http://schemas.microsoft.com/office/drawing/2014/main" id="{BAA73791-53DC-CFF2-44A4-E8A212B4A707}"/>
              </a:ext>
            </a:extLst>
          </p:cNvPr>
          <p:cNvSpPr txBox="1"/>
          <p:nvPr/>
        </p:nvSpPr>
        <p:spPr>
          <a:xfrm>
            <a:off x="673768" y="3051312"/>
            <a:ext cx="5903494" cy="2698046"/>
          </a:xfrm>
          <a:prstGeom prst="rect">
            <a:avLst/>
          </a:prstGeom>
          <a:noFill/>
        </p:spPr>
        <p:txBody>
          <a:bodyPr wrap="square" rtlCol="0">
            <a:spAutoFit/>
          </a:bodyPr>
          <a:lstStyle/>
          <a:p>
            <a:pPr>
              <a:lnSpc>
                <a:spcPts val="4200"/>
              </a:lnSpc>
            </a:pPr>
            <a:r>
              <a:rPr lang="en-US" sz="1400" b="0" i="0" dirty="0">
                <a:solidFill>
                  <a:srgbClr val="000000"/>
                </a:solidFill>
                <a:effectLst/>
                <a:latin typeface="Arial Black" panose="020B0A04020102020204" pitchFamily="34" charset="0"/>
              </a:rPr>
              <a:t>def </a:t>
            </a:r>
            <a:r>
              <a:rPr lang="en-US" sz="1400" b="0" i="0" dirty="0" err="1">
                <a:solidFill>
                  <a:srgbClr val="000000"/>
                </a:solidFill>
                <a:effectLst/>
                <a:latin typeface="Arial Black" panose="020B0A04020102020204" pitchFamily="34" charset="0"/>
              </a:rPr>
              <a:t>get_balance</a:t>
            </a:r>
            <a:r>
              <a:rPr lang="en-US" sz="1400" b="0" i="0" dirty="0">
                <a:solidFill>
                  <a:srgbClr val="000000"/>
                </a:solidFill>
                <a:effectLst/>
                <a:latin typeface="Arial Black" panose="020B0A04020102020204" pitchFamily="34" charset="0"/>
              </a:rPr>
              <a:t>(self): # Public method to access private variable</a:t>
            </a:r>
          </a:p>
          <a:p>
            <a:pPr>
              <a:lnSpc>
                <a:spcPts val="4200"/>
              </a:lnSpc>
            </a:pPr>
            <a:r>
              <a:rPr lang="en-US" sz="1400" b="0" i="0" dirty="0">
                <a:solidFill>
                  <a:srgbClr val="000000"/>
                </a:solidFill>
                <a:effectLst/>
                <a:latin typeface="Arial Black" panose="020B0A04020102020204" pitchFamily="34" charset="0"/>
              </a:rPr>
              <a:t>return </a:t>
            </a:r>
            <a:r>
              <a:rPr lang="en-US" sz="1400" b="0" i="0" dirty="0" err="1">
                <a:solidFill>
                  <a:srgbClr val="000000"/>
                </a:solidFill>
                <a:effectLst/>
                <a:latin typeface="Arial Black" panose="020B0A04020102020204" pitchFamily="34" charset="0"/>
              </a:rPr>
              <a:t>self.__balance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account = </a:t>
            </a:r>
            <a:r>
              <a:rPr lang="en-US" sz="1400" b="0" i="0" dirty="0" err="1">
                <a:solidFill>
                  <a:srgbClr val="000000"/>
                </a:solidFill>
                <a:effectLst/>
                <a:latin typeface="Arial Black" panose="020B0A04020102020204" pitchFamily="34" charset="0"/>
              </a:rPr>
              <a:t>BankAccount</a:t>
            </a:r>
            <a:r>
              <a:rPr lang="en-US" sz="1400" b="0" i="0" dirty="0">
                <a:solidFill>
                  <a:srgbClr val="000000"/>
                </a:solidFill>
                <a:effectLst/>
                <a:latin typeface="Arial Black" panose="020B0A04020102020204" pitchFamily="34" charset="0"/>
              </a:rPr>
              <a:t>(1000)</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account.get_balance</a:t>
            </a:r>
            <a:r>
              <a:rPr lang="en-US" sz="1400" b="0" i="0" dirty="0">
                <a:solidFill>
                  <a:srgbClr val="000000"/>
                </a:solidFill>
                <a:effectLst/>
                <a:latin typeface="Arial Black" panose="020B0A04020102020204" pitchFamily="34" charset="0"/>
              </a:rPr>
              <a:t>()) # Output: 1000</a:t>
            </a:r>
            <a:endParaRPr lang="en-US" sz="1400" b="1" dirty="0">
              <a:solidFill>
                <a:srgbClr val="000000"/>
              </a:solidFill>
              <a:effectLst/>
              <a:latin typeface="Arial Black" panose="020B0A04020102020204" pitchFamily="34" charset="0"/>
            </a:endParaRPr>
          </a:p>
        </p:txBody>
      </p:sp>
      <p:sp>
        <p:nvSpPr>
          <p:cNvPr id="7" name="TextBox 6">
            <a:extLst>
              <a:ext uri="{FF2B5EF4-FFF2-40B4-BE49-F238E27FC236}">
                <a16:creationId xmlns:a16="http://schemas.microsoft.com/office/drawing/2014/main" id="{9208FB63-4B26-2440-8857-CDCC2FC7CCB8}"/>
              </a:ext>
            </a:extLst>
          </p:cNvPr>
          <p:cNvSpPr txBox="1"/>
          <p:nvPr/>
        </p:nvSpPr>
        <p:spPr>
          <a:xfrm>
            <a:off x="625641" y="2768166"/>
            <a:ext cx="2415209" cy="400110"/>
          </a:xfrm>
          <a:prstGeom prst="rect">
            <a:avLst/>
          </a:prstGeom>
          <a:noFill/>
        </p:spPr>
        <p:txBody>
          <a:bodyPr wrap="square" rtlCol="0">
            <a:spAutoFit/>
          </a:bodyPr>
          <a:lstStyle/>
          <a:p>
            <a:r>
              <a:rPr lang="en-US" sz="2000" b="1" dirty="0">
                <a:solidFill>
                  <a:srgbClr val="000000"/>
                </a:solidFill>
                <a:latin typeface="Arial Black" panose="020B0A04020102020204" pitchFamily="34" charset="0"/>
              </a:rPr>
              <a:t>Example</a:t>
            </a:r>
            <a:endParaRPr lang="en-US" sz="1400" b="1"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919773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4325E-4AA8-0434-1E72-DB53E2138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4FFC9-3D61-0D1C-DC4E-8BB149C9D650}"/>
              </a:ext>
            </a:extLst>
          </p:cNvPr>
          <p:cNvSpPr>
            <a:spLocks noGrp="1"/>
          </p:cNvSpPr>
          <p:nvPr>
            <p:ph type="title"/>
          </p:nvPr>
        </p:nvSpPr>
        <p:spPr>
          <a:xfrm>
            <a:off x="3397525" y="417443"/>
            <a:ext cx="5396949" cy="1858617"/>
          </a:xfrm>
        </p:spPr>
        <p:txBody>
          <a:bodyPr/>
          <a:lstStyle/>
          <a:p>
            <a:pPr>
              <a:lnSpc>
                <a:spcPts val="4125"/>
              </a:lnSpc>
            </a:pPr>
            <a:r>
              <a:rPr lang="en-US" b="0" i="0" dirty="0">
                <a:solidFill>
                  <a:srgbClr val="473821"/>
                </a:solidFill>
                <a:effectLst/>
                <a:latin typeface="YACkoOFEi8A 0"/>
              </a:rPr>
              <a:t>Inheritance:</a:t>
            </a:r>
            <a:br>
              <a:rPr lang="en-US" dirty="0">
                <a:solidFill>
                  <a:srgbClr val="473821"/>
                </a:solidFill>
                <a:effectLst/>
                <a:latin typeface="YACkoOFEi8A 0"/>
              </a:rPr>
            </a:br>
            <a:br>
              <a:rPr lang="en-US" dirty="0">
                <a:solidFill>
                  <a:srgbClr val="473821"/>
                </a:solidFill>
                <a:effectLst/>
                <a:latin typeface="YACkoOFEi8A 0"/>
              </a:rPr>
            </a:br>
            <a:endParaRPr lang="en-US" dirty="0"/>
          </a:p>
        </p:txBody>
      </p:sp>
      <p:sp>
        <p:nvSpPr>
          <p:cNvPr id="5" name="TextBox 4">
            <a:extLst>
              <a:ext uri="{FF2B5EF4-FFF2-40B4-BE49-F238E27FC236}">
                <a16:creationId xmlns:a16="http://schemas.microsoft.com/office/drawing/2014/main" id="{D45974EF-1108-F3EE-4F86-3365646DF88B}"/>
              </a:ext>
            </a:extLst>
          </p:cNvPr>
          <p:cNvSpPr txBox="1"/>
          <p:nvPr/>
        </p:nvSpPr>
        <p:spPr>
          <a:xfrm>
            <a:off x="544704" y="1192695"/>
            <a:ext cx="10825661" cy="923330"/>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A mechanism that allows a class (child class) to derive properties and methods from another class (parent class). This promotes code reuse. Inheritance allows a class to acquire properties and methods from another class.</a:t>
            </a:r>
            <a:endParaRPr lang="en-US" dirty="0">
              <a:solidFill>
                <a:srgbClr val="000000"/>
              </a:solidFill>
              <a:latin typeface="Arial Black" panose="020B0A04020102020204" pitchFamily="34" charset="0"/>
            </a:endParaRPr>
          </a:p>
        </p:txBody>
      </p:sp>
      <p:sp>
        <p:nvSpPr>
          <p:cNvPr id="6" name="TextBox 5">
            <a:extLst>
              <a:ext uri="{FF2B5EF4-FFF2-40B4-BE49-F238E27FC236}">
                <a16:creationId xmlns:a16="http://schemas.microsoft.com/office/drawing/2014/main" id="{40BD0F27-6E0B-AD1A-D3EF-E4F3F0E1609E}"/>
              </a:ext>
            </a:extLst>
          </p:cNvPr>
          <p:cNvSpPr txBox="1"/>
          <p:nvPr/>
        </p:nvSpPr>
        <p:spPr>
          <a:xfrm>
            <a:off x="544704" y="2782956"/>
            <a:ext cx="5807970" cy="3775264"/>
          </a:xfrm>
          <a:prstGeom prst="rect">
            <a:avLst/>
          </a:prstGeom>
          <a:noFill/>
        </p:spPr>
        <p:txBody>
          <a:bodyPr wrap="square" rtlCol="0">
            <a:spAutoFit/>
          </a:bodyPr>
          <a:lstStyle/>
          <a:p>
            <a:pPr>
              <a:lnSpc>
                <a:spcPts val="4200"/>
              </a:lnSpc>
            </a:pPr>
            <a:r>
              <a:rPr lang="en-US" sz="1400" b="0" i="0" dirty="0">
                <a:solidFill>
                  <a:srgbClr val="000000"/>
                </a:solidFill>
                <a:effectLst/>
                <a:latin typeface="Arial Black" panose="020B0A04020102020204" pitchFamily="34" charset="0"/>
              </a:rPr>
              <a:t>class Parent: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greet(self):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print("Hello from Parent!")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Child(Parent):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pass</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child = Child()</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child.greet</a:t>
            </a:r>
            <a:r>
              <a:rPr lang="en-US" sz="1400" b="0" i="0" dirty="0">
                <a:solidFill>
                  <a:srgbClr val="000000"/>
                </a:solidFill>
                <a:effectLst/>
                <a:latin typeface="Arial Black" panose="020B0A04020102020204" pitchFamily="34" charset="0"/>
              </a:rPr>
              <a:t>() # Output: Hello from Parent!</a:t>
            </a:r>
            <a:endParaRPr lang="en-US" sz="1400" b="1" dirty="0">
              <a:solidFill>
                <a:srgbClr val="000000"/>
              </a:solidFill>
              <a:effectLst/>
              <a:latin typeface="Arial Black" panose="020B0A04020102020204" pitchFamily="34" charset="0"/>
            </a:endParaRPr>
          </a:p>
        </p:txBody>
      </p:sp>
      <p:sp>
        <p:nvSpPr>
          <p:cNvPr id="7" name="TextBox 6">
            <a:extLst>
              <a:ext uri="{FF2B5EF4-FFF2-40B4-BE49-F238E27FC236}">
                <a16:creationId xmlns:a16="http://schemas.microsoft.com/office/drawing/2014/main" id="{BF3C01B2-EC2B-A9C0-264D-59F7130D0F47}"/>
              </a:ext>
            </a:extLst>
          </p:cNvPr>
          <p:cNvSpPr txBox="1"/>
          <p:nvPr/>
        </p:nvSpPr>
        <p:spPr>
          <a:xfrm>
            <a:off x="544704" y="2368057"/>
            <a:ext cx="2415209" cy="400110"/>
          </a:xfrm>
          <a:prstGeom prst="rect">
            <a:avLst/>
          </a:prstGeom>
          <a:noFill/>
        </p:spPr>
        <p:txBody>
          <a:bodyPr wrap="square" rtlCol="0">
            <a:spAutoFit/>
          </a:bodyPr>
          <a:lstStyle/>
          <a:p>
            <a:r>
              <a:rPr lang="en-US" sz="2000" b="1" dirty="0">
                <a:solidFill>
                  <a:srgbClr val="000000"/>
                </a:solidFill>
                <a:latin typeface="Arial Black" panose="020B0A04020102020204" pitchFamily="34" charset="0"/>
              </a:rPr>
              <a:t>Example</a:t>
            </a:r>
            <a:endParaRPr lang="en-US" sz="1400" b="1"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300322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C0ADE-EEC8-0D69-EF15-C0D331F83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DA731-111D-EB07-0604-4C8D830AC48C}"/>
              </a:ext>
            </a:extLst>
          </p:cNvPr>
          <p:cNvSpPr>
            <a:spLocks noGrp="1"/>
          </p:cNvSpPr>
          <p:nvPr>
            <p:ph type="title"/>
          </p:nvPr>
        </p:nvSpPr>
        <p:spPr>
          <a:xfrm>
            <a:off x="3397525" y="417443"/>
            <a:ext cx="5396949" cy="1858617"/>
          </a:xfrm>
        </p:spPr>
        <p:txBody>
          <a:bodyPr/>
          <a:lstStyle/>
          <a:p>
            <a:pPr>
              <a:lnSpc>
                <a:spcPts val="4125"/>
              </a:lnSpc>
            </a:pPr>
            <a:r>
              <a:rPr lang="en-US" dirty="0">
                <a:solidFill>
                  <a:srgbClr val="473821"/>
                </a:solidFill>
                <a:latin typeface="YACkoOFEi8A 0"/>
              </a:rPr>
              <a:t>Polymorphism</a:t>
            </a:r>
            <a:r>
              <a:rPr lang="en-US" b="0" i="0" dirty="0">
                <a:solidFill>
                  <a:srgbClr val="473821"/>
                </a:solidFill>
                <a:effectLst/>
                <a:latin typeface="YACkoOFEi8A 0"/>
              </a:rPr>
              <a:t>:</a:t>
            </a:r>
            <a:br>
              <a:rPr lang="en-US" dirty="0">
                <a:solidFill>
                  <a:srgbClr val="473821"/>
                </a:solidFill>
                <a:effectLst/>
                <a:latin typeface="YACkoOFEi8A 0"/>
              </a:rPr>
            </a:br>
            <a:br>
              <a:rPr lang="en-US" dirty="0">
                <a:solidFill>
                  <a:srgbClr val="473821"/>
                </a:solidFill>
                <a:effectLst/>
                <a:latin typeface="YACkoOFEi8A 0"/>
              </a:rPr>
            </a:br>
            <a:endParaRPr lang="en-US" dirty="0"/>
          </a:p>
        </p:txBody>
      </p:sp>
      <p:sp>
        <p:nvSpPr>
          <p:cNvPr id="5" name="TextBox 4">
            <a:extLst>
              <a:ext uri="{FF2B5EF4-FFF2-40B4-BE49-F238E27FC236}">
                <a16:creationId xmlns:a16="http://schemas.microsoft.com/office/drawing/2014/main" id="{66BEE493-309D-485E-5E71-32FE3AB7D47D}"/>
              </a:ext>
            </a:extLst>
          </p:cNvPr>
          <p:cNvSpPr txBox="1"/>
          <p:nvPr/>
        </p:nvSpPr>
        <p:spPr>
          <a:xfrm>
            <a:off x="554131" y="1202122"/>
            <a:ext cx="10825661" cy="1200329"/>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The ability of different classes to provide different implementations for the same method name. Achieved using method overriding and method overloading. Polymorphism means the same method name can be used with different implementations.</a:t>
            </a:r>
            <a:endParaRPr lang="en-US" dirty="0">
              <a:solidFill>
                <a:srgbClr val="000000"/>
              </a:solidFill>
              <a:latin typeface="Arial Black" panose="020B0A04020102020204" pitchFamily="34" charset="0"/>
            </a:endParaRPr>
          </a:p>
        </p:txBody>
      </p:sp>
      <p:sp>
        <p:nvSpPr>
          <p:cNvPr id="6" name="TextBox 5">
            <a:extLst>
              <a:ext uri="{FF2B5EF4-FFF2-40B4-BE49-F238E27FC236}">
                <a16:creationId xmlns:a16="http://schemas.microsoft.com/office/drawing/2014/main" id="{1C1DDA6C-3556-C9CD-794A-6DADD785651D}"/>
              </a:ext>
            </a:extLst>
          </p:cNvPr>
          <p:cNvSpPr txBox="1"/>
          <p:nvPr/>
        </p:nvSpPr>
        <p:spPr>
          <a:xfrm>
            <a:off x="544704" y="2782956"/>
            <a:ext cx="3353528" cy="3775264"/>
          </a:xfrm>
          <a:prstGeom prst="rect">
            <a:avLst/>
          </a:prstGeom>
          <a:noFill/>
        </p:spPr>
        <p:txBody>
          <a:bodyPr wrap="square" rtlCol="0">
            <a:spAutoFit/>
          </a:bodyPr>
          <a:lstStyle/>
          <a:p>
            <a:pPr>
              <a:lnSpc>
                <a:spcPts val="4200"/>
              </a:lnSpc>
            </a:pPr>
            <a:r>
              <a:rPr lang="en-US" sz="1400" b="0" i="0" dirty="0">
                <a:solidFill>
                  <a:srgbClr val="000000"/>
                </a:solidFill>
                <a:effectLst/>
                <a:latin typeface="Arial Black" panose="020B0A04020102020204" pitchFamily="34" charset="0"/>
              </a:rPr>
              <a:t>class Cat:</a:t>
            </a:r>
          </a:p>
          <a:p>
            <a:pPr>
              <a:lnSpc>
                <a:spcPts val="4200"/>
              </a:lnSpc>
            </a:pPr>
            <a:r>
              <a:rPr lang="en-US" sz="1400" dirty="0">
                <a:solidFill>
                  <a:srgbClr val="000000"/>
                </a:solidFill>
                <a:latin typeface="Arial Black" panose="020B0A04020102020204" pitchFamily="34" charset="0"/>
              </a:rPr>
              <a:t>d</a:t>
            </a:r>
            <a:r>
              <a:rPr lang="en-US" sz="1400" b="0" i="0" dirty="0">
                <a:solidFill>
                  <a:srgbClr val="000000"/>
                </a:solidFill>
                <a:effectLst/>
                <a:latin typeface="Arial Black" panose="020B0A04020102020204" pitchFamily="34" charset="0"/>
              </a:rPr>
              <a:t>ef sound(self):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print("Meow")</a:t>
            </a:r>
          </a:p>
          <a:p>
            <a:pPr>
              <a:lnSpc>
                <a:spcPts val="4200"/>
              </a:lnSpc>
            </a:pPr>
            <a:r>
              <a:rPr lang="en-US" sz="1400" b="0" i="0" dirty="0">
                <a:solidFill>
                  <a:srgbClr val="000000"/>
                </a:solidFill>
                <a:effectLst/>
                <a:latin typeface="Arial Black" panose="020B0A04020102020204" pitchFamily="34" charset="0"/>
              </a:rPr>
              <a:t>class Dog:</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sound(self):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print("Bark")</a:t>
            </a:r>
          </a:p>
          <a:p>
            <a:pPr>
              <a:lnSpc>
                <a:spcPts val="4200"/>
              </a:lnSpc>
            </a:pPr>
            <a:r>
              <a:rPr lang="en-US" sz="1400" b="0" i="0" dirty="0">
                <a:solidFill>
                  <a:srgbClr val="000000"/>
                </a:solidFill>
                <a:effectLst/>
                <a:latin typeface="Arial Black" panose="020B0A04020102020204" pitchFamily="34" charset="0"/>
              </a:rPr>
              <a:t>animals = [Cat(), Dog()]</a:t>
            </a:r>
          </a:p>
        </p:txBody>
      </p:sp>
      <p:sp>
        <p:nvSpPr>
          <p:cNvPr id="7" name="TextBox 6">
            <a:extLst>
              <a:ext uri="{FF2B5EF4-FFF2-40B4-BE49-F238E27FC236}">
                <a16:creationId xmlns:a16="http://schemas.microsoft.com/office/drawing/2014/main" id="{F6C2FD24-0947-9ED8-A91A-2DC43EE83115}"/>
              </a:ext>
            </a:extLst>
          </p:cNvPr>
          <p:cNvSpPr txBox="1"/>
          <p:nvPr/>
        </p:nvSpPr>
        <p:spPr>
          <a:xfrm>
            <a:off x="544704" y="2568112"/>
            <a:ext cx="2415209" cy="400110"/>
          </a:xfrm>
          <a:prstGeom prst="rect">
            <a:avLst/>
          </a:prstGeom>
          <a:noFill/>
        </p:spPr>
        <p:txBody>
          <a:bodyPr wrap="square" rtlCol="0">
            <a:spAutoFit/>
          </a:bodyPr>
          <a:lstStyle/>
          <a:p>
            <a:r>
              <a:rPr lang="en-US" sz="2000" b="1" dirty="0">
                <a:solidFill>
                  <a:srgbClr val="000000"/>
                </a:solidFill>
                <a:latin typeface="Arial Black" panose="020B0A04020102020204" pitchFamily="34" charset="0"/>
              </a:rPr>
              <a:t>Example</a:t>
            </a:r>
            <a:endParaRPr lang="en-US" sz="1400" b="1" dirty="0">
              <a:solidFill>
                <a:srgbClr val="000000"/>
              </a:solidFill>
              <a:latin typeface="Arial Black" panose="020B0A04020102020204" pitchFamily="34" charset="0"/>
            </a:endParaRPr>
          </a:p>
        </p:txBody>
      </p:sp>
      <p:sp>
        <p:nvSpPr>
          <p:cNvPr id="3" name="TextBox 2">
            <a:extLst>
              <a:ext uri="{FF2B5EF4-FFF2-40B4-BE49-F238E27FC236}">
                <a16:creationId xmlns:a16="http://schemas.microsoft.com/office/drawing/2014/main" id="{FFC71DAD-00E4-CBFB-1AE8-BD9DADFCAE0C}"/>
              </a:ext>
            </a:extLst>
          </p:cNvPr>
          <p:cNvSpPr txBox="1"/>
          <p:nvPr/>
        </p:nvSpPr>
        <p:spPr>
          <a:xfrm>
            <a:off x="4225155" y="3002616"/>
            <a:ext cx="2295950" cy="954107"/>
          </a:xfrm>
          <a:prstGeom prst="rect">
            <a:avLst/>
          </a:prstGeom>
          <a:noFill/>
        </p:spPr>
        <p:txBody>
          <a:bodyPr wrap="none" rtlCol="0">
            <a:spAutoFit/>
          </a:bodyPr>
          <a:lstStyle/>
          <a:p>
            <a:r>
              <a:rPr lang="en-US" sz="1400" b="0" i="0" dirty="0">
                <a:solidFill>
                  <a:srgbClr val="000000"/>
                </a:solidFill>
                <a:effectLst/>
                <a:latin typeface="Arial Black" panose="020B0A04020102020204" pitchFamily="34" charset="0"/>
              </a:rPr>
              <a:t>for animal in animals:</a:t>
            </a:r>
          </a:p>
          <a:p>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animal.sound</a:t>
            </a:r>
            <a:r>
              <a:rPr lang="en-US" sz="1400" b="0" i="0" dirty="0">
                <a:solidFill>
                  <a:srgbClr val="000000"/>
                </a:solidFill>
                <a:effectLst/>
                <a:latin typeface="Arial Black" panose="020B0A04020102020204" pitchFamily="34" charset="0"/>
              </a:rPr>
              <a:t>()</a:t>
            </a:r>
            <a:endParaRPr lang="en-US" sz="1400" b="1" dirty="0">
              <a:solidFill>
                <a:srgbClr val="000000"/>
              </a:solidFill>
              <a:effectLst/>
              <a:latin typeface="Arial Black" panose="020B0A04020102020204" pitchFamily="34" charset="0"/>
            </a:endParaRPr>
          </a:p>
          <a:p>
            <a:endParaRPr lang="en-US" sz="1400" dirty="0"/>
          </a:p>
        </p:txBody>
      </p:sp>
    </p:spTree>
    <p:extLst>
      <p:ext uri="{BB962C8B-B14F-4D97-AF65-F5344CB8AC3E}">
        <p14:creationId xmlns:p14="http://schemas.microsoft.com/office/powerpoint/2010/main" val="1664608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23623-12A4-91EC-6B50-A0E6775EE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73164-0C89-5ECF-A909-A58EE2A7AE24}"/>
              </a:ext>
            </a:extLst>
          </p:cNvPr>
          <p:cNvSpPr>
            <a:spLocks noGrp="1"/>
          </p:cNvSpPr>
          <p:nvPr>
            <p:ph type="title"/>
          </p:nvPr>
        </p:nvSpPr>
        <p:spPr>
          <a:xfrm>
            <a:off x="3397525" y="417443"/>
            <a:ext cx="5396949" cy="1858617"/>
          </a:xfrm>
        </p:spPr>
        <p:txBody>
          <a:bodyPr/>
          <a:lstStyle/>
          <a:p>
            <a:pPr>
              <a:lnSpc>
                <a:spcPts val="4125"/>
              </a:lnSpc>
            </a:pPr>
            <a:r>
              <a:rPr lang="en-US" b="0" i="0" dirty="0">
                <a:effectLst/>
                <a:latin typeface="YACkoOFEi8A 0"/>
              </a:rPr>
              <a:t>Abstraction</a:t>
            </a:r>
            <a:r>
              <a:rPr lang="en-US" b="0" i="0" dirty="0">
                <a:solidFill>
                  <a:srgbClr val="473821"/>
                </a:solidFill>
                <a:effectLst/>
                <a:latin typeface="YACkoOFEi8A 0"/>
              </a:rPr>
              <a:t>:</a:t>
            </a:r>
            <a:br>
              <a:rPr lang="en-US" dirty="0">
                <a:solidFill>
                  <a:srgbClr val="473821"/>
                </a:solidFill>
                <a:effectLst/>
                <a:latin typeface="YACkoOFEi8A 0"/>
              </a:rPr>
            </a:br>
            <a:br>
              <a:rPr lang="en-US" dirty="0">
                <a:solidFill>
                  <a:srgbClr val="473821"/>
                </a:solidFill>
                <a:effectLst/>
                <a:latin typeface="YACkoOFEi8A 0"/>
              </a:rPr>
            </a:br>
            <a:endParaRPr lang="en-US" dirty="0"/>
          </a:p>
        </p:txBody>
      </p:sp>
      <p:sp>
        <p:nvSpPr>
          <p:cNvPr id="5" name="TextBox 4">
            <a:extLst>
              <a:ext uri="{FF2B5EF4-FFF2-40B4-BE49-F238E27FC236}">
                <a16:creationId xmlns:a16="http://schemas.microsoft.com/office/drawing/2014/main" id="{B1C34FA9-29A4-533F-7906-617FE20297BE}"/>
              </a:ext>
            </a:extLst>
          </p:cNvPr>
          <p:cNvSpPr txBox="1"/>
          <p:nvPr/>
        </p:nvSpPr>
        <p:spPr>
          <a:xfrm>
            <a:off x="544704" y="1192695"/>
            <a:ext cx="10825661" cy="1200329"/>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Hiding complex implementation details from users and exposing only essential functionalities. Abstract classes and methods are used for this purpose.</a:t>
            </a:r>
            <a:r>
              <a:rPr lang="en-US" dirty="0">
                <a:solidFill>
                  <a:srgbClr val="000000"/>
                </a:solidFill>
                <a:latin typeface="Arial Black" panose="020B0A04020102020204" pitchFamily="34" charset="0"/>
              </a:rPr>
              <a:t> </a:t>
            </a:r>
            <a:r>
              <a:rPr lang="en-US" b="0" i="0" dirty="0">
                <a:solidFill>
                  <a:srgbClr val="000000"/>
                </a:solidFill>
                <a:effectLst/>
                <a:latin typeface="Arial Black" panose="020B0A04020102020204" pitchFamily="34" charset="0"/>
              </a:rPr>
              <a:t>Abstraction hides implementation details and shows only the functionality.</a:t>
            </a:r>
            <a:br>
              <a:rPr lang="en-US" dirty="0">
                <a:solidFill>
                  <a:srgbClr val="000000"/>
                </a:solidFill>
                <a:latin typeface="Arial Black" panose="020B0A04020102020204" pitchFamily="34" charset="0"/>
              </a:rPr>
            </a:br>
            <a:endParaRPr lang="en-US" dirty="0">
              <a:solidFill>
                <a:srgbClr val="000000"/>
              </a:solidFill>
              <a:latin typeface="Arial Black" panose="020B0A04020102020204" pitchFamily="34" charset="0"/>
            </a:endParaRPr>
          </a:p>
        </p:txBody>
      </p:sp>
      <p:sp>
        <p:nvSpPr>
          <p:cNvPr id="6" name="TextBox 5">
            <a:extLst>
              <a:ext uri="{FF2B5EF4-FFF2-40B4-BE49-F238E27FC236}">
                <a16:creationId xmlns:a16="http://schemas.microsoft.com/office/drawing/2014/main" id="{606F30A5-7307-9CE2-4832-F668EBE1275A}"/>
              </a:ext>
            </a:extLst>
          </p:cNvPr>
          <p:cNvSpPr txBox="1"/>
          <p:nvPr/>
        </p:nvSpPr>
        <p:spPr>
          <a:xfrm>
            <a:off x="544704" y="2782956"/>
            <a:ext cx="3353528" cy="4852482"/>
          </a:xfrm>
          <a:prstGeom prst="rect">
            <a:avLst/>
          </a:prstGeom>
          <a:noFill/>
        </p:spPr>
        <p:txBody>
          <a:bodyPr wrap="square" rtlCol="0">
            <a:spAutoFit/>
          </a:bodyPr>
          <a:lstStyle/>
          <a:p>
            <a:pPr>
              <a:lnSpc>
                <a:spcPts val="4200"/>
              </a:lnSpc>
            </a:pPr>
            <a:r>
              <a:rPr lang="en-US" sz="1400" b="0" i="0" dirty="0">
                <a:solidFill>
                  <a:srgbClr val="000000"/>
                </a:solidFill>
                <a:effectLst/>
                <a:latin typeface="Arial Black" panose="020B0A04020102020204" pitchFamily="34" charset="0"/>
              </a:rPr>
              <a:t>from </a:t>
            </a:r>
            <a:r>
              <a:rPr lang="en-US" sz="1400" b="0" i="0" dirty="0" err="1">
                <a:solidFill>
                  <a:srgbClr val="000000"/>
                </a:solidFill>
                <a:effectLst/>
                <a:latin typeface="Arial Black" panose="020B0A04020102020204" pitchFamily="34" charset="0"/>
              </a:rPr>
              <a:t>abc</a:t>
            </a:r>
            <a:r>
              <a:rPr lang="en-US" sz="1400" b="0" i="0" dirty="0">
                <a:solidFill>
                  <a:srgbClr val="000000"/>
                </a:solidFill>
                <a:effectLst/>
                <a:latin typeface="Arial Black" panose="020B0A04020102020204" pitchFamily="34" charset="0"/>
              </a:rPr>
              <a:t> import ABC, </a:t>
            </a:r>
            <a:r>
              <a:rPr lang="en-US" sz="1400" b="0" i="0" dirty="0" err="1">
                <a:solidFill>
                  <a:srgbClr val="000000"/>
                </a:solidFill>
                <a:effectLst/>
                <a:latin typeface="Arial Black" panose="020B0A04020102020204" pitchFamily="34" charset="0"/>
              </a:rPr>
              <a:t>abstractmethod</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Shape(ABC):</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@abstractmethod</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area(self):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pass</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endParaRPr lang="en-US" sz="1400" b="0" i="0" dirty="0">
              <a:solidFill>
                <a:srgbClr val="000000"/>
              </a:solidFill>
              <a:effectLst/>
              <a:latin typeface="Arial Black" panose="020B0A04020102020204" pitchFamily="34" charset="0"/>
            </a:endParaRPr>
          </a:p>
        </p:txBody>
      </p:sp>
      <p:sp>
        <p:nvSpPr>
          <p:cNvPr id="7" name="TextBox 6">
            <a:extLst>
              <a:ext uri="{FF2B5EF4-FFF2-40B4-BE49-F238E27FC236}">
                <a16:creationId xmlns:a16="http://schemas.microsoft.com/office/drawing/2014/main" id="{3E442FE2-04F5-8719-9566-E4D717ED4808}"/>
              </a:ext>
            </a:extLst>
          </p:cNvPr>
          <p:cNvSpPr txBox="1"/>
          <p:nvPr/>
        </p:nvSpPr>
        <p:spPr>
          <a:xfrm>
            <a:off x="544704" y="2368057"/>
            <a:ext cx="2415209" cy="400110"/>
          </a:xfrm>
          <a:prstGeom prst="rect">
            <a:avLst/>
          </a:prstGeom>
          <a:noFill/>
        </p:spPr>
        <p:txBody>
          <a:bodyPr wrap="square" rtlCol="0">
            <a:spAutoFit/>
          </a:bodyPr>
          <a:lstStyle/>
          <a:p>
            <a:r>
              <a:rPr lang="en-US" sz="2000" b="1" dirty="0">
                <a:solidFill>
                  <a:srgbClr val="000000"/>
                </a:solidFill>
                <a:latin typeface="Arial Black" panose="020B0A04020102020204" pitchFamily="34" charset="0"/>
              </a:rPr>
              <a:t>Example</a:t>
            </a:r>
            <a:endParaRPr lang="en-US" sz="1400" b="1" dirty="0">
              <a:solidFill>
                <a:srgbClr val="000000"/>
              </a:solidFill>
              <a:latin typeface="Arial Black" panose="020B0A04020102020204" pitchFamily="34" charset="0"/>
            </a:endParaRPr>
          </a:p>
        </p:txBody>
      </p:sp>
      <p:sp>
        <p:nvSpPr>
          <p:cNvPr id="3" name="TextBox 2">
            <a:extLst>
              <a:ext uri="{FF2B5EF4-FFF2-40B4-BE49-F238E27FC236}">
                <a16:creationId xmlns:a16="http://schemas.microsoft.com/office/drawing/2014/main" id="{93A90AD4-2684-1218-639C-8A64C239FA28}"/>
              </a:ext>
            </a:extLst>
          </p:cNvPr>
          <p:cNvSpPr txBox="1"/>
          <p:nvPr/>
        </p:nvSpPr>
        <p:spPr>
          <a:xfrm>
            <a:off x="4244009" y="2768167"/>
            <a:ext cx="3369192" cy="2893100"/>
          </a:xfrm>
          <a:prstGeom prst="rect">
            <a:avLst/>
          </a:prstGeom>
          <a:noFill/>
        </p:spPr>
        <p:txBody>
          <a:bodyPr wrap="none" rtlCol="0">
            <a:spAutoFit/>
          </a:bodyPr>
          <a:lstStyle/>
          <a:p>
            <a:r>
              <a:rPr lang="en-US" sz="1400" b="0" i="0" dirty="0">
                <a:solidFill>
                  <a:srgbClr val="000000"/>
                </a:solidFill>
                <a:effectLst/>
                <a:latin typeface="Arial Black" panose="020B0A04020102020204" pitchFamily="34" charset="0"/>
              </a:rPr>
              <a:t>class Square(Shape):</a:t>
            </a:r>
          </a:p>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__</a:t>
            </a:r>
            <a:r>
              <a:rPr lang="en-US" sz="1400" b="0" i="0" dirty="0" err="1">
                <a:solidFill>
                  <a:srgbClr val="000000"/>
                </a:solidFill>
                <a:effectLst/>
                <a:latin typeface="Arial Black" panose="020B0A04020102020204" pitchFamily="34" charset="0"/>
              </a:rPr>
              <a:t>init</a:t>
            </a:r>
            <a:r>
              <a:rPr lang="en-US" sz="1400" b="0" i="0" dirty="0">
                <a:solidFill>
                  <a:srgbClr val="000000"/>
                </a:solidFill>
                <a:effectLst/>
                <a:latin typeface="Arial Black" panose="020B0A04020102020204" pitchFamily="34" charset="0"/>
              </a:rPr>
              <a:t>__(self, side):</a:t>
            </a:r>
          </a:p>
          <a:p>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self.side</a:t>
            </a:r>
            <a:r>
              <a:rPr lang="en-US" sz="1400" b="0" i="0" dirty="0">
                <a:solidFill>
                  <a:srgbClr val="000000"/>
                </a:solidFill>
                <a:effectLst/>
                <a:latin typeface="Arial Black" panose="020B0A04020102020204" pitchFamily="34" charset="0"/>
              </a:rPr>
              <a:t> = side</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area(self):</a:t>
            </a:r>
            <a:br>
              <a:rPr lang="en-US" sz="1400" dirty="0">
                <a:solidFill>
                  <a:srgbClr val="000000"/>
                </a:solidFill>
                <a:latin typeface="Arial Black" panose="020B0A04020102020204" pitchFamily="34" charset="0"/>
              </a:rPr>
            </a:br>
            <a:endParaRPr lang="en-US" sz="1400" dirty="0">
              <a:solidFill>
                <a:srgbClr val="000000"/>
              </a:solidFill>
              <a:latin typeface="Arial Black" panose="020B0A04020102020204" pitchFamily="34" charset="0"/>
            </a:endParaRPr>
          </a:p>
          <a:p>
            <a:r>
              <a:rPr lang="en-US" sz="1400" b="0" i="0" dirty="0">
                <a:solidFill>
                  <a:srgbClr val="000000"/>
                </a:solidFill>
                <a:effectLst/>
                <a:latin typeface="Arial Black" panose="020B0A04020102020204" pitchFamily="34" charset="0"/>
              </a:rPr>
              <a:t>return </a:t>
            </a:r>
            <a:r>
              <a:rPr lang="en-US" sz="1400" b="0" i="0" dirty="0" err="1">
                <a:solidFill>
                  <a:srgbClr val="000000"/>
                </a:solidFill>
                <a:effectLst/>
                <a:latin typeface="Arial Black" panose="020B0A04020102020204" pitchFamily="34" charset="0"/>
              </a:rPr>
              <a:t>self.side</a:t>
            </a:r>
            <a:r>
              <a:rPr lang="en-US" sz="1400" b="0" i="0" dirty="0">
                <a:solidFill>
                  <a:srgbClr val="000000"/>
                </a:solidFill>
                <a:effectLst/>
                <a:latin typeface="Arial Black" panose="020B0A04020102020204" pitchFamily="34" charset="0"/>
              </a:rPr>
              <a:t> ** 2</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square = Square(4)</a:t>
            </a:r>
            <a:br>
              <a:rPr lang="en-US" sz="1400">
                <a:solidFill>
                  <a:srgbClr val="000000"/>
                </a:solidFill>
                <a:latin typeface="Arial Black" panose="020B0A04020102020204" pitchFamily="34" charset="0"/>
              </a:rPr>
            </a:br>
            <a:endParaRPr lang="en-US" sz="1400">
              <a:solidFill>
                <a:srgbClr val="000000"/>
              </a:solidFill>
              <a:latin typeface="Arial Black" panose="020B0A04020102020204" pitchFamily="34" charset="0"/>
            </a:endParaRPr>
          </a:p>
          <a:p>
            <a:r>
              <a:rPr lang="en-US" sz="1400" b="0" i="0">
                <a:solidFill>
                  <a:srgbClr val="000000"/>
                </a:solidFill>
                <a:effectLst/>
                <a:latin typeface="Arial Black" panose="020B0A04020102020204" pitchFamily="34" charset="0"/>
              </a:rPr>
              <a:t>print</a:t>
            </a:r>
            <a:r>
              <a:rPr lang="en-US" sz="1400" b="0" i="0" dirty="0">
                <a:solidFill>
                  <a:srgbClr val="000000"/>
                </a:solidFill>
                <a:effectLst/>
                <a:latin typeface="Arial Black" panose="020B0A04020102020204" pitchFamily="34" charset="0"/>
              </a:rPr>
              <a:t>(</a:t>
            </a:r>
            <a:r>
              <a:rPr lang="en-US" sz="1400" b="0" i="0" dirty="0" err="1">
                <a:solidFill>
                  <a:srgbClr val="000000"/>
                </a:solidFill>
                <a:effectLst/>
                <a:latin typeface="Arial Black" panose="020B0A04020102020204" pitchFamily="34" charset="0"/>
              </a:rPr>
              <a:t>square.area</a:t>
            </a:r>
            <a:r>
              <a:rPr lang="en-US" sz="1400" b="0" i="0" dirty="0">
                <a:solidFill>
                  <a:srgbClr val="000000"/>
                </a:solidFill>
                <a:effectLst/>
                <a:latin typeface="Arial Black" panose="020B0A04020102020204" pitchFamily="34" charset="0"/>
              </a:rPr>
              <a:t>()) # Output: 16</a:t>
            </a:r>
            <a:endParaRPr lang="en-US" sz="1400" dirty="0"/>
          </a:p>
        </p:txBody>
      </p:sp>
    </p:spTree>
    <p:extLst>
      <p:ext uri="{BB962C8B-B14F-4D97-AF65-F5344CB8AC3E}">
        <p14:creationId xmlns:p14="http://schemas.microsoft.com/office/powerpoint/2010/main" val="3500089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D2EEF6-1B50-721B-94C5-7966B650F336}"/>
              </a:ext>
            </a:extLst>
          </p:cNvPr>
          <p:cNvSpPr txBox="1"/>
          <p:nvPr/>
        </p:nvSpPr>
        <p:spPr>
          <a:xfrm>
            <a:off x="3426412" y="612792"/>
            <a:ext cx="4255717" cy="830997"/>
          </a:xfrm>
          <a:prstGeom prst="rect">
            <a:avLst/>
          </a:prstGeom>
          <a:noFill/>
        </p:spPr>
        <p:txBody>
          <a:bodyPr wrap="none" rtlCol="0">
            <a:spAutoFit/>
          </a:bodyPr>
          <a:lstStyle/>
          <a:p>
            <a:r>
              <a:rPr lang="en-US" sz="4800" b="0" i="0" dirty="0">
                <a:effectLst/>
                <a:latin typeface="YACkoOFEi8A 0"/>
              </a:rPr>
              <a:t>Defining a Class:</a:t>
            </a:r>
            <a:endParaRPr lang="en-US" sz="4800" dirty="0">
              <a:latin typeface="YACkoOFEi8A 0"/>
            </a:endParaRPr>
          </a:p>
        </p:txBody>
      </p:sp>
      <p:sp>
        <p:nvSpPr>
          <p:cNvPr id="3" name="TextBox 2">
            <a:extLst>
              <a:ext uri="{FF2B5EF4-FFF2-40B4-BE49-F238E27FC236}">
                <a16:creationId xmlns:a16="http://schemas.microsoft.com/office/drawing/2014/main" id="{E348CCE5-CC35-1FE6-62B5-9AF83F6773E4}"/>
              </a:ext>
            </a:extLst>
          </p:cNvPr>
          <p:cNvSpPr txBox="1"/>
          <p:nvPr/>
        </p:nvSpPr>
        <p:spPr>
          <a:xfrm>
            <a:off x="545432" y="1443789"/>
            <a:ext cx="10017679" cy="1200329"/>
          </a:xfrm>
          <a:prstGeom prst="rect">
            <a:avLst/>
          </a:prstGeom>
          <a:noFill/>
        </p:spPr>
        <p:txBody>
          <a:bodyPr wrap="none" rtlCol="0">
            <a:spAutoFit/>
          </a:bodyPr>
          <a:lstStyle/>
          <a:p>
            <a:pPr marL="342900" indent="-342900">
              <a:buFont typeface="+mj-lt"/>
              <a:buAutoNum type="arabicPeriod"/>
            </a:pPr>
            <a:r>
              <a:rPr lang="en-US" b="0" i="0" dirty="0">
                <a:solidFill>
                  <a:srgbClr val="000000"/>
                </a:solidFill>
                <a:effectLst/>
                <a:latin typeface="Arial Black" panose="020B0A04020102020204" pitchFamily="34" charset="0"/>
                <a:cs typeface="Arial" panose="020B0604020202020204" pitchFamily="34" charset="0"/>
              </a:rPr>
              <a:t>Adding Instance Variables:</a:t>
            </a:r>
            <a:br>
              <a:rPr lang="en-US" dirty="0">
                <a:solidFill>
                  <a:srgbClr val="000000"/>
                </a:solidFill>
                <a:latin typeface="Arial Black" panose="020B0A04020102020204" pitchFamily="34" charset="0"/>
                <a:cs typeface="Arial" panose="020B0604020202020204" pitchFamily="34" charset="0"/>
              </a:rPr>
            </a:br>
            <a:r>
              <a:rPr lang="en-US" b="0" i="0" dirty="0">
                <a:solidFill>
                  <a:srgbClr val="000000"/>
                </a:solidFill>
                <a:effectLst/>
                <a:latin typeface="Arial Black" panose="020B0A04020102020204" pitchFamily="34" charset="0"/>
                <a:cs typeface="Arial" panose="020B0604020202020204" pitchFamily="34" charset="0"/>
              </a:rPr>
              <a:t>Instance variables are attributes unique to each object, defined using self. </a:t>
            </a:r>
          </a:p>
          <a:p>
            <a:pPr marL="342900" indent="-342900">
              <a:buFont typeface="+mj-lt"/>
              <a:buAutoNum type="arabicPeriod"/>
            </a:pPr>
            <a:r>
              <a:rPr lang="en-US" b="0" i="0" dirty="0">
                <a:solidFill>
                  <a:srgbClr val="000000"/>
                </a:solidFill>
                <a:effectLst/>
                <a:latin typeface="Arial Black" panose="020B0A04020102020204" pitchFamily="34" charset="0"/>
                <a:cs typeface="Arial" panose="020B0604020202020204" pitchFamily="34" charset="0"/>
              </a:rPr>
              <a:t>Adding Instance Methods:</a:t>
            </a:r>
            <a:br>
              <a:rPr lang="en-US" dirty="0">
                <a:solidFill>
                  <a:srgbClr val="000000"/>
                </a:solidFill>
                <a:latin typeface="Arial Black" panose="020B0A04020102020204" pitchFamily="34" charset="0"/>
                <a:cs typeface="Arial" panose="020B0604020202020204" pitchFamily="34" charset="0"/>
              </a:rPr>
            </a:br>
            <a:r>
              <a:rPr lang="en-US" b="0" i="0" dirty="0">
                <a:solidFill>
                  <a:srgbClr val="000000"/>
                </a:solidFill>
                <a:effectLst/>
                <a:latin typeface="Arial Black" panose="020B0A04020102020204" pitchFamily="34" charset="0"/>
                <a:cs typeface="Arial" panose="020B0604020202020204" pitchFamily="34" charset="0"/>
              </a:rPr>
              <a:t>Methods that operate on an object's instance variables.</a:t>
            </a:r>
            <a:endParaRPr lang="en-US" dirty="0">
              <a:solidFill>
                <a:srgbClr val="000000"/>
              </a:solidFill>
              <a:latin typeface="Arial Black" panose="020B0A040201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D895466-7623-BF9B-6C3A-82380F188FA4}"/>
              </a:ext>
            </a:extLst>
          </p:cNvPr>
          <p:cNvSpPr txBox="1"/>
          <p:nvPr/>
        </p:nvSpPr>
        <p:spPr>
          <a:xfrm>
            <a:off x="959336" y="4038600"/>
            <a:ext cx="5136663" cy="2031325"/>
          </a:xfrm>
          <a:prstGeom prst="rect">
            <a:avLst/>
          </a:prstGeom>
          <a:noFill/>
        </p:spPr>
        <p:txBody>
          <a:bodyPr wrap="none" rtlCol="0">
            <a:spAutoFit/>
          </a:bodyPr>
          <a:lstStyle/>
          <a:p>
            <a:r>
              <a:rPr lang="en-US" sz="1400" b="0" i="0" dirty="0">
                <a:solidFill>
                  <a:srgbClr val="000000"/>
                </a:solidFill>
                <a:effectLst/>
                <a:latin typeface="Arial Black" panose="020B0A04020102020204" pitchFamily="34" charset="0"/>
              </a:rPr>
              <a:t>class Person:</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__</a:t>
            </a:r>
            <a:r>
              <a:rPr lang="en-US" sz="1400" b="0" i="0" dirty="0" err="1">
                <a:solidFill>
                  <a:srgbClr val="000000"/>
                </a:solidFill>
                <a:effectLst/>
                <a:latin typeface="Arial Black" panose="020B0A04020102020204" pitchFamily="34" charset="0"/>
              </a:rPr>
              <a:t>init</a:t>
            </a:r>
            <a:r>
              <a:rPr lang="en-US" sz="1400" b="0" i="0" dirty="0">
                <a:solidFill>
                  <a:srgbClr val="000000"/>
                </a:solidFill>
                <a:effectLst/>
                <a:latin typeface="Arial Black" panose="020B0A04020102020204" pitchFamily="34" charset="0"/>
              </a:rPr>
              <a:t>__(self, name):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self.name</a:t>
            </a:r>
            <a:r>
              <a:rPr lang="en-US" sz="1400" b="0" i="0" dirty="0">
                <a:solidFill>
                  <a:srgbClr val="000000"/>
                </a:solidFill>
                <a:effectLst/>
                <a:latin typeface="Arial Black" panose="020B0A04020102020204" pitchFamily="34" charset="0"/>
              </a:rPr>
              <a:t> = name # Instance variable</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greet(self):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f"Hello</a:t>
            </a:r>
            <a:r>
              <a:rPr lang="en-US" sz="1400" b="0" i="0" dirty="0">
                <a:solidFill>
                  <a:srgbClr val="000000"/>
                </a:solidFill>
                <a:effectLst/>
                <a:latin typeface="Arial Black" panose="020B0A04020102020204" pitchFamily="34" charset="0"/>
              </a:rPr>
              <a:t>, I am {</a:t>
            </a:r>
            <a:r>
              <a:rPr lang="en-US" sz="1400" b="0" i="0" dirty="0">
                <a:solidFill>
                  <a:srgbClr val="00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self.name</a:t>
            </a:r>
            <a:r>
              <a:rPr lang="en-US" sz="1400" b="0" i="0" dirty="0">
                <a:solidFill>
                  <a:srgbClr val="000000"/>
                </a:solidFill>
                <a:effectLst/>
                <a:latin typeface="Arial Black" panose="020B0A04020102020204" pitchFamily="34" charset="0"/>
              </a:rPr>
              <a:t>}") # Instance method</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person = Person("Alice")</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person.greet</a:t>
            </a:r>
            <a:r>
              <a:rPr lang="en-US" sz="1400" b="0" i="0" dirty="0">
                <a:solidFill>
                  <a:srgbClr val="000000"/>
                </a:solidFill>
                <a:effectLst/>
                <a:latin typeface="Arial Black" panose="020B0A04020102020204" pitchFamily="34" charset="0"/>
              </a:rPr>
              <a:t>() # Output: Hello, I am Alice</a:t>
            </a:r>
            <a:endParaRPr lang="en-US" sz="1400" dirty="0">
              <a:solidFill>
                <a:srgbClr val="000000"/>
              </a:solidFill>
              <a:latin typeface="Arial Black" panose="020B0A04020102020204" pitchFamily="34" charset="0"/>
            </a:endParaRPr>
          </a:p>
        </p:txBody>
      </p:sp>
      <p:sp>
        <p:nvSpPr>
          <p:cNvPr id="5" name="TextBox 4">
            <a:extLst>
              <a:ext uri="{FF2B5EF4-FFF2-40B4-BE49-F238E27FC236}">
                <a16:creationId xmlns:a16="http://schemas.microsoft.com/office/drawing/2014/main" id="{59574779-321C-59B8-0786-1BD52EF324D7}"/>
              </a:ext>
            </a:extLst>
          </p:cNvPr>
          <p:cNvSpPr txBox="1"/>
          <p:nvPr/>
        </p:nvSpPr>
        <p:spPr>
          <a:xfrm>
            <a:off x="959336" y="3228945"/>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Tree>
    <p:extLst>
      <p:ext uri="{BB962C8B-B14F-4D97-AF65-F5344CB8AC3E}">
        <p14:creationId xmlns:p14="http://schemas.microsoft.com/office/powerpoint/2010/main" val="520000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E0068E9-06B2-7148-2611-2020880A07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E4A064-419C-D53C-0AFC-D709F7B28330}"/>
              </a:ext>
            </a:extLst>
          </p:cNvPr>
          <p:cNvSpPr txBox="1"/>
          <p:nvPr/>
        </p:nvSpPr>
        <p:spPr>
          <a:xfrm>
            <a:off x="529390" y="1065074"/>
            <a:ext cx="11053010" cy="2308324"/>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3. Adding Class Variables:</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Shared attributes among all objects of a class. Declared outside methods but inside the class.</a:t>
            </a:r>
          </a:p>
          <a:p>
            <a:endParaRPr lang="en-US" b="0" i="0" dirty="0">
              <a:solidFill>
                <a:srgbClr val="000000"/>
              </a:solidFill>
              <a:effectLst/>
              <a:latin typeface="Arial Black" panose="020B0A04020102020204" pitchFamily="34" charset="0"/>
            </a:endParaRPr>
          </a:p>
          <a:p>
            <a:r>
              <a:rPr lang="en-US" b="0" i="0" dirty="0">
                <a:solidFill>
                  <a:srgbClr val="000000"/>
                </a:solidFill>
                <a:effectLst/>
                <a:latin typeface="Arial Black" panose="020B0A04020102020204" pitchFamily="34" charset="0"/>
              </a:rPr>
              <a:t>4. Adding Class Methods:</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Operate on class-level attributes. Declared using the @classmethod decorator.</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Class variables are shared across all instances, while class methods modify class-level data.</a:t>
            </a:r>
            <a:endParaRPr lang="en-US" dirty="0">
              <a:solidFill>
                <a:srgbClr val="000000"/>
              </a:solidFill>
              <a:latin typeface="Arial Black" panose="020B0A040201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5451AC8-75F6-15DE-6464-B457D7280A37}"/>
              </a:ext>
            </a:extLst>
          </p:cNvPr>
          <p:cNvSpPr txBox="1"/>
          <p:nvPr/>
        </p:nvSpPr>
        <p:spPr>
          <a:xfrm>
            <a:off x="959336" y="4038600"/>
            <a:ext cx="4174138" cy="2246769"/>
          </a:xfrm>
          <a:prstGeom prst="rect">
            <a:avLst/>
          </a:prstGeom>
          <a:noFill/>
        </p:spPr>
        <p:txBody>
          <a:bodyPr wrap="square" rtlCol="0">
            <a:spAutoFit/>
          </a:bodyPr>
          <a:lstStyle/>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Counter:</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count = 0 # Class variable</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@classmethod</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increment(</a:t>
            </a:r>
            <a:r>
              <a:rPr lang="en-US" sz="1400" b="0" i="0" dirty="0" err="1">
                <a:solidFill>
                  <a:srgbClr val="000000"/>
                </a:solidFill>
                <a:effectLst/>
                <a:latin typeface="Arial Black" panose="020B0A04020102020204" pitchFamily="34" charset="0"/>
              </a:rPr>
              <a:t>cls</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cls.count</a:t>
            </a:r>
            <a:r>
              <a:rPr lang="en-US" sz="1400" b="0" i="0" dirty="0">
                <a:solidFill>
                  <a:srgbClr val="000000"/>
                </a:solidFill>
                <a:effectLst/>
                <a:latin typeface="Arial Black" panose="020B0A04020102020204" pitchFamily="34" charset="0"/>
              </a:rPr>
              <a:t> += 1</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Counter.increment</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Counter.count</a:t>
            </a:r>
            <a:r>
              <a:rPr lang="en-US" sz="1400" b="0" i="0" dirty="0">
                <a:solidFill>
                  <a:srgbClr val="000000"/>
                </a:solidFill>
                <a:effectLst/>
                <a:latin typeface="Arial Black" panose="020B0A04020102020204" pitchFamily="34" charset="0"/>
              </a:rPr>
              <a:t>) # Output: 1</a:t>
            </a:r>
            <a:endParaRPr lang="en-US" sz="1400" dirty="0">
              <a:solidFill>
                <a:srgbClr val="000000"/>
              </a:solidFill>
              <a:latin typeface="Arial Black" panose="020B0A04020102020204" pitchFamily="34" charset="0"/>
            </a:endParaRPr>
          </a:p>
        </p:txBody>
      </p:sp>
      <p:sp>
        <p:nvSpPr>
          <p:cNvPr id="5" name="TextBox 4">
            <a:extLst>
              <a:ext uri="{FF2B5EF4-FFF2-40B4-BE49-F238E27FC236}">
                <a16:creationId xmlns:a16="http://schemas.microsoft.com/office/drawing/2014/main" id="{48477E1B-9F68-076A-30BD-126F98C91883}"/>
              </a:ext>
            </a:extLst>
          </p:cNvPr>
          <p:cNvSpPr txBox="1"/>
          <p:nvPr/>
        </p:nvSpPr>
        <p:spPr>
          <a:xfrm>
            <a:off x="959336" y="3838545"/>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Tree>
    <p:extLst>
      <p:ext uri="{BB962C8B-B14F-4D97-AF65-F5344CB8AC3E}">
        <p14:creationId xmlns:p14="http://schemas.microsoft.com/office/powerpoint/2010/main" val="2068249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56F3DFA-8873-1A56-DA0C-52B19782AF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E443E5-D4D5-A585-3D3C-5BDAE4B4C790}"/>
              </a:ext>
            </a:extLst>
          </p:cNvPr>
          <p:cNvSpPr txBox="1"/>
          <p:nvPr/>
        </p:nvSpPr>
        <p:spPr>
          <a:xfrm>
            <a:off x="3940271" y="406278"/>
            <a:ext cx="4116320" cy="830997"/>
          </a:xfrm>
          <a:prstGeom prst="rect">
            <a:avLst/>
          </a:prstGeom>
          <a:noFill/>
        </p:spPr>
        <p:txBody>
          <a:bodyPr wrap="none" rtlCol="0">
            <a:spAutoFit/>
          </a:bodyPr>
          <a:lstStyle/>
          <a:p>
            <a:r>
              <a:rPr lang="en-US" sz="4800" b="0" i="0" dirty="0">
                <a:effectLst/>
                <a:latin typeface="YACkoOFEi8A 0"/>
              </a:rPr>
              <a:t>Static Methods:</a:t>
            </a:r>
            <a:endParaRPr lang="en-US" sz="4800" dirty="0">
              <a:latin typeface="YACkoOFEi8A 0"/>
            </a:endParaRPr>
          </a:p>
        </p:txBody>
      </p:sp>
      <p:sp>
        <p:nvSpPr>
          <p:cNvPr id="3" name="TextBox 2">
            <a:extLst>
              <a:ext uri="{FF2B5EF4-FFF2-40B4-BE49-F238E27FC236}">
                <a16:creationId xmlns:a16="http://schemas.microsoft.com/office/drawing/2014/main" id="{4C0CCA95-AE51-064C-0BAA-D9F18B3E4E5C}"/>
              </a:ext>
            </a:extLst>
          </p:cNvPr>
          <p:cNvSpPr txBox="1"/>
          <p:nvPr/>
        </p:nvSpPr>
        <p:spPr>
          <a:xfrm>
            <a:off x="545432" y="1443789"/>
            <a:ext cx="10905999" cy="646331"/>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Independent methods within the class. Declared using the @staticmethod decorator. </a:t>
            </a:r>
          </a:p>
          <a:p>
            <a:r>
              <a:rPr lang="en-US" b="0" i="0" dirty="0">
                <a:solidFill>
                  <a:srgbClr val="000000"/>
                </a:solidFill>
                <a:effectLst/>
                <a:latin typeface="Arial Black" panose="020B0A04020102020204" pitchFamily="34" charset="0"/>
              </a:rPr>
              <a:t>Static methods do not depend on instance or class-level data.</a:t>
            </a:r>
            <a:endParaRPr lang="en-US" dirty="0">
              <a:solidFill>
                <a:srgbClr val="000000"/>
              </a:solidFill>
              <a:latin typeface="Arial Black" panose="020B0A040201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594C7AA-2B09-0B8F-FE3D-E4E308CB898F}"/>
              </a:ext>
            </a:extLst>
          </p:cNvPr>
          <p:cNvSpPr txBox="1"/>
          <p:nvPr/>
        </p:nvSpPr>
        <p:spPr>
          <a:xfrm>
            <a:off x="831000" y="2903258"/>
            <a:ext cx="3798091" cy="1384995"/>
          </a:xfrm>
          <a:prstGeom prst="rect">
            <a:avLst/>
          </a:prstGeom>
          <a:noFill/>
        </p:spPr>
        <p:txBody>
          <a:bodyPr wrap="none" rtlCol="0">
            <a:spAutoFit/>
          </a:bodyPr>
          <a:lstStyle/>
          <a:p>
            <a:r>
              <a:rPr lang="en-US" sz="1400" b="0" i="0" dirty="0">
                <a:solidFill>
                  <a:srgbClr val="000000"/>
                </a:solidFill>
                <a:effectLst/>
                <a:latin typeface="Arial Black" panose="020B0A04020102020204" pitchFamily="34" charset="0"/>
              </a:rPr>
              <a:t>class </a:t>
            </a:r>
            <a:r>
              <a:rPr lang="en-US" sz="1400" b="0" i="0" dirty="0" err="1">
                <a:solidFill>
                  <a:srgbClr val="000000"/>
                </a:solidFill>
                <a:effectLst/>
                <a:latin typeface="Arial Black" panose="020B0A04020102020204" pitchFamily="34" charset="0"/>
              </a:rPr>
              <a:t>MathUtils</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@staticmethod</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add(a, b):</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return a + b</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MathUtils.add</a:t>
            </a:r>
            <a:r>
              <a:rPr lang="en-US" sz="1400" b="0" i="0" dirty="0">
                <a:solidFill>
                  <a:srgbClr val="000000"/>
                </a:solidFill>
                <a:effectLst/>
                <a:latin typeface="Arial Black" panose="020B0A04020102020204" pitchFamily="34" charset="0"/>
              </a:rPr>
              <a:t>(3, 4)) # Output: 7</a:t>
            </a:r>
            <a:endParaRPr lang="en-US" sz="1400" dirty="0">
              <a:solidFill>
                <a:srgbClr val="000000"/>
              </a:solidFill>
              <a:latin typeface="Arial Black" panose="020B0A04020102020204" pitchFamily="34" charset="0"/>
            </a:endParaRPr>
          </a:p>
        </p:txBody>
      </p:sp>
      <p:sp>
        <p:nvSpPr>
          <p:cNvPr id="5" name="TextBox 4">
            <a:extLst>
              <a:ext uri="{FF2B5EF4-FFF2-40B4-BE49-F238E27FC236}">
                <a16:creationId xmlns:a16="http://schemas.microsoft.com/office/drawing/2014/main" id="{66B136F0-416A-58E6-C61D-783D5575680A}"/>
              </a:ext>
            </a:extLst>
          </p:cNvPr>
          <p:cNvSpPr txBox="1"/>
          <p:nvPr/>
        </p:nvSpPr>
        <p:spPr>
          <a:xfrm>
            <a:off x="831000" y="2296634"/>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Tree>
    <p:extLst>
      <p:ext uri="{BB962C8B-B14F-4D97-AF65-F5344CB8AC3E}">
        <p14:creationId xmlns:p14="http://schemas.microsoft.com/office/powerpoint/2010/main" val="2585248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E9919CF-6FCE-3B8C-5E6D-9BFB3EE618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61B1E8-5654-D0C1-21DC-B2E200DAF82B}"/>
              </a:ext>
            </a:extLst>
          </p:cNvPr>
          <p:cNvSpPr txBox="1"/>
          <p:nvPr/>
        </p:nvSpPr>
        <p:spPr>
          <a:xfrm>
            <a:off x="3765650" y="406278"/>
            <a:ext cx="3537122" cy="830997"/>
          </a:xfrm>
          <a:prstGeom prst="rect">
            <a:avLst/>
          </a:prstGeom>
          <a:noFill/>
        </p:spPr>
        <p:txBody>
          <a:bodyPr wrap="none" rtlCol="0">
            <a:spAutoFit/>
          </a:bodyPr>
          <a:lstStyle/>
          <a:p>
            <a:r>
              <a:rPr lang="en-US" sz="4800" b="0" i="0" dirty="0">
                <a:effectLst/>
                <a:latin typeface="YACkoOFEi8A 0"/>
              </a:rPr>
              <a:t>Constructors:</a:t>
            </a:r>
            <a:endParaRPr lang="en-US" sz="4800" dirty="0">
              <a:latin typeface="YACkoOFEi8A 0"/>
            </a:endParaRPr>
          </a:p>
        </p:txBody>
      </p:sp>
      <p:sp>
        <p:nvSpPr>
          <p:cNvPr id="3" name="TextBox 2">
            <a:extLst>
              <a:ext uri="{FF2B5EF4-FFF2-40B4-BE49-F238E27FC236}">
                <a16:creationId xmlns:a16="http://schemas.microsoft.com/office/drawing/2014/main" id="{00420E61-707C-F31F-DC21-07BD989ADA88}"/>
              </a:ext>
            </a:extLst>
          </p:cNvPr>
          <p:cNvSpPr txBox="1"/>
          <p:nvPr/>
        </p:nvSpPr>
        <p:spPr>
          <a:xfrm>
            <a:off x="545432" y="1443789"/>
            <a:ext cx="11287257" cy="646331"/>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The __</a:t>
            </a:r>
            <a:r>
              <a:rPr lang="en-US" b="0" i="0" dirty="0" err="1">
                <a:solidFill>
                  <a:srgbClr val="000000"/>
                </a:solidFill>
                <a:effectLst/>
                <a:latin typeface="Arial Black" panose="020B0A04020102020204" pitchFamily="34" charset="0"/>
              </a:rPr>
              <a:t>init</a:t>
            </a:r>
            <a:r>
              <a:rPr lang="en-US" b="0" i="0" dirty="0">
                <a:solidFill>
                  <a:srgbClr val="000000"/>
                </a:solidFill>
                <a:effectLst/>
                <a:latin typeface="Arial Black" panose="020B0A04020102020204" pitchFamily="34" charset="0"/>
              </a:rPr>
              <a:t>__() method initializes instance variables and is invoked when a class instance</a:t>
            </a:r>
          </a:p>
          <a:p>
            <a:r>
              <a:rPr lang="en-US" b="0" i="0" dirty="0">
                <a:solidFill>
                  <a:srgbClr val="000000"/>
                </a:solidFill>
                <a:effectLst/>
                <a:latin typeface="Arial Black" panose="020B0A04020102020204" pitchFamily="34" charset="0"/>
              </a:rPr>
              <a:t> is created.</a:t>
            </a:r>
            <a:endParaRPr lang="en-US" dirty="0">
              <a:solidFill>
                <a:srgbClr val="000000"/>
              </a:solidFill>
              <a:latin typeface="Arial Black" panose="020B0A040201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BCA041B-207E-F5DD-AA0F-DBEAFCA12474}"/>
              </a:ext>
            </a:extLst>
          </p:cNvPr>
          <p:cNvSpPr txBox="1"/>
          <p:nvPr/>
        </p:nvSpPr>
        <p:spPr>
          <a:xfrm>
            <a:off x="831000" y="2496689"/>
            <a:ext cx="2934650" cy="1169551"/>
          </a:xfrm>
          <a:prstGeom prst="rect">
            <a:avLst/>
          </a:prstGeom>
          <a:noFill/>
        </p:spPr>
        <p:txBody>
          <a:bodyPr wrap="none" rtlCol="0">
            <a:spAutoFit/>
          </a:bodyPr>
          <a:lstStyle/>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Person:</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__</a:t>
            </a:r>
            <a:r>
              <a:rPr lang="en-US" sz="1400" b="0" i="0" dirty="0" err="1">
                <a:solidFill>
                  <a:srgbClr val="000000"/>
                </a:solidFill>
                <a:effectLst/>
                <a:latin typeface="Arial Black" panose="020B0A04020102020204" pitchFamily="34" charset="0"/>
              </a:rPr>
              <a:t>init</a:t>
            </a:r>
            <a:r>
              <a:rPr lang="en-US" sz="1400" b="0" i="0" dirty="0">
                <a:solidFill>
                  <a:srgbClr val="000000"/>
                </a:solidFill>
                <a:effectLst/>
                <a:latin typeface="Arial Black" panose="020B0A04020102020204" pitchFamily="34" charset="0"/>
              </a:rPr>
              <a:t>__(self, name, age):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self.name</a:t>
            </a:r>
            <a:r>
              <a:rPr lang="en-US" sz="1400" b="0" i="0" dirty="0">
                <a:solidFill>
                  <a:srgbClr val="000000"/>
                </a:solidFill>
                <a:effectLst/>
                <a:latin typeface="Arial Black" panose="020B0A04020102020204" pitchFamily="34" charset="0"/>
              </a:rPr>
              <a:t> = name</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self.age</a:t>
            </a:r>
            <a:r>
              <a:rPr lang="en-US" sz="1400" b="0" i="0" dirty="0">
                <a:solidFill>
                  <a:srgbClr val="000000"/>
                </a:solidFill>
                <a:effectLst/>
                <a:latin typeface="Arial Black" panose="020B0A04020102020204" pitchFamily="34" charset="0"/>
              </a:rPr>
              <a:t> = age</a:t>
            </a:r>
            <a:endParaRPr lang="en-US" sz="1400" dirty="0">
              <a:solidFill>
                <a:srgbClr val="000000"/>
              </a:solidFill>
              <a:latin typeface="Arial Black" panose="020B0A04020102020204" pitchFamily="34" charset="0"/>
            </a:endParaRPr>
          </a:p>
        </p:txBody>
      </p:sp>
      <p:sp>
        <p:nvSpPr>
          <p:cNvPr id="5" name="TextBox 4">
            <a:extLst>
              <a:ext uri="{FF2B5EF4-FFF2-40B4-BE49-F238E27FC236}">
                <a16:creationId xmlns:a16="http://schemas.microsoft.com/office/drawing/2014/main" id="{287A04D1-B246-468C-6FC0-430184BF815D}"/>
              </a:ext>
            </a:extLst>
          </p:cNvPr>
          <p:cNvSpPr txBox="1"/>
          <p:nvPr/>
        </p:nvSpPr>
        <p:spPr>
          <a:xfrm>
            <a:off x="831000" y="2296634"/>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Tree>
    <p:extLst>
      <p:ext uri="{BB962C8B-B14F-4D97-AF65-F5344CB8AC3E}">
        <p14:creationId xmlns:p14="http://schemas.microsoft.com/office/powerpoint/2010/main" val="736360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80534CC-5913-76BF-B806-EC5157E35E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C0B8E4A-1AC8-4156-228F-F96A35A6604B}"/>
              </a:ext>
            </a:extLst>
          </p:cNvPr>
          <p:cNvSpPr txBox="1"/>
          <p:nvPr/>
        </p:nvSpPr>
        <p:spPr>
          <a:xfrm>
            <a:off x="3275954" y="489577"/>
            <a:ext cx="5537350" cy="830997"/>
          </a:xfrm>
          <a:prstGeom prst="rect">
            <a:avLst/>
          </a:prstGeom>
          <a:noFill/>
        </p:spPr>
        <p:txBody>
          <a:bodyPr wrap="none" rtlCol="0">
            <a:spAutoFit/>
          </a:bodyPr>
          <a:lstStyle/>
          <a:p>
            <a:r>
              <a:rPr lang="en-US" sz="4800" b="0" i="0" dirty="0">
                <a:effectLst/>
                <a:latin typeface="YACkoOFEi8A 0"/>
              </a:rPr>
              <a:t>Method Overloading:</a:t>
            </a:r>
            <a:endParaRPr lang="en-US" sz="4800" dirty="0">
              <a:latin typeface="YACkoOFEi8A 0"/>
            </a:endParaRPr>
          </a:p>
        </p:txBody>
      </p:sp>
      <p:sp>
        <p:nvSpPr>
          <p:cNvPr id="3" name="TextBox 2">
            <a:extLst>
              <a:ext uri="{FF2B5EF4-FFF2-40B4-BE49-F238E27FC236}">
                <a16:creationId xmlns:a16="http://schemas.microsoft.com/office/drawing/2014/main" id="{5161E794-11E7-7D4F-FDD4-FA6ECE95B842}"/>
              </a:ext>
            </a:extLst>
          </p:cNvPr>
          <p:cNvSpPr txBox="1"/>
          <p:nvPr/>
        </p:nvSpPr>
        <p:spPr>
          <a:xfrm>
            <a:off x="545432" y="1443789"/>
            <a:ext cx="10998395" cy="923330"/>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Python does not support traditional method overloading but simulates it using default</a:t>
            </a:r>
          </a:p>
          <a:p>
            <a:r>
              <a:rPr lang="en-US" b="0" i="0" dirty="0">
                <a:solidFill>
                  <a:srgbClr val="000000"/>
                </a:solidFill>
                <a:effectLst/>
                <a:latin typeface="Arial Black" panose="020B0A04020102020204" pitchFamily="34" charset="0"/>
              </a:rPr>
              <a:t>arguments or variable-length </a:t>
            </a:r>
            <a:r>
              <a:rPr lang="en-US" b="0" i="0" dirty="0" err="1">
                <a:solidFill>
                  <a:srgbClr val="000000"/>
                </a:solidFill>
                <a:effectLst/>
                <a:latin typeface="Arial Black" panose="020B0A04020102020204" pitchFamily="34" charset="0"/>
              </a:rPr>
              <a:t>arguments.Not</a:t>
            </a:r>
            <a:r>
              <a:rPr lang="en-US" b="0" i="0" dirty="0">
                <a:solidFill>
                  <a:srgbClr val="000000"/>
                </a:solidFill>
                <a:effectLst/>
                <a:latin typeface="Arial Black" panose="020B0A04020102020204" pitchFamily="34" charset="0"/>
              </a:rPr>
              <a:t> directly supported in Python but can be</a:t>
            </a:r>
          </a:p>
          <a:p>
            <a:r>
              <a:rPr lang="en-US" b="0" i="0" dirty="0">
                <a:solidFill>
                  <a:srgbClr val="000000"/>
                </a:solidFill>
                <a:effectLst/>
                <a:latin typeface="Arial Black" panose="020B0A04020102020204" pitchFamily="34" charset="0"/>
              </a:rPr>
              <a:t>simulated using default arguments.</a:t>
            </a:r>
            <a:endParaRPr lang="en-US" dirty="0">
              <a:solidFill>
                <a:srgbClr val="000000"/>
              </a:solidFill>
              <a:latin typeface="Arial Black" panose="020B0A040201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BA179FD-8F16-E922-4767-F4F3F51432BD}"/>
              </a:ext>
            </a:extLst>
          </p:cNvPr>
          <p:cNvSpPr txBox="1"/>
          <p:nvPr/>
        </p:nvSpPr>
        <p:spPr>
          <a:xfrm>
            <a:off x="831000" y="3321331"/>
            <a:ext cx="4098814" cy="2246769"/>
          </a:xfrm>
          <a:prstGeom prst="rect">
            <a:avLst/>
          </a:prstGeom>
          <a:noFill/>
        </p:spPr>
        <p:txBody>
          <a:bodyPr wrap="none" rtlCol="0">
            <a:spAutoFit/>
          </a:bodyPr>
          <a:lstStyle/>
          <a:p>
            <a:r>
              <a:rPr lang="en-US" sz="1400" b="0" i="0" dirty="0">
                <a:solidFill>
                  <a:srgbClr val="000000"/>
                </a:solidFill>
                <a:effectLst/>
                <a:latin typeface="Arial Black" panose="020B0A04020102020204" pitchFamily="34" charset="0"/>
              </a:rPr>
              <a:t>class </a:t>
            </a:r>
            <a:r>
              <a:rPr lang="en-US" sz="1400" b="0" i="0" dirty="0" err="1">
                <a:solidFill>
                  <a:srgbClr val="000000"/>
                </a:solidFill>
                <a:effectLst/>
                <a:latin typeface="Arial Black" panose="020B0A04020102020204" pitchFamily="34" charset="0"/>
              </a:rPr>
              <a:t>OverloadExample</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greet(self, name=None):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if name: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f"Hello</a:t>
            </a:r>
            <a:r>
              <a:rPr lang="en-US" sz="1400" b="0" i="0" dirty="0">
                <a:solidFill>
                  <a:srgbClr val="000000"/>
                </a:solidFill>
                <a:effectLst/>
                <a:latin typeface="Arial Black" panose="020B0A04020102020204" pitchFamily="34" charset="0"/>
              </a:rPr>
              <a:t>, {name}!")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else: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print("Hello!")</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obj = </a:t>
            </a:r>
            <a:r>
              <a:rPr lang="en-US" sz="1400" b="0" i="0" dirty="0" err="1">
                <a:solidFill>
                  <a:srgbClr val="000000"/>
                </a:solidFill>
                <a:effectLst/>
                <a:latin typeface="Arial Black" panose="020B0A04020102020204" pitchFamily="34" charset="0"/>
              </a:rPr>
              <a:t>OverloadExample</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obj.greet</a:t>
            </a:r>
            <a:r>
              <a:rPr lang="en-US" sz="1400" b="0" i="0" dirty="0">
                <a:solidFill>
                  <a:srgbClr val="000000"/>
                </a:solidFill>
                <a:effectLst/>
                <a:latin typeface="Arial Black" panose="020B0A04020102020204" pitchFamily="34" charset="0"/>
              </a:rPr>
              <a:t>("Alice") # Output: Hello, Alice!</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obj.greet</a:t>
            </a:r>
            <a:r>
              <a:rPr lang="en-US" sz="1400" b="0" i="0" dirty="0">
                <a:solidFill>
                  <a:srgbClr val="000000"/>
                </a:solidFill>
                <a:effectLst/>
                <a:latin typeface="Arial Black" panose="020B0A04020102020204" pitchFamily="34" charset="0"/>
              </a:rPr>
              <a:t>() # Output: Hello!</a:t>
            </a:r>
            <a:endParaRPr lang="en-US" sz="1400" dirty="0">
              <a:solidFill>
                <a:srgbClr val="000000"/>
              </a:solidFill>
              <a:latin typeface="Arial Black" panose="020B0A04020102020204" pitchFamily="34" charset="0"/>
            </a:endParaRPr>
          </a:p>
        </p:txBody>
      </p:sp>
      <p:sp>
        <p:nvSpPr>
          <p:cNvPr id="5" name="TextBox 4">
            <a:extLst>
              <a:ext uri="{FF2B5EF4-FFF2-40B4-BE49-F238E27FC236}">
                <a16:creationId xmlns:a16="http://schemas.microsoft.com/office/drawing/2014/main" id="{3A835028-F176-DFB0-6E01-A50945126051}"/>
              </a:ext>
            </a:extLst>
          </p:cNvPr>
          <p:cNvSpPr txBox="1"/>
          <p:nvPr/>
        </p:nvSpPr>
        <p:spPr>
          <a:xfrm>
            <a:off x="831000" y="2921221"/>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Tree>
    <p:extLst>
      <p:ext uri="{BB962C8B-B14F-4D97-AF65-F5344CB8AC3E}">
        <p14:creationId xmlns:p14="http://schemas.microsoft.com/office/powerpoint/2010/main" val="4269369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A5D8D3B-82D7-C334-B8B0-21A7706E16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FDB0B0-0F38-4BE4-3C17-C312220E2106}"/>
              </a:ext>
            </a:extLst>
          </p:cNvPr>
          <p:cNvSpPr txBox="1"/>
          <p:nvPr/>
        </p:nvSpPr>
        <p:spPr>
          <a:xfrm>
            <a:off x="3723192" y="489577"/>
            <a:ext cx="3198824" cy="830997"/>
          </a:xfrm>
          <a:prstGeom prst="rect">
            <a:avLst/>
          </a:prstGeom>
          <a:noFill/>
        </p:spPr>
        <p:txBody>
          <a:bodyPr wrap="none" rtlCol="0">
            <a:spAutoFit/>
          </a:bodyPr>
          <a:lstStyle/>
          <a:p>
            <a:r>
              <a:rPr lang="en-US" sz="4800" b="0" i="0" dirty="0">
                <a:effectLst/>
                <a:latin typeface="YACkoOFEi8A 0"/>
              </a:rPr>
              <a:t>Inheritance:</a:t>
            </a:r>
            <a:endParaRPr lang="en-US" sz="4800" dirty="0">
              <a:latin typeface="YACkoOFEi8A 0"/>
            </a:endParaRPr>
          </a:p>
        </p:txBody>
      </p:sp>
      <p:sp>
        <p:nvSpPr>
          <p:cNvPr id="3" name="TextBox 2">
            <a:extLst>
              <a:ext uri="{FF2B5EF4-FFF2-40B4-BE49-F238E27FC236}">
                <a16:creationId xmlns:a16="http://schemas.microsoft.com/office/drawing/2014/main" id="{10255EB1-2E31-C2E6-1EA7-3966EB9085CE}"/>
              </a:ext>
            </a:extLst>
          </p:cNvPr>
          <p:cNvSpPr txBox="1"/>
          <p:nvPr/>
        </p:nvSpPr>
        <p:spPr>
          <a:xfrm>
            <a:off x="545431" y="1443789"/>
            <a:ext cx="9962147" cy="2308324"/>
          </a:xfrm>
          <a:prstGeom prst="rect">
            <a:avLst/>
          </a:prstGeom>
          <a:noFill/>
        </p:spPr>
        <p:txBody>
          <a:bodyPr wrap="square" rtlCol="0">
            <a:spAutoFit/>
          </a:bodyPr>
          <a:lstStyle/>
          <a:p>
            <a:r>
              <a:rPr lang="en-US" b="0" i="0" dirty="0">
                <a:solidFill>
                  <a:srgbClr val="000000"/>
                </a:solidFill>
                <a:effectLst/>
                <a:latin typeface="Arial Black" panose="020B0A04020102020204" pitchFamily="34" charset="0"/>
              </a:rPr>
              <a:t>Inheritance allows one class to acquire properties of another.</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Types include:</a:t>
            </a:r>
            <a:br>
              <a:rPr lang="en-US" dirty="0">
                <a:solidFill>
                  <a:srgbClr val="000000"/>
                </a:solidFill>
                <a:latin typeface="Arial Black" panose="020B0A04020102020204" pitchFamily="34" charset="0"/>
              </a:rPr>
            </a:br>
            <a:br>
              <a:rPr lang="en-US" dirty="0">
                <a:solidFill>
                  <a:srgbClr val="000000"/>
                </a:solidFill>
                <a:latin typeface="Arial Black" panose="020B0A04020102020204" pitchFamily="34" charset="0"/>
              </a:rPr>
            </a:br>
            <a:r>
              <a:rPr lang="en-US" dirty="0">
                <a:solidFill>
                  <a:srgbClr val="000000"/>
                </a:solidFill>
                <a:latin typeface="Arial Black" panose="020B0A04020102020204" pitchFamily="34" charset="0"/>
              </a:rPr>
              <a:t>1. </a:t>
            </a:r>
            <a:r>
              <a:rPr lang="en-US" b="0" i="0" dirty="0">
                <a:solidFill>
                  <a:srgbClr val="000000"/>
                </a:solidFill>
                <a:effectLst/>
                <a:latin typeface="Arial Black" panose="020B0A04020102020204" pitchFamily="34" charset="0"/>
              </a:rPr>
              <a:t>Single Inheritance: One child inherits from one parent.</a:t>
            </a:r>
            <a:br>
              <a:rPr lang="en-US" dirty="0">
                <a:solidFill>
                  <a:srgbClr val="000000"/>
                </a:solidFill>
                <a:latin typeface="Arial Black" panose="020B0A04020102020204" pitchFamily="34" charset="0"/>
              </a:rPr>
            </a:br>
            <a:r>
              <a:rPr lang="en-US" dirty="0">
                <a:solidFill>
                  <a:srgbClr val="000000"/>
                </a:solidFill>
                <a:latin typeface="Arial Black" panose="020B0A04020102020204" pitchFamily="34" charset="0"/>
              </a:rPr>
              <a:t>2. </a:t>
            </a:r>
            <a:r>
              <a:rPr lang="en-US" b="0" i="0" dirty="0">
                <a:solidFill>
                  <a:srgbClr val="000000"/>
                </a:solidFill>
                <a:effectLst/>
                <a:latin typeface="Arial Black" panose="020B0A04020102020204" pitchFamily="34" charset="0"/>
              </a:rPr>
              <a:t>Multiple Inheritance: Child inherits from multiple parents.</a:t>
            </a:r>
            <a:br>
              <a:rPr lang="en-US" dirty="0">
                <a:solidFill>
                  <a:srgbClr val="000000"/>
                </a:solidFill>
                <a:latin typeface="Arial Black" panose="020B0A04020102020204" pitchFamily="34" charset="0"/>
              </a:rPr>
            </a:br>
            <a:r>
              <a:rPr lang="en-US" dirty="0">
                <a:solidFill>
                  <a:srgbClr val="000000"/>
                </a:solidFill>
                <a:latin typeface="Arial Black" panose="020B0A04020102020204" pitchFamily="34" charset="0"/>
              </a:rPr>
              <a:t>3. </a:t>
            </a:r>
            <a:r>
              <a:rPr lang="en-US" b="0" i="0" dirty="0">
                <a:solidFill>
                  <a:srgbClr val="000000"/>
                </a:solidFill>
                <a:effectLst/>
                <a:latin typeface="Arial Black" panose="020B0A04020102020204" pitchFamily="34" charset="0"/>
              </a:rPr>
              <a:t>Multilevel Inheritance: Grandchild inherits from a child.</a:t>
            </a:r>
            <a:br>
              <a:rPr lang="en-US" dirty="0">
                <a:solidFill>
                  <a:srgbClr val="000000"/>
                </a:solidFill>
                <a:latin typeface="Arial Black" panose="020B0A04020102020204" pitchFamily="34" charset="0"/>
              </a:rPr>
            </a:br>
            <a:r>
              <a:rPr lang="en-US" dirty="0">
                <a:solidFill>
                  <a:srgbClr val="000000"/>
                </a:solidFill>
                <a:latin typeface="Arial Black" panose="020B0A04020102020204" pitchFamily="34" charset="0"/>
              </a:rPr>
              <a:t>4. </a:t>
            </a:r>
            <a:r>
              <a:rPr lang="en-US" b="0" i="0" dirty="0">
                <a:solidFill>
                  <a:srgbClr val="000000"/>
                </a:solidFill>
                <a:effectLst/>
                <a:latin typeface="Arial Black" panose="020B0A04020102020204" pitchFamily="34" charset="0"/>
              </a:rPr>
              <a:t>Hierarchical Inheritance</a:t>
            </a:r>
            <a:br>
              <a:rPr lang="en-US" dirty="0">
                <a:solidFill>
                  <a:srgbClr val="000000"/>
                </a:solidFill>
                <a:latin typeface="Arial Black" panose="020B0A04020102020204" pitchFamily="34" charset="0"/>
              </a:rPr>
            </a:br>
            <a:r>
              <a:rPr lang="en-US" dirty="0">
                <a:solidFill>
                  <a:srgbClr val="000000"/>
                </a:solidFill>
                <a:latin typeface="Arial Black" panose="020B0A04020102020204" pitchFamily="34" charset="0"/>
              </a:rPr>
              <a:t>5. </a:t>
            </a:r>
            <a:r>
              <a:rPr lang="en-US" b="0" i="0" dirty="0">
                <a:solidFill>
                  <a:srgbClr val="000000"/>
                </a:solidFill>
                <a:effectLst/>
                <a:latin typeface="Arial Black" panose="020B0A04020102020204" pitchFamily="34" charset="0"/>
              </a:rPr>
              <a:t>Hybrid Inheritance</a:t>
            </a:r>
            <a:endParaRPr lang="en-US" dirty="0">
              <a:solidFill>
                <a:srgbClr val="000000"/>
              </a:solidFill>
              <a:latin typeface="Arial Black" panose="020B0A040201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A3A6E7D-B56D-71C8-6413-864195E91F4C}"/>
              </a:ext>
            </a:extLst>
          </p:cNvPr>
          <p:cNvSpPr txBox="1"/>
          <p:nvPr/>
        </p:nvSpPr>
        <p:spPr>
          <a:xfrm>
            <a:off x="831000" y="4410960"/>
            <a:ext cx="4350600" cy="2031325"/>
          </a:xfrm>
          <a:prstGeom prst="rect">
            <a:avLst/>
          </a:prstGeom>
          <a:noFill/>
        </p:spPr>
        <p:txBody>
          <a:bodyPr wrap="square" rtlCol="0">
            <a:spAutoFit/>
          </a:bodyPr>
          <a:lstStyle/>
          <a:p>
            <a:r>
              <a:rPr lang="en-US" sz="1400" b="0" i="0" dirty="0">
                <a:solidFill>
                  <a:srgbClr val="000000"/>
                </a:solidFill>
                <a:effectLst/>
                <a:latin typeface="Arial Black" panose="020B0A04020102020204" pitchFamily="34" charset="0"/>
              </a:rPr>
              <a:t># Multiple Inheritance Example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A:</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a:t>
            </a:r>
            <a:r>
              <a:rPr lang="en-US" sz="1400" b="0" i="0" dirty="0" err="1">
                <a:solidFill>
                  <a:srgbClr val="000000"/>
                </a:solidFill>
                <a:effectLst/>
                <a:latin typeface="Arial Black" panose="020B0A04020102020204" pitchFamily="34" charset="0"/>
              </a:rPr>
              <a:t>method_a</a:t>
            </a:r>
            <a:r>
              <a:rPr lang="en-US" sz="1400" b="0" i="0" dirty="0">
                <a:solidFill>
                  <a:srgbClr val="000000"/>
                </a:solidFill>
                <a:effectLst/>
                <a:latin typeface="Arial Black" panose="020B0A04020102020204" pitchFamily="34" charset="0"/>
              </a:rPr>
              <a:t>(self):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print("Method A")</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B:</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a:t>
            </a:r>
            <a:r>
              <a:rPr lang="en-US" sz="1400" b="0" i="0" dirty="0" err="1">
                <a:solidFill>
                  <a:srgbClr val="000000"/>
                </a:solidFill>
                <a:effectLst/>
                <a:latin typeface="Arial Black" panose="020B0A04020102020204" pitchFamily="34" charset="0"/>
              </a:rPr>
              <a:t>method_b</a:t>
            </a:r>
            <a:r>
              <a:rPr lang="en-US" sz="1400" b="0" i="0" dirty="0">
                <a:solidFill>
                  <a:srgbClr val="000000"/>
                </a:solidFill>
                <a:effectLst/>
                <a:latin typeface="Arial Black" panose="020B0A04020102020204" pitchFamily="34" charset="0"/>
              </a:rPr>
              <a:t>(self):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print("Method B")</a:t>
            </a:r>
            <a:br>
              <a:rPr lang="en-US" sz="1400" dirty="0">
                <a:solidFill>
                  <a:srgbClr val="000000"/>
                </a:solidFill>
                <a:latin typeface="Arial Black" panose="020B0A04020102020204" pitchFamily="34" charset="0"/>
              </a:rPr>
            </a:br>
            <a:endParaRPr lang="en-US" sz="1400" dirty="0">
              <a:solidFill>
                <a:srgbClr val="000000"/>
              </a:solidFill>
              <a:latin typeface="Arial Black" panose="020B0A04020102020204" pitchFamily="34" charset="0"/>
            </a:endParaRPr>
          </a:p>
        </p:txBody>
      </p:sp>
      <p:sp>
        <p:nvSpPr>
          <p:cNvPr id="5" name="TextBox 4">
            <a:extLst>
              <a:ext uri="{FF2B5EF4-FFF2-40B4-BE49-F238E27FC236}">
                <a16:creationId xmlns:a16="http://schemas.microsoft.com/office/drawing/2014/main" id="{972F1E75-2C71-E3AE-6C9B-0493EA5BBD57}"/>
              </a:ext>
            </a:extLst>
          </p:cNvPr>
          <p:cNvSpPr txBox="1"/>
          <p:nvPr/>
        </p:nvSpPr>
        <p:spPr>
          <a:xfrm>
            <a:off x="545431" y="4010850"/>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
        <p:nvSpPr>
          <p:cNvPr id="6" name="TextBox 5">
            <a:extLst>
              <a:ext uri="{FF2B5EF4-FFF2-40B4-BE49-F238E27FC236}">
                <a16:creationId xmlns:a16="http://schemas.microsoft.com/office/drawing/2014/main" id="{1953377A-CBF1-1EDC-9B96-CA869BF02826}"/>
              </a:ext>
            </a:extLst>
          </p:cNvPr>
          <p:cNvSpPr txBox="1"/>
          <p:nvPr/>
        </p:nvSpPr>
        <p:spPr>
          <a:xfrm>
            <a:off x="5501082" y="4506594"/>
            <a:ext cx="3591048" cy="1600438"/>
          </a:xfrm>
          <a:prstGeom prst="rect">
            <a:avLst/>
          </a:prstGeom>
          <a:noFill/>
        </p:spPr>
        <p:txBody>
          <a:bodyPr wrap="none" rtlCol="0">
            <a:spAutoFit/>
          </a:bodyPr>
          <a:lstStyle/>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C(A, B):</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pass</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obj = C()</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obj.method_a</a:t>
            </a:r>
            <a:r>
              <a:rPr lang="en-US" sz="1400" b="0" i="0" dirty="0">
                <a:solidFill>
                  <a:srgbClr val="000000"/>
                </a:solidFill>
                <a:effectLst/>
                <a:latin typeface="Arial Black" panose="020B0A04020102020204" pitchFamily="34" charset="0"/>
              </a:rPr>
              <a:t>() # Output: Method A</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obj.method_b</a:t>
            </a:r>
            <a:r>
              <a:rPr lang="en-US" sz="1400" b="0" i="0" dirty="0">
                <a:solidFill>
                  <a:srgbClr val="000000"/>
                </a:solidFill>
                <a:effectLst/>
                <a:latin typeface="Arial Black" panose="020B0A04020102020204" pitchFamily="34" charset="0"/>
              </a:rPr>
              <a:t>() # Output: Method B</a:t>
            </a:r>
            <a:endParaRPr lang="en-US" sz="1400" dirty="0"/>
          </a:p>
        </p:txBody>
      </p:sp>
    </p:spTree>
    <p:extLst>
      <p:ext uri="{BB962C8B-B14F-4D97-AF65-F5344CB8AC3E}">
        <p14:creationId xmlns:p14="http://schemas.microsoft.com/office/powerpoint/2010/main" val="143394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798103-CC75-AFB7-C5AB-32B6018A3766}"/>
              </a:ext>
            </a:extLst>
          </p:cNvPr>
          <p:cNvSpPr txBox="1"/>
          <p:nvPr/>
        </p:nvSpPr>
        <p:spPr>
          <a:xfrm>
            <a:off x="3612659" y="433137"/>
            <a:ext cx="5131789" cy="830997"/>
          </a:xfrm>
          <a:prstGeom prst="rect">
            <a:avLst/>
          </a:prstGeom>
          <a:noFill/>
        </p:spPr>
        <p:txBody>
          <a:bodyPr wrap="none" rtlCol="0">
            <a:spAutoFit/>
          </a:bodyPr>
          <a:lstStyle/>
          <a:p>
            <a:r>
              <a:rPr lang="en-US" sz="4800" b="0" i="0" dirty="0">
                <a:effectLst/>
                <a:latin typeface="YACkoOFEi8A 0"/>
              </a:rPr>
              <a:t>Method Overriding:</a:t>
            </a:r>
            <a:endParaRPr lang="en-US" sz="4800" dirty="0">
              <a:latin typeface="YACkoOFEi8A 0"/>
            </a:endParaRPr>
          </a:p>
        </p:txBody>
      </p:sp>
      <p:sp>
        <p:nvSpPr>
          <p:cNvPr id="3" name="TextBox 2">
            <a:extLst>
              <a:ext uri="{FF2B5EF4-FFF2-40B4-BE49-F238E27FC236}">
                <a16:creationId xmlns:a16="http://schemas.microsoft.com/office/drawing/2014/main" id="{41193C46-96EA-33BA-0FC8-2290F042D82F}"/>
              </a:ext>
            </a:extLst>
          </p:cNvPr>
          <p:cNvSpPr txBox="1"/>
          <p:nvPr/>
        </p:nvSpPr>
        <p:spPr>
          <a:xfrm>
            <a:off x="898358" y="1264134"/>
            <a:ext cx="10716075" cy="923330"/>
          </a:xfrm>
          <a:prstGeom prst="rect">
            <a:avLst/>
          </a:prstGeom>
          <a:noFill/>
        </p:spPr>
        <p:txBody>
          <a:bodyPr wrap="none" rtlCol="0">
            <a:spAutoFit/>
          </a:bodyPr>
          <a:lstStyle/>
          <a:p>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A child class redefines a method in its parent class. Allows a subclass to provide a </a:t>
            </a:r>
          </a:p>
          <a:p>
            <a:r>
              <a:rPr lang="en-US" b="0" i="0" dirty="0">
                <a:solidFill>
                  <a:srgbClr val="000000"/>
                </a:solidFill>
                <a:effectLst/>
                <a:latin typeface="Arial Black" panose="020B0A04020102020204" pitchFamily="34" charset="0"/>
              </a:rPr>
              <a:t>specific implementation for a method already defined in the parent class.</a:t>
            </a:r>
            <a:endParaRPr lang="en-US" dirty="0">
              <a:solidFill>
                <a:srgbClr val="000000"/>
              </a:solidFill>
              <a:latin typeface="Arial Black" panose="020B0A04020102020204" pitchFamily="34" charset="0"/>
            </a:endParaRPr>
          </a:p>
        </p:txBody>
      </p:sp>
      <p:sp>
        <p:nvSpPr>
          <p:cNvPr id="4" name="TextBox 3">
            <a:extLst>
              <a:ext uri="{FF2B5EF4-FFF2-40B4-BE49-F238E27FC236}">
                <a16:creationId xmlns:a16="http://schemas.microsoft.com/office/drawing/2014/main" id="{8A6081C2-8B98-077C-32D0-9E34CD5A50EB}"/>
              </a:ext>
            </a:extLst>
          </p:cNvPr>
          <p:cNvSpPr txBox="1"/>
          <p:nvPr/>
        </p:nvSpPr>
        <p:spPr>
          <a:xfrm>
            <a:off x="898358" y="2342147"/>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
        <p:nvSpPr>
          <p:cNvPr id="5" name="TextBox 4">
            <a:extLst>
              <a:ext uri="{FF2B5EF4-FFF2-40B4-BE49-F238E27FC236}">
                <a16:creationId xmlns:a16="http://schemas.microsoft.com/office/drawing/2014/main" id="{9834F78F-44CF-E6FB-8DD6-08F42A37504C}"/>
              </a:ext>
            </a:extLst>
          </p:cNvPr>
          <p:cNvSpPr txBox="1"/>
          <p:nvPr/>
        </p:nvSpPr>
        <p:spPr>
          <a:xfrm>
            <a:off x="1138989" y="3064042"/>
            <a:ext cx="4052263" cy="2246769"/>
          </a:xfrm>
          <a:prstGeom prst="rect">
            <a:avLst/>
          </a:prstGeom>
          <a:noFill/>
        </p:spPr>
        <p:txBody>
          <a:bodyPr wrap="none" rtlCol="0">
            <a:spAutoFit/>
          </a:bodyPr>
          <a:lstStyle/>
          <a:p>
            <a:r>
              <a:rPr lang="en-US" sz="1400" b="0" i="0" dirty="0">
                <a:solidFill>
                  <a:srgbClr val="000000"/>
                </a:solidFill>
                <a:effectLst/>
                <a:latin typeface="Arial Black" panose="020B0A04020102020204" pitchFamily="34" charset="0"/>
              </a:rPr>
              <a:t>class Parent: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greet(self):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print("Hello from Parent!")</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Child(Parent):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greet(self):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print("Hello from Child!")</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child = Child()</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child.greet</a:t>
            </a:r>
            <a:r>
              <a:rPr lang="en-US" sz="1400" b="0" i="0" dirty="0">
                <a:solidFill>
                  <a:srgbClr val="000000"/>
                </a:solidFill>
                <a:effectLst/>
                <a:latin typeface="Arial Black" panose="020B0A04020102020204" pitchFamily="34" charset="0"/>
              </a:rPr>
              <a:t>() # Output: Hello from Child!</a:t>
            </a:r>
            <a:endParaRPr lang="en-US" sz="1400"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1966913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1B93A6-A9B4-59F9-1701-6DE9F1ED231F}"/>
              </a:ext>
            </a:extLst>
          </p:cNvPr>
          <p:cNvSpPr txBox="1"/>
          <p:nvPr/>
        </p:nvSpPr>
        <p:spPr>
          <a:xfrm>
            <a:off x="3822429" y="482081"/>
            <a:ext cx="4547142" cy="830997"/>
          </a:xfrm>
          <a:prstGeom prst="rect">
            <a:avLst/>
          </a:prstGeom>
          <a:noFill/>
        </p:spPr>
        <p:txBody>
          <a:bodyPr wrap="none" rtlCol="0">
            <a:spAutoFit/>
          </a:bodyPr>
          <a:lstStyle/>
          <a:p>
            <a:r>
              <a:rPr lang="en-US" sz="4800" b="0" i="0" dirty="0">
                <a:effectLst/>
                <a:latin typeface="YACkoOFEi8A 0"/>
              </a:rPr>
              <a:t>Access Modifiers:</a:t>
            </a:r>
            <a:endParaRPr lang="en-US" sz="4800" dirty="0">
              <a:latin typeface="YACkoOFEi8A 0"/>
            </a:endParaRPr>
          </a:p>
        </p:txBody>
      </p:sp>
      <p:sp>
        <p:nvSpPr>
          <p:cNvPr id="3" name="TextBox 2">
            <a:extLst>
              <a:ext uri="{FF2B5EF4-FFF2-40B4-BE49-F238E27FC236}">
                <a16:creationId xmlns:a16="http://schemas.microsoft.com/office/drawing/2014/main" id="{6C9BE8CB-7721-10C2-2BAF-7EDC3AE6A2C7}"/>
              </a:ext>
            </a:extLst>
          </p:cNvPr>
          <p:cNvSpPr txBox="1"/>
          <p:nvPr/>
        </p:nvSpPr>
        <p:spPr>
          <a:xfrm>
            <a:off x="705852" y="1309210"/>
            <a:ext cx="8741880" cy="1477328"/>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Control the visibility of attributes and methods:</a:t>
            </a:r>
            <a:br>
              <a:rPr lang="en-US" dirty="0">
                <a:solidFill>
                  <a:srgbClr val="000000"/>
                </a:solidFill>
                <a:latin typeface="Arial Black" panose="020B0A04020102020204" pitchFamily="34" charset="0"/>
              </a:rPr>
            </a:b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Public: Accessible everywhere (self.name).</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Protected: Accessible within the class and subclasses (_self.name).</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Private: Accessible only within the class (__self.name).</a:t>
            </a:r>
            <a:endParaRPr lang="en-US" dirty="0">
              <a:solidFill>
                <a:srgbClr val="000000"/>
              </a:solidFill>
              <a:latin typeface="Arial Black" panose="020B0A04020102020204" pitchFamily="34" charset="0"/>
            </a:endParaRPr>
          </a:p>
        </p:txBody>
      </p:sp>
      <p:sp>
        <p:nvSpPr>
          <p:cNvPr id="4" name="TextBox 3">
            <a:extLst>
              <a:ext uri="{FF2B5EF4-FFF2-40B4-BE49-F238E27FC236}">
                <a16:creationId xmlns:a16="http://schemas.microsoft.com/office/drawing/2014/main" id="{EC962A17-A329-4EB3-DAA3-6895D4BA11F2}"/>
              </a:ext>
            </a:extLst>
          </p:cNvPr>
          <p:cNvSpPr txBox="1"/>
          <p:nvPr/>
        </p:nvSpPr>
        <p:spPr>
          <a:xfrm>
            <a:off x="3822429" y="3013502"/>
            <a:ext cx="3650230" cy="830997"/>
          </a:xfrm>
          <a:prstGeom prst="rect">
            <a:avLst/>
          </a:prstGeom>
          <a:noFill/>
        </p:spPr>
        <p:txBody>
          <a:bodyPr wrap="none" rtlCol="0">
            <a:spAutoFit/>
          </a:bodyPr>
          <a:lstStyle/>
          <a:p>
            <a:r>
              <a:rPr lang="en-US" sz="4800" b="0" i="0" dirty="0">
                <a:effectLst/>
                <a:latin typeface="YACkoOFEi8A 0"/>
              </a:rPr>
              <a:t>Abstract Class</a:t>
            </a:r>
            <a:endParaRPr lang="en-US" sz="4800" dirty="0">
              <a:latin typeface="YACkoOFEi8A 0"/>
            </a:endParaRPr>
          </a:p>
        </p:txBody>
      </p:sp>
      <p:sp>
        <p:nvSpPr>
          <p:cNvPr id="5" name="TextBox 4">
            <a:extLst>
              <a:ext uri="{FF2B5EF4-FFF2-40B4-BE49-F238E27FC236}">
                <a16:creationId xmlns:a16="http://schemas.microsoft.com/office/drawing/2014/main" id="{34592B47-0BC4-BD93-E24C-DE4C63D53608}"/>
              </a:ext>
            </a:extLst>
          </p:cNvPr>
          <p:cNvSpPr txBox="1"/>
          <p:nvPr/>
        </p:nvSpPr>
        <p:spPr>
          <a:xfrm>
            <a:off x="705852" y="3840630"/>
            <a:ext cx="11180368" cy="646331"/>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Cannot be instantiated and is used as a template for other classes. Declared using the </a:t>
            </a:r>
          </a:p>
          <a:p>
            <a:r>
              <a:rPr lang="en-US" b="0" i="0" dirty="0" err="1">
                <a:solidFill>
                  <a:srgbClr val="000000"/>
                </a:solidFill>
                <a:effectLst/>
                <a:latin typeface="Arial Black" panose="020B0A04020102020204" pitchFamily="34" charset="0"/>
              </a:rPr>
              <a:t>abc</a:t>
            </a:r>
            <a:r>
              <a:rPr lang="en-US" b="0" i="0" dirty="0">
                <a:solidFill>
                  <a:srgbClr val="000000"/>
                </a:solidFill>
                <a:effectLst/>
                <a:latin typeface="Arial Black" panose="020B0A04020102020204" pitchFamily="34" charset="0"/>
              </a:rPr>
              <a:t> module.</a:t>
            </a:r>
            <a:endParaRPr lang="en-US" dirty="0">
              <a:solidFill>
                <a:srgbClr val="000000"/>
              </a:solidFill>
              <a:latin typeface="Arial Black" panose="020B0A04020102020204" pitchFamily="34" charset="0"/>
            </a:endParaRPr>
          </a:p>
        </p:txBody>
      </p:sp>
      <p:sp>
        <p:nvSpPr>
          <p:cNvPr id="6" name="TextBox 5">
            <a:extLst>
              <a:ext uri="{FF2B5EF4-FFF2-40B4-BE49-F238E27FC236}">
                <a16:creationId xmlns:a16="http://schemas.microsoft.com/office/drawing/2014/main" id="{A5DFA5F3-257F-1D18-F6CC-D9F185C18D94}"/>
              </a:ext>
            </a:extLst>
          </p:cNvPr>
          <p:cNvSpPr txBox="1"/>
          <p:nvPr/>
        </p:nvSpPr>
        <p:spPr>
          <a:xfrm>
            <a:off x="753979" y="4780547"/>
            <a:ext cx="3944093" cy="1908215"/>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from </a:t>
            </a:r>
            <a:r>
              <a:rPr lang="en-US" sz="1400" b="0" i="0" dirty="0" err="1">
                <a:solidFill>
                  <a:srgbClr val="000000"/>
                </a:solidFill>
                <a:effectLst/>
                <a:latin typeface="Arial Black" panose="020B0A04020102020204" pitchFamily="34" charset="0"/>
              </a:rPr>
              <a:t>abc</a:t>
            </a:r>
            <a:r>
              <a:rPr lang="en-US" sz="1400" b="0" i="0" dirty="0">
                <a:solidFill>
                  <a:srgbClr val="000000"/>
                </a:solidFill>
                <a:effectLst/>
                <a:latin typeface="Arial Black" panose="020B0A04020102020204" pitchFamily="34" charset="0"/>
              </a:rPr>
              <a:t> import ABC, </a:t>
            </a:r>
            <a:r>
              <a:rPr lang="en-US" sz="1400" b="0" i="0" dirty="0" err="1">
                <a:solidFill>
                  <a:srgbClr val="000000"/>
                </a:solidFill>
                <a:effectLst/>
                <a:latin typeface="Arial Black" panose="020B0A04020102020204" pitchFamily="34" charset="0"/>
              </a:rPr>
              <a:t>abstractmethod</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a:t>
            </a:r>
            <a:r>
              <a:rPr lang="en-US" sz="1400" b="0" i="0" dirty="0" err="1">
                <a:solidFill>
                  <a:srgbClr val="000000"/>
                </a:solidFill>
                <a:effectLst/>
                <a:latin typeface="Arial Black" panose="020B0A04020102020204" pitchFamily="34" charset="0"/>
              </a:rPr>
              <a:t>AbstractClass</a:t>
            </a:r>
            <a:r>
              <a:rPr lang="en-US" sz="1400" b="0" i="0" dirty="0">
                <a:solidFill>
                  <a:srgbClr val="000000"/>
                </a:solidFill>
                <a:effectLst/>
                <a:latin typeface="Arial Black" panose="020B0A04020102020204" pitchFamily="34" charset="0"/>
              </a:rPr>
              <a:t>(ABC):</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@abstractmethod</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a:t>
            </a:r>
            <a:r>
              <a:rPr lang="en-US" sz="1400" b="0" i="0" dirty="0" err="1">
                <a:solidFill>
                  <a:srgbClr val="000000"/>
                </a:solidFill>
                <a:effectLst/>
                <a:latin typeface="Arial Black" panose="020B0A04020102020204" pitchFamily="34" charset="0"/>
              </a:rPr>
              <a:t>abstract_method</a:t>
            </a:r>
            <a:r>
              <a:rPr lang="en-US" sz="1400" b="0" i="0" dirty="0">
                <a:solidFill>
                  <a:srgbClr val="000000"/>
                </a:solidFill>
                <a:effectLst/>
                <a:latin typeface="Arial Black" panose="020B0A04020102020204" pitchFamily="34" charset="0"/>
              </a:rPr>
              <a:t>(self):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pass</a:t>
            </a:r>
            <a:endParaRPr lang="en-US" sz="1400"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1096717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49C95-3399-401F-8709-1895496B81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9C5AB3-ECA9-3B3C-E184-77126326FF35}"/>
              </a:ext>
            </a:extLst>
          </p:cNvPr>
          <p:cNvSpPr txBox="1"/>
          <p:nvPr/>
        </p:nvSpPr>
        <p:spPr>
          <a:xfrm>
            <a:off x="2742536" y="433137"/>
            <a:ext cx="5798447" cy="830997"/>
          </a:xfrm>
          <a:prstGeom prst="rect">
            <a:avLst/>
          </a:prstGeom>
          <a:noFill/>
        </p:spPr>
        <p:txBody>
          <a:bodyPr wrap="none" rtlCol="0">
            <a:spAutoFit/>
          </a:bodyPr>
          <a:lstStyle/>
          <a:p>
            <a:r>
              <a:rPr lang="en-US" sz="4800" b="0" i="0" dirty="0">
                <a:effectLst/>
                <a:latin typeface="YACkoOFEi8A 0"/>
              </a:rPr>
              <a:t>Operator Overloading:</a:t>
            </a:r>
            <a:endParaRPr lang="en-US" sz="4800" dirty="0">
              <a:latin typeface="YACkoOFEi8A 0"/>
            </a:endParaRPr>
          </a:p>
        </p:txBody>
      </p:sp>
      <p:sp>
        <p:nvSpPr>
          <p:cNvPr id="3" name="TextBox 2">
            <a:extLst>
              <a:ext uri="{FF2B5EF4-FFF2-40B4-BE49-F238E27FC236}">
                <a16:creationId xmlns:a16="http://schemas.microsoft.com/office/drawing/2014/main" id="{DDAF3DA7-07AA-A099-63E8-2E767DF3652A}"/>
              </a:ext>
            </a:extLst>
          </p:cNvPr>
          <p:cNvSpPr txBox="1"/>
          <p:nvPr/>
        </p:nvSpPr>
        <p:spPr>
          <a:xfrm>
            <a:off x="898358" y="1264134"/>
            <a:ext cx="9782935" cy="646331"/>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Operators like + can be redefined for user-defined objects.</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Allows the use of operators with user-defined meanings via magic methods.</a:t>
            </a:r>
            <a:endParaRPr lang="en-US" dirty="0">
              <a:solidFill>
                <a:srgbClr val="000000"/>
              </a:solidFill>
              <a:latin typeface="Arial Black" panose="020B0A04020102020204" pitchFamily="34" charset="0"/>
            </a:endParaRPr>
          </a:p>
        </p:txBody>
      </p:sp>
      <p:sp>
        <p:nvSpPr>
          <p:cNvPr id="4" name="TextBox 3">
            <a:extLst>
              <a:ext uri="{FF2B5EF4-FFF2-40B4-BE49-F238E27FC236}">
                <a16:creationId xmlns:a16="http://schemas.microsoft.com/office/drawing/2014/main" id="{89B68928-57BC-D9FD-537B-A327FEC744FD}"/>
              </a:ext>
            </a:extLst>
          </p:cNvPr>
          <p:cNvSpPr txBox="1"/>
          <p:nvPr/>
        </p:nvSpPr>
        <p:spPr>
          <a:xfrm>
            <a:off x="898358" y="2342147"/>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
        <p:nvSpPr>
          <p:cNvPr id="5" name="TextBox 4">
            <a:extLst>
              <a:ext uri="{FF2B5EF4-FFF2-40B4-BE49-F238E27FC236}">
                <a16:creationId xmlns:a16="http://schemas.microsoft.com/office/drawing/2014/main" id="{955478A9-8E88-CB0C-961D-CC56B64DFFB5}"/>
              </a:ext>
            </a:extLst>
          </p:cNvPr>
          <p:cNvSpPr txBox="1"/>
          <p:nvPr/>
        </p:nvSpPr>
        <p:spPr>
          <a:xfrm>
            <a:off x="1138989" y="3064042"/>
            <a:ext cx="4502771" cy="2677656"/>
          </a:xfrm>
          <a:prstGeom prst="rect">
            <a:avLst/>
          </a:prstGeom>
          <a:noFill/>
        </p:spPr>
        <p:txBody>
          <a:bodyPr wrap="none" rtlCol="0">
            <a:spAutoFit/>
          </a:bodyPr>
          <a:lstStyle/>
          <a:p>
            <a:r>
              <a:rPr lang="en-US" sz="1400" b="0" i="0" dirty="0">
                <a:solidFill>
                  <a:srgbClr val="000000"/>
                </a:solidFill>
                <a:effectLst/>
                <a:latin typeface="Arial Black" panose="020B0A04020102020204" pitchFamily="34" charset="0"/>
              </a:rPr>
              <a:t>class Point: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__</a:t>
            </a:r>
            <a:r>
              <a:rPr lang="en-US" sz="1400" b="0" i="0" dirty="0" err="1">
                <a:solidFill>
                  <a:srgbClr val="000000"/>
                </a:solidFill>
                <a:effectLst/>
                <a:latin typeface="Arial Black" panose="020B0A04020102020204" pitchFamily="34" charset="0"/>
              </a:rPr>
              <a:t>init</a:t>
            </a:r>
            <a:r>
              <a:rPr lang="en-US" sz="1400" b="0" i="0" dirty="0">
                <a:solidFill>
                  <a:srgbClr val="000000"/>
                </a:solidFill>
                <a:effectLst/>
                <a:latin typeface="Arial Black" panose="020B0A04020102020204" pitchFamily="34" charset="0"/>
              </a:rPr>
              <a:t>__(self, x, y):</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self.x</a:t>
            </a:r>
            <a:r>
              <a:rPr lang="en-US" sz="1400" b="0" i="0" dirty="0">
                <a:solidFill>
                  <a:srgbClr val="000000"/>
                </a:solidFill>
                <a:effectLst/>
                <a:latin typeface="Arial Black" panose="020B0A04020102020204" pitchFamily="34" charset="0"/>
              </a:rPr>
              <a:t> = x</a:t>
            </a:r>
            <a:br>
              <a:rPr lang="en-US" sz="1400" dirty="0">
                <a:solidFill>
                  <a:srgbClr val="000000"/>
                </a:solidFill>
                <a:latin typeface="Arial Black" panose="020B0A04020102020204" pitchFamily="34" charset="0"/>
              </a:rPr>
            </a:br>
            <a:r>
              <a:rPr lang="en-US" sz="1400" b="0" i="0" dirty="0" err="1">
                <a:solidFill>
                  <a:srgbClr val="000000"/>
                </a:solidFill>
                <a:effectLst/>
                <a:latin typeface="Arial Black" panose="020B0A04020102020204" pitchFamily="34" charset="0"/>
              </a:rPr>
              <a:t>self.y</a:t>
            </a:r>
            <a:r>
              <a:rPr lang="en-US" sz="1400" b="0" i="0" dirty="0">
                <a:solidFill>
                  <a:srgbClr val="000000"/>
                </a:solidFill>
                <a:effectLst/>
                <a:latin typeface="Arial Black" panose="020B0A04020102020204" pitchFamily="34" charset="0"/>
              </a:rPr>
              <a:t> = y</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__add__(self, other):</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return Point(</a:t>
            </a:r>
            <a:r>
              <a:rPr lang="en-US" sz="1400" b="0" i="0" dirty="0" err="1">
                <a:solidFill>
                  <a:srgbClr val="000000"/>
                </a:solidFill>
                <a:effectLst/>
                <a:latin typeface="Arial Black" panose="020B0A04020102020204" pitchFamily="34" charset="0"/>
              </a:rPr>
              <a:t>self.x</a:t>
            </a:r>
            <a:r>
              <a:rPr lang="en-US" sz="1400" b="0" i="0" dirty="0">
                <a:solidFill>
                  <a:srgbClr val="000000"/>
                </a:solidFill>
                <a:effectLst/>
                <a:latin typeface="Arial Black" panose="020B0A04020102020204" pitchFamily="34" charset="0"/>
              </a:rPr>
              <a:t> + </a:t>
            </a:r>
            <a:r>
              <a:rPr lang="en-US" sz="1400" b="0" i="0" dirty="0" err="1">
                <a:solidFill>
                  <a:srgbClr val="000000"/>
                </a:solidFill>
                <a:effectLst/>
                <a:latin typeface="Arial Black" panose="020B0A04020102020204" pitchFamily="34" charset="0"/>
              </a:rPr>
              <a:t>other.x</a:t>
            </a:r>
            <a:r>
              <a:rPr lang="en-US" sz="1400" b="0" i="0" dirty="0">
                <a:solidFill>
                  <a:srgbClr val="000000"/>
                </a:solidFill>
                <a:effectLst/>
                <a:latin typeface="Arial Black" panose="020B0A04020102020204" pitchFamily="34" charset="0"/>
              </a:rPr>
              <a:t>, </a:t>
            </a:r>
            <a:r>
              <a:rPr lang="en-US" sz="1400" b="0" i="0" dirty="0" err="1">
                <a:solidFill>
                  <a:srgbClr val="000000"/>
                </a:solidFill>
                <a:effectLst/>
                <a:latin typeface="Arial Black" panose="020B0A04020102020204" pitchFamily="34" charset="0"/>
              </a:rPr>
              <a:t>self.y</a:t>
            </a:r>
            <a:r>
              <a:rPr lang="en-US" sz="1400" b="0" i="0" dirty="0">
                <a:solidFill>
                  <a:srgbClr val="000000"/>
                </a:solidFill>
                <a:effectLst/>
                <a:latin typeface="Arial Black" panose="020B0A04020102020204" pitchFamily="34" charset="0"/>
              </a:rPr>
              <a:t> + </a:t>
            </a:r>
            <a:r>
              <a:rPr lang="en-US" sz="1400" b="0" i="0" dirty="0" err="1">
                <a:solidFill>
                  <a:srgbClr val="000000"/>
                </a:solidFill>
                <a:effectLst/>
                <a:latin typeface="Arial Black" panose="020B0A04020102020204" pitchFamily="34" charset="0"/>
              </a:rPr>
              <a:t>other.y</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p1 = Point(1, 2)</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p2 = Point(3, 4)</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p3 = p1 + p2</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print(p3.x, p3.y) # Output: 4 6</a:t>
            </a:r>
            <a:endParaRPr lang="en-US" sz="1400"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2618528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60CD-C190-FBA1-07B5-DBA98937E0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0018CA-33A9-68A5-E28C-CE9E922AEFD8}"/>
              </a:ext>
            </a:extLst>
          </p:cNvPr>
          <p:cNvSpPr txBox="1"/>
          <p:nvPr/>
        </p:nvSpPr>
        <p:spPr>
          <a:xfrm>
            <a:off x="3516883" y="433137"/>
            <a:ext cx="4249753" cy="830997"/>
          </a:xfrm>
          <a:prstGeom prst="rect">
            <a:avLst/>
          </a:prstGeom>
          <a:noFill/>
        </p:spPr>
        <p:txBody>
          <a:bodyPr wrap="none" rtlCol="0">
            <a:spAutoFit/>
          </a:bodyPr>
          <a:lstStyle/>
          <a:p>
            <a:r>
              <a:rPr lang="en-US" sz="4800" b="0" i="0" dirty="0">
                <a:effectLst/>
                <a:latin typeface="YACkoOFEi8A 0"/>
              </a:rPr>
              <a:t>Magic Methods:</a:t>
            </a:r>
            <a:endParaRPr lang="en-US" sz="4800" dirty="0">
              <a:latin typeface="YACkoOFEi8A 0"/>
            </a:endParaRPr>
          </a:p>
        </p:txBody>
      </p:sp>
      <p:sp>
        <p:nvSpPr>
          <p:cNvPr id="3" name="TextBox 2">
            <a:extLst>
              <a:ext uri="{FF2B5EF4-FFF2-40B4-BE49-F238E27FC236}">
                <a16:creationId xmlns:a16="http://schemas.microsoft.com/office/drawing/2014/main" id="{EE40EAC9-6BFD-823D-6722-F996DA7EFCEF}"/>
              </a:ext>
            </a:extLst>
          </p:cNvPr>
          <p:cNvSpPr txBox="1"/>
          <p:nvPr/>
        </p:nvSpPr>
        <p:spPr>
          <a:xfrm>
            <a:off x="898358" y="1264134"/>
            <a:ext cx="10784812" cy="923330"/>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Magic methods like __str__ customize behavior.</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Special methods that Python internally calls for operations (__</a:t>
            </a:r>
            <a:r>
              <a:rPr lang="en-US" b="0" i="0" dirty="0" err="1">
                <a:solidFill>
                  <a:srgbClr val="000000"/>
                </a:solidFill>
                <a:effectLst/>
                <a:latin typeface="Arial Black" panose="020B0A04020102020204" pitchFamily="34" charset="0"/>
              </a:rPr>
              <a:t>init</a:t>
            </a:r>
            <a:r>
              <a:rPr lang="en-US" b="0" i="0" dirty="0">
                <a:solidFill>
                  <a:srgbClr val="000000"/>
                </a:solidFill>
                <a:effectLst/>
                <a:latin typeface="Arial Black" panose="020B0A04020102020204" pitchFamily="34" charset="0"/>
              </a:rPr>
              <a:t>__, __str__, __</a:t>
            </a:r>
            <a:r>
              <a:rPr lang="en-US" b="0" i="0" dirty="0" err="1">
                <a:solidFill>
                  <a:srgbClr val="000000"/>
                </a:solidFill>
                <a:effectLst/>
                <a:latin typeface="Arial Black" panose="020B0A04020102020204" pitchFamily="34" charset="0"/>
              </a:rPr>
              <a:t>len</a:t>
            </a:r>
            <a:r>
              <a:rPr lang="en-US" b="0" i="0" dirty="0">
                <a:solidFill>
                  <a:srgbClr val="000000"/>
                </a:solidFill>
                <a:effectLst/>
                <a:latin typeface="Arial Black" panose="020B0A04020102020204" pitchFamily="34" charset="0"/>
              </a:rPr>
              <a:t>__, </a:t>
            </a:r>
          </a:p>
          <a:p>
            <a:r>
              <a:rPr lang="en-US" b="0" i="0" dirty="0">
                <a:solidFill>
                  <a:srgbClr val="000000"/>
                </a:solidFill>
                <a:effectLst/>
                <a:latin typeface="Arial Black" panose="020B0A04020102020204" pitchFamily="34" charset="0"/>
              </a:rPr>
              <a:t>__</a:t>
            </a:r>
            <a:r>
              <a:rPr lang="en-US" b="0" i="0" dirty="0" err="1">
                <a:solidFill>
                  <a:srgbClr val="000000"/>
                </a:solidFill>
                <a:effectLst/>
                <a:latin typeface="Arial Black" panose="020B0A04020102020204" pitchFamily="34" charset="0"/>
              </a:rPr>
              <a:t>getitem</a:t>
            </a:r>
            <a:r>
              <a:rPr lang="en-US" b="0" i="0" dirty="0">
                <a:solidFill>
                  <a:srgbClr val="000000"/>
                </a:solidFill>
                <a:effectLst/>
                <a:latin typeface="Arial Black" panose="020B0A04020102020204" pitchFamily="34" charset="0"/>
              </a:rPr>
              <a:t>__).</a:t>
            </a:r>
            <a:endParaRPr lang="en-US" dirty="0">
              <a:solidFill>
                <a:srgbClr val="000000"/>
              </a:solidFill>
              <a:latin typeface="Arial Black" panose="020B0A04020102020204" pitchFamily="34" charset="0"/>
            </a:endParaRPr>
          </a:p>
        </p:txBody>
      </p:sp>
      <p:sp>
        <p:nvSpPr>
          <p:cNvPr id="4" name="TextBox 3">
            <a:extLst>
              <a:ext uri="{FF2B5EF4-FFF2-40B4-BE49-F238E27FC236}">
                <a16:creationId xmlns:a16="http://schemas.microsoft.com/office/drawing/2014/main" id="{145861A2-1AC4-CBF8-39D1-0C7876A24EAD}"/>
              </a:ext>
            </a:extLst>
          </p:cNvPr>
          <p:cNvSpPr txBox="1"/>
          <p:nvPr/>
        </p:nvSpPr>
        <p:spPr>
          <a:xfrm>
            <a:off x="898358" y="2342147"/>
            <a:ext cx="1398140" cy="400110"/>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p:txBody>
      </p:sp>
      <p:sp>
        <p:nvSpPr>
          <p:cNvPr id="5" name="TextBox 4">
            <a:extLst>
              <a:ext uri="{FF2B5EF4-FFF2-40B4-BE49-F238E27FC236}">
                <a16:creationId xmlns:a16="http://schemas.microsoft.com/office/drawing/2014/main" id="{19EB5EC1-4849-0A96-1E7C-38AAA6C40BF4}"/>
              </a:ext>
            </a:extLst>
          </p:cNvPr>
          <p:cNvSpPr txBox="1"/>
          <p:nvPr/>
        </p:nvSpPr>
        <p:spPr>
          <a:xfrm>
            <a:off x="1138989" y="3064042"/>
            <a:ext cx="5039906" cy="2031325"/>
          </a:xfrm>
          <a:prstGeom prst="rect">
            <a:avLst/>
          </a:prstGeom>
          <a:noFill/>
        </p:spPr>
        <p:txBody>
          <a:bodyPr wrap="none" rtlCol="0">
            <a:spAutoFit/>
          </a:bodyPr>
          <a:lstStyle/>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Person:</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__</a:t>
            </a:r>
            <a:r>
              <a:rPr lang="en-US" sz="1400" b="0" i="0" dirty="0" err="1">
                <a:solidFill>
                  <a:srgbClr val="000000"/>
                </a:solidFill>
                <a:effectLst/>
                <a:latin typeface="Arial Black" panose="020B0A04020102020204" pitchFamily="34" charset="0"/>
              </a:rPr>
              <a:t>init</a:t>
            </a:r>
            <a:r>
              <a:rPr lang="en-US" sz="1400" b="0" i="0" dirty="0">
                <a:solidFill>
                  <a:srgbClr val="000000"/>
                </a:solidFill>
                <a:effectLst/>
                <a:latin typeface="Arial Black" panose="020B0A04020102020204" pitchFamily="34" charset="0"/>
              </a:rPr>
              <a:t>__(self, name):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self.name</a:t>
            </a:r>
            <a:r>
              <a:rPr lang="en-US" sz="1400" b="0" i="0" dirty="0">
                <a:solidFill>
                  <a:srgbClr val="000000"/>
                </a:solidFill>
                <a:effectLst/>
                <a:latin typeface="Arial Black" panose="020B0A04020102020204" pitchFamily="34" charset="0"/>
              </a:rPr>
              <a:t> = name</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def __str__(self):</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return </a:t>
            </a:r>
            <a:r>
              <a:rPr lang="en-US" sz="1400" b="0" i="0" dirty="0" err="1">
                <a:solidFill>
                  <a:srgbClr val="000000"/>
                </a:solidFill>
                <a:effectLst/>
                <a:latin typeface="Arial Black" panose="020B0A04020102020204" pitchFamily="34" charset="0"/>
              </a:rPr>
              <a:t>f"Person</a:t>
            </a:r>
            <a:r>
              <a:rPr lang="en-US" sz="1400" b="0" i="0" dirty="0">
                <a:solidFill>
                  <a:srgbClr val="000000"/>
                </a:solidFill>
                <a:effectLst/>
                <a:latin typeface="Arial Black" panose="020B0A04020102020204" pitchFamily="34" charset="0"/>
              </a:rPr>
              <a:t>({</a:t>
            </a:r>
            <a:r>
              <a:rPr lang="en-US" sz="1400" b="0" i="0" dirty="0">
                <a:solidFill>
                  <a:srgbClr val="00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self.name</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print(str(Person("Alice"))) # Output: Person(Alice)</a:t>
            </a:r>
            <a:endParaRPr lang="en-US" sz="1400"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2783017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258E43-EA90-9DEA-AA9F-0498E0AD8EF0}"/>
              </a:ext>
            </a:extLst>
          </p:cNvPr>
          <p:cNvSpPr txBox="1"/>
          <p:nvPr/>
        </p:nvSpPr>
        <p:spPr>
          <a:xfrm>
            <a:off x="3604228" y="240632"/>
            <a:ext cx="5148654" cy="830997"/>
          </a:xfrm>
          <a:prstGeom prst="rect">
            <a:avLst/>
          </a:prstGeom>
          <a:noFill/>
        </p:spPr>
        <p:txBody>
          <a:bodyPr wrap="none" rtlCol="0">
            <a:spAutoFit/>
          </a:bodyPr>
          <a:lstStyle/>
          <a:p>
            <a:r>
              <a:rPr lang="en-US" sz="4800" b="0" i="0" dirty="0">
                <a:effectLst/>
                <a:latin typeface="YACkoOFEi8A 0"/>
              </a:rPr>
              <a:t>Exception Handling:</a:t>
            </a:r>
            <a:endParaRPr lang="en-US" sz="4800" dirty="0">
              <a:latin typeface="YACkoOFEi8A 0"/>
            </a:endParaRPr>
          </a:p>
        </p:txBody>
      </p:sp>
      <p:sp>
        <p:nvSpPr>
          <p:cNvPr id="3" name="TextBox 2">
            <a:extLst>
              <a:ext uri="{FF2B5EF4-FFF2-40B4-BE49-F238E27FC236}">
                <a16:creationId xmlns:a16="http://schemas.microsoft.com/office/drawing/2014/main" id="{B48D742E-ECCB-76F7-EFB6-8B15FDA80A07}"/>
              </a:ext>
            </a:extLst>
          </p:cNvPr>
          <p:cNvSpPr txBox="1"/>
          <p:nvPr/>
        </p:nvSpPr>
        <p:spPr>
          <a:xfrm>
            <a:off x="850232" y="1315453"/>
            <a:ext cx="7170424" cy="369332"/>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Managing runtime errors using try, except, else, finally.</a:t>
            </a:r>
            <a:endParaRPr lang="en-US" dirty="0">
              <a:solidFill>
                <a:srgbClr val="000000"/>
              </a:solidFill>
              <a:latin typeface="Arial Black" panose="020B0A04020102020204" pitchFamily="34" charset="0"/>
            </a:endParaRPr>
          </a:p>
        </p:txBody>
      </p:sp>
      <p:sp>
        <p:nvSpPr>
          <p:cNvPr id="4" name="TextBox 3">
            <a:extLst>
              <a:ext uri="{FF2B5EF4-FFF2-40B4-BE49-F238E27FC236}">
                <a16:creationId xmlns:a16="http://schemas.microsoft.com/office/drawing/2014/main" id="{9A743E6B-0EA8-DBD5-9FF0-81524EC9D16E}"/>
              </a:ext>
            </a:extLst>
          </p:cNvPr>
          <p:cNvSpPr txBox="1"/>
          <p:nvPr/>
        </p:nvSpPr>
        <p:spPr>
          <a:xfrm>
            <a:off x="850232" y="2557114"/>
            <a:ext cx="3699603" cy="2985433"/>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a:p>
            <a:r>
              <a:rPr lang="en-US" sz="1400" b="0" i="0" dirty="0">
                <a:solidFill>
                  <a:srgbClr val="000000"/>
                </a:solidFill>
                <a:effectLst/>
                <a:latin typeface="Arial Black" panose="020B0A04020102020204" pitchFamily="34" charset="0"/>
              </a:rPr>
              <a:t>try:</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x = 10 / 0</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except </a:t>
            </a:r>
            <a:r>
              <a:rPr lang="en-US" sz="1400" b="0" i="0" dirty="0" err="1">
                <a:solidFill>
                  <a:srgbClr val="000000"/>
                </a:solidFill>
                <a:effectLst/>
                <a:latin typeface="Arial Black" panose="020B0A04020102020204" pitchFamily="34" charset="0"/>
              </a:rPr>
              <a:t>ZeroDivisionError</a:t>
            </a:r>
            <a:r>
              <a:rPr lang="en-US" sz="1400" b="0" i="0" dirty="0">
                <a:solidFill>
                  <a:srgbClr val="000000"/>
                </a:solidFill>
                <a:effectLst/>
                <a:latin typeface="Arial Black" panose="020B0A04020102020204" pitchFamily="34" charset="0"/>
              </a:rPr>
              <a:t> as 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print("Error:", e)</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finally:</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print("Execution Complete")</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try:</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num = int(input("Enter a number: "))</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f"You</a:t>
            </a:r>
            <a:r>
              <a:rPr lang="en-US" sz="1400" b="0" i="0" dirty="0">
                <a:solidFill>
                  <a:srgbClr val="000000"/>
                </a:solidFill>
                <a:effectLst/>
                <a:latin typeface="Arial Black" panose="020B0A04020102020204" pitchFamily="34" charset="0"/>
              </a:rPr>
              <a:t> entered: {num}")</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except </a:t>
            </a:r>
            <a:r>
              <a:rPr lang="en-US" sz="1400" b="0" i="0" dirty="0" err="1">
                <a:solidFill>
                  <a:srgbClr val="000000"/>
                </a:solidFill>
                <a:effectLst/>
                <a:latin typeface="Arial Black" panose="020B0A04020102020204" pitchFamily="34" charset="0"/>
              </a:rPr>
              <a:t>ValueError</a:t>
            </a:r>
            <a:r>
              <a:rPr lang="en-US" sz="1400" b="0" i="0" dirty="0">
                <a:solidFill>
                  <a:srgbClr val="000000"/>
                </a:solidFill>
                <a:effectLst/>
                <a:latin typeface="Arial Black" panose="020B0A04020102020204" pitchFamily="34" charset="0"/>
              </a:rPr>
              <a:t>:</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print("That's not a valid number!")</a:t>
            </a:r>
            <a:endParaRPr lang="en-US" sz="1400" dirty="0">
              <a:solidFill>
                <a:srgbClr val="000000"/>
              </a:solidFill>
              <a:latin typeface="Arial Black" panose="020B0A04020102020204" pitchFamily="34" charset="0"/>
            </a:endParaRPr>
          </a:p>
        </p:txBody>
      </p:sp>
    </p:spTree>
    <p:extLst>
      <p:ext uri="{BB962C8B-B14F-4D97-AF65-F5344CB8AC3E}">
        <p14:creationId xmlns:p14="http://schemas.microsoft.com/office/powerpoint/2010/main" val="859909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DE82299-B32A-CBA8-E717-625BED6A72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3972D9-31B1-FF72-156E-B7D652D4BC5C}"/>
              </a:ext>
            </a:extLst>
          </p:cNvPr>
          <p:cNvSpPr txBox="1"/>
          <p:nvPr/>
        </p:nvSpPr>
        <p:spPr>
          <a:xfrm>
            <a:off x="3289443" y="478213"/>
            <a:ext cx="6013185" cy="830997"/>
          </a:xfrm>
          <a:prstGeom prst="rect">
            <a:avLst/>
          </a:prstGeom>
          <a:noFill/>
        </p:spPr>
        <p:txBody>
          <a:bodyPr wrap="none" rtlCol="0">
            <a:spAutoFit/>
          </a:bodyPr>
          <a:lstStyle/>
          <a:p>
            <a:r>
              <a:rPr lang="en-US" sz="4800" b="0" i="0" dirty="0">
                <a:effectLst/>
                <a:latin typeface="YACkoOFEi8A 0"/>
              </a:rPr>
              <a:t>Modules and Packages:</a:t>
            </a:r>
            <a:endParaRPr lang="en-US" sz="4800" dirty="0">
              <a:latin typeface="YACkoOFEi8A 0"/>
            </a:endParaRPr>
          </a:p>
        </p:txBody>
      </p:sp>
      <p:sp>
        <p:nvSpPr>
          <p:cNvPr id="3" name="TextBox 2">
            <a:extLst>
              <a:ext uri="{FF2B5EF4-FFF2-40B4-BE49-F238E27FC236}">
                <a16:creationId xmlns:a16="http://schemas.microsoft.com/office/drawing/2014/main" id="{307AC891-93E7-6182-9302-C3F57C6F79EE}"/>
              </a:ext>
            </a:extLst>
          </p:cNvPr>
          <p:cNvSpPr txBox="1"/>
          <p:nvPr/>
        </p:nvSpPr>
        <p:spPr>
          <a:xfrm>
            <a:off x="705852" y="1309210"/>
            <a:ext cx="11476668" cy="1477328"/>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Modules: Individual Python files containing classes and functions. File containing Python </a:t>
            </a:r>
          </a:p>
          <a:p>
            <a:r>
              <a:rPr lang="en-US" b="0" i="0" dirty="0">
                <a:solidFill>
                  <a:srgbClr val="000000"/>
                </a:solidFill>
                <a:effectLst/>
                <a:latin typeface="Arial Black" panose="020B0A04020102020204" pitchFamily="34" charset="0"/>
              </a:rPr>
              <a:t>code (math, </a:t>
            </a:r>
            <a:r>
              <a:rPr lang="en-US" b="0" i="0" dirty="0" err="1">
                <a:solidFill>
                  <a:srgbClr val="000000"/>
                </a:solidFill>
                <a:effectLst/>
                <a:latin typeface="Arial Black" panose="020B0A04020102020204" pitchFamily="34" charset="0"/>
              </a:rPr>
              <a:t>os</a:t>
            </a:r>
            <a:r>
              <a:rPr lang="en-US" b="0" i="0" dirty="0">
                <a:solidFill>
                  <a:srgbClr val="000000"/>
                </a:solidFill>
                <a:effectLst/>
                <a:latin typeface="Arial Black" panose="020B0A04020102020204" pitchFamily="34" charset="0"/>
              </a:rPr>
              <a:t>, or your custom module)</a:t>
            </a:r>
            <a:br>
              <a:rPr lang="en-US" dirty="0">
                <a:solidFill>
                  <a:srgbClr val="000000"/>
                </a:solidFill>
                <a:latin typeface="Arial Black" panose="020B0A04020102020204" pitchFamily="34" charset="0"/>
              </a:rPr>
            </a:b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Packages: Directories containing multiple modules with an </a:t>
            </a:r>
            <a:r>
              <a:rPr lang="en-US" b="0" i="0" dirty="0">
                <a:solidFill>
                  <a:srgbClr val="00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__init__.py</a:t>
            </a:r>
            <a:r>
              <a:rPr lang="en-US" b="0" i="0" dirty="0">
                <a:solidFill>
                  <a:srgbClr val="000000"/>
                </a:solidFill>
                <a:effectLst/>
                <a:latin typeface="Arial Black" panose="020B0A04020102020204" pitchFamily="34" charset="0"/>
              </a:rPr>
              <a:t> file.</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Directory containing </a:t>
            </a:r>
            <a:r>
              <a:rPr lang="en-US" b="0" i="0" dirty="0">
                <a:solidFill>
                  <a:srgbClr val="00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__init__.py</a:t>
            </a:r>
            <a:r>
              <a:rPr lang="en-US" b="0" i="0" dirty="0">
                <a:solidFill>
                  <a:srgbClr val="000000"/>
                </a:solidFill>
                <a:effectLst/>
                <a:latin typeface="Arial Black" panose="020B0A04020102020204" pitchFamily="34" charset="0"/>
              </a:rPr>
              <a:t>.</a:t>
            </a:r>
            <a:endParaRPr lang="en-US" dirty="0">
              <a:solidFill>
                <a:srgbClr val="000000"/>
              </a:solidFill>
              <a:latin typeface="Arial Black" panose="020B0A04020102020204" pitchFamily="34" charset="0"/>
            </a:endParaRPr>
          </a:p>
        </p:txBody>
      </p:sp>
      <p:sp>
        <p:nvSpPr>
          <p:cNvPr id="4" name="TextBox 3">
            <a:extLst>
              <a:ext uri="{FF2B5EF4-FFF2-40B4-BE49-F238E27FC236}">
                <a16:creationId xmlns:a16="http://schemas.microsoft.com/office/drawing/2014/main" id="{788F4C1E-E2EA-4151-429D-8D4F282D6572}"/>
              </a:ext>
            </a:extLst>
          </p:cNvPr>
          <p:cNvSpPr txBox="1"/>
          <p:nvPr/>
        </p:nvSpPr>
        <p:spPr>
          <a:xfrm>
            <a:off x="3822429" y="3013502"/>
            <a:ext cx="3585533" cy="830997"/>
          </a:xfrm>
          <a:prstGeom prst="rect">
            <a:avLst/>
          </a:prstGeom>
          <a:noFill/>
        </p:spPr>
        <p:txBody>
          <a:bodyPr wrap="none" rtlCol="0">
            <a:spAutoFit/>
          </a:bodyPr>
          <a:lstStyle/>
          <a:p>
            <a:r>
              <a:rPr lang="en-US" sz="4800" b="0" i="0" dirty="0">
                <a:effectLst/>
                <a:latin typeface="YACkoOFEi8A 0"/>
              </a:rPr>
              <a:t>Enumeration:</a:t>
            </a:r>
            <a:endParaRPr lang="en-US" sz="4800" dirty="0">
              <a:latin typeface="YACkoOFEi8A 0"/>
            </a:endParaRPr>
          </a:p>
        </p:txBody>
      </p:sp>
      <p:sp>
        <p:nvSpPr>
          <p:cNvPr id="5" name="TextBox 4">
            <a:extLst>
              <a:ext uri="{FF2B5EF4-FFF2-40B4-BE49-F238E27FC236}">
                <a16:creationId xmlns:a16="http://schemas.microsoft.com/office/drawing/2014/main" id="{5B4032E7-E518-03ED-F759-7C839AC46639}"/>
              </a:ext>
            </a:extLst>
          </p:cNvPr>
          <p:cNvSpPr txBox="1"/>
          <p:nvPr/>
        </p:nvSpPr>
        <p:spPr>
          <a:xfrm>
            <a:off x="705852" y="3840630"/>
            <a:ext cx="9620711" cy="646331"/>
          </a:xfrm>
          <a:prstGeom prst="rect">
            <a:avLst/>
          </a:prstGeom>
          <a:noFill/>
        </p:spPr>
        <p:txBody>
          <a:bodyPr wrap="none" rtlCol="0">
            <a:spAutoFit/>
          </a:bodyPr>
          <a:lstStyle/>
          <a:p>
            <a:r>
              <a:rPr lang="en-US" b="0" i="0" dirty="0">
                <a:solidFill>
                  <a:srgbClr val="000000"/>
                </a:solidFill>
                <a:effectLst/>
                <a:latin typeface="Arial Black" panose="020B0A04020102020204" pitchFamily="34" charset="0"/>
              </a:rPr>
              <a:t>Defines named constants in a class-like structure using the </a:t>
            </a:r>
            <a:r>
              <a:rPr lang="en-US" b="0" i="0" dirty="0" err="1">
                <a:solidFill>
                  <a:srgbClr val="000000"/>
                </a:solidFill>
                <a:effectLst/>
                <a:latin typeface="Arial Black" panose="020B0A04020102020204" pitchFamily="34" charset="0"/>
              </a:rPr>
              <a:t>enum</a:t>
            </a:r>
            <a:r>
              <a:rPr lang="en-US" b="0" i="0" dirty="0">
                <a:solidFill>
                  <a:srgbClr val="000000"/>
                </a:solidFill>
                <a:effectLst/>
                <a:latin typeface="Arial Black" panose="020B0A04020102020204" pitchFamily="34" charset="0"/>
              </a:rPr>
              <a:t> module. </a:t>
            </a:r>
            <a:br>
              <a:rPr lang="en-US" dirty="0">
                <a:solidFill>
                  <a:srgbClr val="000000"/>
                </a:solidFill>
                <a:latin typeface="Arial Black" panose="020B0A04020102020204" pitchFamily="34" charset="0"/>
              </a:rPr>
            </a:br>
            <a:r>
              <a:rPr lang="en-US" b="0" i="0" dirty="0">
                <a:solidFill>
                  <a:srgbClr val="000000"/>
                </a:solidFill>
                <a:effectLst/>
                <a:latin typeface="Arial Black" panose="020B0A04020102020204" pitchFamily="34" charset="0"/>
              </a:rPr>
              <a:t>Used to create named constants.</a:t>
            </a:r>
            <a:endParaRPr lang="en-US" dirty="0">
              <a:solidFill>
                <a:srgbClr val="000000"/>
              </a:solidFill>
              <a:latin typeface="Arial Black" panose="020B0A04020102020204" pitchFamily="34" charset="0"/>
            </a:endParaRPr>
          </a:p>
        </p:txBody>
      </p:sp>
      <p:sp>
        <p:nvSpPr>
          <p:cNvPr id="6" name="TextBox 5">
            <a:extLst>
              <a:ext uri="{FF2B5EF4-FFF2-40B4-BE49-F238E27FC236}">
                <a16:creationId xmlns:a16="http://schemas.microsoft.com/office/drawing/2014/main" id="{402EBA49-636E-540E-C9CE-80AE898B7219}"/>
              </a:ext>
            </a:extLst>
          </p:cNvPr>
          <p:cNvSpPr txBox="1"/>
          <p:nvPr/>
        </p:nvSpPr>
        <p:spPr>
          <a:xfrm>
            <a:off x="734961" y="4734342"/>
            <a:ext cx="2554482" cy="2123658"/>
          </a:xfrm>
          <a:prstGeom prst="rect">
            <a:avLst/>
          </a:prstGeom>
          <a:noFill/>
        </p:spPr>
        <p:txBody>
          <a:bodyPr wrap="none" rtlCol="0">
            <a:spAutoFit/>
          </a:bodyPr>
          <a:lstStyle/>
          <a:p>
            <a:r>
              <a:rPr lang="en-US" sz="2000" dirty="0">
                <a:solidFill>
                  <a:srgbClr val="000000"/>
                </a:solidFill>
                <a:latin typeface="Arial Black" panose="020B0A04020102020204" pitchFamily="34" charset="0"/>
              </a:rPr>
              <a:t>Example</a:t>
            </a:r>
          </a:p>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from </a:t>
            </a:r>
            <a:r>
              <a:rPr lang="en-US" sz="1400" b="0" i="0" dirty="0" err="1">
                <a:solidFill>
                  <a:srgbClr val="000000"/>
                </a:solidFill>
                <a:effectLst/>
                <a:latin typeface="Arial Black" panose="020B0A04020102020204" pitchFamily="34" charset="0"/>
              </a:rPr>
              <a:t>enum</a:t>
            </a:r>
            <a:r>
              <a:rPr lang="en-US" sz="1400" b="0" i="0" dirty="0">
                <a:solidFill>
                  <a:srgbClr val="000000"/>
                </a:solidFill>
                <a:effectLst/>
                <a:latin typeface="Arial Black" panose="020B0A04020102020204" pitchFamily="34" charset="0"/>
              </a:rPr>
              <a:t> import Enum</a:t>
            </a:r>
            <a:br>
              <a:rPr lang="en-US" sz="1400" dirty="0">
                <a:solidFill>
                  <a:srgbClr val="000000"/>
                </a:solidFill>
                <a:latin typeface="Arial Black" panose="020B0A04020102020204" pitchFamily="34" charset="0"/>
              </a:rPr>
            </a:b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class Color(Enum):</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RED = 1</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BLUE = 2</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GREEN = 3</a:t>
            </a:r>
            <a:br>
              <a:rPr lang="en-US" sz="1400" dirty="0">
                <a:solidFill>
                  <a:srgbClr val="000000"/>
                </a:solidFill>
                <a:latin typeface="Arial Black" panose="020B0A04020102020204" pitchFamily="34" charset="0"/>
              </a:rPr>
            </a:br>
            <a:endParaRPr lang="en-US" sz="1400" dirty="0">
              <a:solidFill>
                <a:srgbClr val="000000"/>
              </a:solidFill>
              <a:latin typeface="Arial Black" panose="020B0A04020102020204" pitchFamily="34" charset="0"/>
            </a:endParaRPr>
          </a:p>
        </p:txBody>
      </p:sp>
      <p:sp>
        <p:nvSpPr>
          <p:cNvPr id="7" name="TextBox 6">
            <a:extLst>
              <a:ext uri="{FF2B5EF4-FFF2-40B4-BE49-F238E27FC236}">
                <a16:creationId xmlns:a16="http://schemas.microsoft.com/office/drawing/2014/main" id="{C8E91319-343A-E888-9E00-AF19F8A79F9F}"/>
              </a:ext>
            </a:extLst>
          </p:cNvPr>
          <p:cNvSpPr txBox="1"/>
          <p:nvPr/>
        </p:nvSpPr>
        <p:spPr>
          <a:xfrm>
            <a:off x="4548923" y="5071736"/>
            <a:ext cx="3790525" cy="954107"/>
          </a:xfrm>
          <a:prstGeom prst="rect">
            <a:avLst/>
          </a:prstGeom>
          <a:noFill/>
        </p:spPr>
        <p:txBody>
          <a:bodyPr wrap="none" rtlCol="0">
            <a:spAutoFit/>
          </a:bodyPr>
          <a:lstStyle/>
          <a:p>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Color.RED</a:t>
            </a:r>
            <a:r>
              <a:rPr lang="en-US" sz="1400" b="0" i="0" dirty="0">
                <a:solidFill>
                  <a:srgbClr val="000000"/>
                </a:solidFill>
                <a:effectLst/>
                <a:latin typeface="Arial Black" panose="020B0A04020102020204" pitchFamily="34" charset="0"/>
              </a:rPr>
              <a:t>) # Output: </a:t>
            </a:r>
            <a:r>
              <a:rPr lang="en-US" sz="1400" b="0" i="0" dirty="0" err="1">
                <a:solidFill>
                  <a:srgbClr val="000000"/>
                </a:solidFill>
                <a:effectLst/>
                <a:latin typeface="Arial Black" panose="020B0A04020102020204" pitchFamily="34" charset="0"/>
              </a:rPr>
              <a:t>Color.RED</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print(Color.RED.name) # Output: RED</a:t>
            </a:r>
            <a:br>
              <a:rPr lang="en-US" sz="1400" dirty="0">
                <a:solidFill>
                  <a:srgbClr val="000000"/>
                </a:solidFill>
                <a:latin typeface="Arial Black" panose="020B0A04020102020204" pitchFamily="34" charset="0"/>
              </a:rPr>
            </a:br>
            <a:r>
              <a:rPr lang="en-US" sz="1400" b="0" i="0" dirty="0">
                <a:solidFill>
                  <a:srgbClr val="000000"/>
                </a:solidFill>
                <a:effectLst/>
                <a:latin typeface="Arial Black" panose="020B0A04020102020204" pitchFamily="34" charset="0"/>
              </a:rPr>
              <a:t>print(</a:t>
            </a:r>
            <a:r>
              <a:rPr lang="en-US" sz="1400" b="0" i="0" dirty="0" err="1">
                <a:solidFill>
                  <a:srgbClr val="000000"/>
                </a:solidFill>
                <a:effectLst/>
                <a:latin typeface="Arial Black" panose="020B0A04020102020204" pitchFamily="34" charset="0"/>
              </a:rPr>
              <a:t>Color.RED.value</a:t>
            </a:r>
            <a:r>
              <a:rPr lang="en-US" sz="1400" b="0" i="0" dirty="0">
                <a:solidFill>
                  <a:srgbClr val="000000"/>
                </a:solidFill>
                <a:effectLst/>
                <a:latin typeface="Arial Black" panose="020B0A04020102020204" pitchFamily="34" charset="0"/>
              </a:rPr>
              <a:t>) # Output: 1</a:t>
            </a:r>
            <a:endParaRPr lang="en-US" sz="1400" dirty="0"/>
          </a:p>
        </p:txBody>
      </p:sp>
    </p:spTree>
    <p:extLst>
      <p:ext uri="{BB962C8B-B14F-4D97-AF65-F5344CB8AC3E}">
        <p14:creationId xmlns:p14="http://schemas.microsoft.com/office/powerpoint/2010/main" val="313751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3558209" y="1749287"/>
            <a:ext cx="5834269" cy="2057400"/>
          </a:xfrm>
        </p:spPr>
        <p:txBody>
          <a:bodyPr/>
          <a:lstStyle/>
          <a:p>
            <a:r>
              <a:rPr lang="en-US" sz="7200"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{A3F17091-DAFF-4227-BDAE-FC1FB5580122}tf11964407_win32</Template>
  <TotalTime>140</TotalTime>
  <Words>1739</Words>
  <Application>Microsoft Office PowerPoint</Application>
  <PresentationFormat>Widescreen</PresentationFormat>
  <Paragraphs>131</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 Black</vt:lpstr>
      <vt:lpstr>Calibri</vt:lpstr>
      <vt:lpstr>Courier New</vt:lpstr>
      <vt:lpstr>Gill Sans Nova Light</vt:lpstr>
      <vt:lpstr>Sagona Book</vt:lpstr>
      <vt:lpstr>YACkoOFEi8A 0</vt:lpstr>
      <vt:lpstr>Custom</vt:lpstr>
      <vt:lpstr>Unit 5: Object-oriented Programming</vt:lpstr>
      <vt:lpstr>PowerPoint Presentation</vt:lpstr>
      <vt:lpstr>Classes and Objects:  </vt:lpstr>
      <vt:lpstr>Encapsulation  </vt:lpstr>
      <vt:lpstr>Inheritance:  </vt:lpstr>
      <vt:lpstr>Polymorphism:  </vt:lpstr>
      <vt:lpstr>Abstraction: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Avishek Bista</dc:creator>
  <cp:lastModifiedBy>Avishek Bista</cp:lastModifiedBy>
  <cp:revision>4</cp:revision>
  <dcterms:created xsi:type="dcterms:W3CDTF">2025-01-23T15:50:40Z</dcterms:created>
  <dcterms:modified xsi:type="dcterms:W3CDTF">2025-01-24T15:32:31Z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