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947275"/>
  <p:embeddedFontLs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39">
          <p15:clr>
            <a:srgbClr val="A4A3A4"/>
          </p15:clr>
        </p15:guide>
        <p15:guide id="2" pos="5247">
          <p15:clr>
            <a:srgbClr val="A4A3A4"/>
          </p15:clr>
        </p15:guide>
      </p15:sldGuideLst>
    </p:ext>
    <p:ext uri="{2D200454-40CA-4A62-9FC3-DE9A4176ACB9}">
      <p15:notesGuideLst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3" roundtripDataSignature="AMtx7mgeNQqgG4UgU+eiHWj+0lI//czZ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39" orient="horz"/>
        <p:guide pos="5247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33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6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21" Type="http://schemas.openxmlformats.org/officeDocument/2006/relationships/font" Target="fonts/Poppi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2" type="sldNum"/>
          </p:nvPr>
        </p:nvSpPr>
        <p:spPr>
          <a:xfrm>
            <a:off x="6022876" y="9449911"/>
            <a:ext cx="835124" cy="497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14300" y="746125"/>
            <a:ext cx="6629400" cy="3730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/>
          <p:nvPr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270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Google Shape;15;p15"/>
          <p:cNvSpPr txBox="1"/>
          <p:nvPr>
            <p:ph idx="12" type="sldNum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5"/>
          <p:cNvSpPr/>
          <p:nvPr/>
        </p:nvSpPr>
        <p:spPr>
          <a:xfrm>
            <a:off x="0" y="0"/>
            <a:ext cx="9144000" cy="2193079"/>
          </a:xfrm>
          <a:prstGeom prst="rect">
            <a:avLst/>
          </a:prstGeom>
          <a:solidFill>
            <a:srgbClr val="005E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Google Shape;17;p15"/>
          <p:cNvSpPr txBox="1"/>
          <p:nvPr>
            <p:ph type="ctrTitle"/>
          </p:nvPr>
        </p:nvSpPr>
        <p:spPr>
          <a:xfrm>
            <a:off x="828675" y="2457907"/>
            <a:ext cx="7500939" cy="4161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"/>
              <a:buNone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subTitle"/>
          </p:nvPr>
        </p:nvSpPr>
        <p:spPr>
          <a:xfrm>
            <a:off x="828675" y="2892920"/>
            <a:ext cx="7500938" cy="27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1417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0" sz="16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1134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134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134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134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2" type="body"/>
          </p:nvPr>
        </p:nvSpPr>
        <p:spPr>
          <a:xfrm>
            <a:off x="828675" y="3352888"/>
            <a:ext cx="4679325" cy="7133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  <a:defRPr sz="1600">
                <a:solidFill>
                  <a:srgbClr val="005EA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spcBef>
                <a:spcPts val="567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SzPts val="1400"/>
              <a:buChar char="‒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SzPts val="1400"/>
              <a:buChar char="»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475" y="4626026"/>
            <a:ext cx="1873076" cy="374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608" y="260099"/>
            <a:ext cx="3816927" cy="763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20pt">
  <p:cSld name="Title &amp; Content 20p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828679" y="270000"/>
            <a:ext cx="7500939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828675" y="1410806"/>
            <a:ext cx="7500938" cy="3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spcBef>
                <a:spcPts val="1134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134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134"/>
              </a:spcBef>
              <a:spcAft>
                <a:spcPts val="0"/>
              </a:spcAft>
              <a:buSzPts val="1800"/>
              <a:buChar char="‒"/>
              <a:defRPr/>
            </a:lvl4pPr>
            <a:lvl5pPr indent="-342900" lvl="4" marL="2286000" algn="l">
              <a:spcBef>
                <a:spcPts val="1134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2" type="body"/>
          </p:nvPr>
        </p:nvSpPr>
        <p:spPr>
          <a:xfrm>
            <a:off x="828675" y="685802"/>
            <a:ext cx="750093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  <a:defRPr b="0" sz="1600">
                <a:solidFill>
                  <a:srgbClr val="005EAE"/>
                </a:solidFill>
              </a:defRPr>
            </a:lvl1pPr>
            <a:lvl2pPr indent="-342900" lvl="1" marL="914400" algn="l">
              <a:spcBef>
                <a:spcPts val="1134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134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134"/>
              </a:spcBef>
              <a:spcAft>
                <a:spcPts val="0"/>
              </a:spcAft>
              <a:buSzPts val="1800"/>
              <a:buChar char="‒"/>
              <a:defRPr/>
            </a:lvl4pPr>
            <a:lvl5pPr indent="-342900" lvl="4" marL="2286000" algn="l">
              <a:spcBef>
                <a:spcPts val="1134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showMasterSp="0">
  <p:cSld name="Thank You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ctrTitle"/>
          </p:nvPr>
        </p:nvSpPr>
        <p:spPr>
          <a:xfrm>
            <a:off x="828679" y="2786400"/>
            <a:ext cx="7500939" cy="4161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4200"/>
              <a:buFont typeface="Poppins"/>
              <a:buNone/>
              <a:defRPr sz="4200">
                <a:solidFill>
                  <a:srgbClr val="005EA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/>
          <p:nvPr/>
        </p:nvSpPr>
        <p:spPr>
          <a:xfrm>
            <a:off x="0" y="4873500"/>
            <a:ext cx="9144000" cy="270000"/>
          </a:xfrm>
          <a:prstGeom prst="rect">
            <a:avLst/>
          </a:prstGeom>
          <a:solidFill>
            <a:srgbClr val="005EAE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270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0" y="0"/>
            <a:ext cx="9144000" cy="2193079"/>
          </a:xfrm>
          <a:prstGeom prst="rect">
            <a:avLst/>
          </a:prstGeom>
          <a:solidFill>
            <a:srgbClr val="005E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08608" y="260099"/>
            <a:ext cx="3816927" cy="763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&amp; Image" showMasterSp="0">
  <p:cSld name="Title, Content &amp; Imag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/>
          <p:nvPr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270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8"/>
          <p:cNvSpPr/>
          <p:nvPr>
            <p:ph idx="2" type="pic"/>
          </p:nvPr>
        </p:nvSpPr>
        <p:spPr>
          <a:xfrm>
            <a:off x="4939200" y="1457325"/>
            <a:ext cx="4204800" cy="30877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5" name="Google Shape;35;p18"/>
          <p:cNvSpPr txBox="1"/>
          <p:nvPr>
            <p:ph type="title"/>
          </p:nvPr>
        </p:nvSpPr>
        <p:spPr>
          <a:xfrm>
            <a:off x="828679" y="270000"/>
            <a:ext cx="7500939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3600"/>
              <a:buFont typeface="Poppins"/>
              <a:buNone/>
              <a:defRPr>
                <a:solidFill>
                  <a:srgbClr val="005EA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28680" y="1428750"/>
            <a:ext cx="3819525" cy="2990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spcBef>
                <a:spcPts val="85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Char char="–"/>
              <a:defRPr b="0" sz="1600"/>
            </a:lvl1pPr>
            <a:lvl2pPr indent="-330200" lvl="1" marL="914400" algn="l">
              <a:spcBef>
                <a:spcPts val="0"/>
              </a:spcBef>
              <a:spcAft>
                <a:spcPts val="0"/>
              </a:spcAft>
              <a:buSzPts val="1600"/>
              <a:buChar char="–"/>
              <a:defRPr b="0" sz="1600"/>
            </a:lvl2pPr>
            <a:lvl3pPr indent="-317500" lvl="2" marL="1371600" algn="l">
              <a:spcBef>
                <a:spcPts val="1134"/>
              </a:spcBef>
              <a:spcAft>
                <a:spcPts val="0"/>
              </a:spcAft>
              <a:buSzPts val="1400"/>
              <a:buChar char="•"/>
              <a:defRPr b="0" sz="1400"/>
            </a:lvl3pPr>
            <a:lvl4pPr indent="-317500" lvl="3" marL="1828800" algn="l">
              <a:spcBef>
                <a:spcPts val="1134"/>
              </a:spcBef>
              <a:spcAft>
                <a:spcPts val="0"/>
              </a:spcAft>
              <a:buSzPts val="1400"/>
              <a:buChar char="‒"/>
              <a:defRPr b="0" sz="1400"/>
            </a:lvl4pPr>
            <a:lvl5pPr indent="-317500" lvl="4" marL="2286000" algn="l">
              <a:spcBef>
                <a:spcPts val="1134"/>
              </a:spcBef>
              <a:spcAft>
                <a:spcPts val="0"/>
              </a:spcAft>
              <a:buSzPts val="1400"/>
              <a:buChar char="»"/>
              <a:defRPr b="0"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3" type="body"/>
          </p:nvPr>
        </p:nvSpPr>
        <p:spPr>
          <a:xfrm>
            <a:off x="828675" y="685802"/>
            <a:ext cx="750093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  <a:defRPr b="0" sz="1600">
                <a:solidFill>
                  <a:srgbClr val="005EAE"/>
                </a:solidFill>
              </a:defRPr>
            </a:lvl1pPr>
            <a:lvl2pPr indent="-342900" lvl="1" marL="914400" algn="l">
              <a:spcBef>
                <a:spcPts val="1134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134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134"/>
              </a:spcBef>
              <a:spcAft>
                <a:spcPts val="0"/>
              </a:spcAft>
              <a:buSzPts val="1800"/>
              <a:buChar char="‒"/>
              <a:defRPr/>
            </a:lvl4pPr>
            <a:lvl5pPr indent="-342900" lvl="4" marL="2286000" algn="l">
              <a:spcBef>
                <a:spcPts val="1134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475" y="4626026"/>
            <a:ext cx="1873076" cy="37461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18"/>
          <p:cNvCxnSpPr/>
          <p:nvPr/>
        </p:nvCxnSpPr>
        <p:spPr>
          <a:xfrm>
            <a:off x="0" y="107870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 showMasterSp="0">
  <p:cSld name="Title &amp; Imag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/>
          <p:nvPr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270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9"/>
          <p:cNvSpPr/>
          <p:nvPr>
            <p:ph idx="2" type="pic"/>
          </p:nvPr>
        </p:nvSpPr>
        <p:spPr>
          <a:xfrm>
            <a:off x="0" y="1076880"/>
            <a:ext cx="9144000" cy="34074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4" name="Google Shape;44;p19"/>
          <p:cNvSpPr txBox="1"/>
          <p:nvPr>
            <p:ph type="title"/>
          </p:nvPr>
        </p:nvSpPr>
        <p:spPr>
          <a:xfrm>
            <a:off x="828679" y="270000"/>
            <a:ext cx="7500939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3600"/>
              <a:buFont typeface="Poppins"/>
              <a:buNone/>
              <a:defRPr>
                <a:solidFill>
                  <a:srgbClr val="005EA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828675" y="685802"/>
            <a:ext cx="750093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  <a:defRPr b="0" sz="1600">
                <a:solidFill>
                  <a:srgbClr val="005EAE"/>
                </a:solidFill>
              </a:defRPr>
            </a:lvl1pPr>
            <a:lvl2pPr indent="-342900" lvl="1" marL="914400" algn="l">
              <a:spcBef>
                <a:spcPts val="1134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134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134"/>
              </a:spcBef>
              <a:spcAft>
                <a:spcPts val="0"/>
              </a:spcAft>
              <a:buSzPts val="1800"/>
              <a:buChar char="‒"/>
              <a:defRPr/>
            </a:lvl4pPr>
            <a:lvl5pPr indent="-342900" lvl="4" marL="2286000" algn="l">
              <a:spcBef>
                <a:spcPts val="1134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6" name="Google Shape;4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475" y="4626026"/>
            <a:ext cx="1873076" cy="37461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19"/>
          <p:cNvCxnSpPr/>
          <p:nvPr/>
        </p:nvCxnSpPr>
        <p:spPr>
          <a:xfrm>
            <a:off x="0" y="107870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828679" y="270000"/>
            <a:ext cx="7500939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3600"/>
              <a:buFont typeface="Poppins"/>
              <a:buNone/>
              <a:defRPr>
                <a:solidFill>
                  <a:srgbClr val="005EA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&amp; 2 Column Content 20pt" showMasterSp="0">
  <p:cSld name="1_Title &amp; 2 Column Content 20p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/>
          <p:nvPr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270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1"/>
          <p:cNvSpPr txBox="1"/>
          <p:nvPr>
            <p:ph type="title"/>
          </p:nvPr>
        </p:nvSpPr>
        <p:spPr>
          <a:xfrm>
            <a:off x="828679" y="270000"/>
            <a:ext cx="7500939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" type="body"/>
          </p:nvPr>
        </p:nvSpPr>
        <p:spPr>
          <a:xfrm>
            <a:off x="828676" y="1410809"/>
            <a:ext cx="7527924" cy="2732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sz="2000"/>
            </a:lvl1pPr>
            <a:lvl2pPr indent="-355600" lvl="1" marL="914400" algn="l">
              <a:spcBef>
                <a:spcPts val="1134"/>
              </a:spcBef>
              <a:spcAft>
                <a:spcPts val="0"/>
              </a:spcAft>
              <a:buSzPts val="2000"/>
              <a:buFont typeface="EB Garamond"/>
              <a:buChar char="‒"/>
              <a:defRPr sz="2000"/>
            </a:lvl2pPr>
            <a:lvl3pPr indent="-355600" lvl="2" marL="1371600" algn="l">
              <a:spcBef>
                <a:spcPts val="1134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3pPr>
            <a:lvl4pPr indent="-355600" lvl="3" marL="1828800" algn="l">
              <a:spcBef>
                <a:spcPts val="1134"/>
              </a:spcBef>
              <a:spcAft>
                <a:spcPts val="0"/>
              </a:spcAft>
              <a:buSzPts val="2000"/>
              <a:buChar char="‒"/>
              <a:defRPr sz="2000"/>
            </a:lvl4pPr>
            <a:lvl5pPr indent="-355600" lvl="4" marL="2286000" algn="l">
              <a:spcBef>
                <a:spcPts val="1134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2" type="body"/>
          </p:nvPr>
        </p:nvSpPr>
        <p:spPr>
          <a:xfrm>
            <a:off x="828675" y="685802"/>
            <a:ext cx="7500938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1417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  <a:defRPr b="0" sz="1600">
                <a:solidFill>
                  <a:srgbClr val="005EAE"/>
                </a:solidFill>
              </a:defRPr>
            </a:lvl1pPr>
            <a:lvl2pPr indent="-342900" lvl="1" marL="914400" algn="l">
              <a:spcBef>
                <a:spcPts val="1134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134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134"/>
              </a:spcBef>
              <a:spcAft>
                <a:spcPts val="0"/>
              </a:spcAft>
              <a:buSzPts val="1800"/>
              <a:buChar char="‒"/>
              <a:defRPr/>
            </a:lvl4pPr>
            <a:lvl5pPr indent="-342900" lvl="4" marL="2286000" algn="l">
              <a:spcBef>
                <a:spcPts val="1134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7" name="Google Shape;5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475" y="4626026"/>
            <a:ext cx="1873076" cy="37461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algn="r">
              <a:spcBef>
                <a:spcPts val="0"/>
              </a:spcBef>
              <a:buNone/>
              <a:defRPr sz="7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21"/>
          <p:cNvCxnSpPr/>
          <p:nvPr/>
        </p:nvCxnSpPr>
        <p:spPr>
          <a:xfrm>
            <a:off x="0" y="107870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/>
          <p:nvPr>
            <p:ph type="title"/>
          </p:nvPr>
        </p:nvSpPr>
        <p:spPr>
          <a:xfrm>
            <a:off x="828679" y="270000"/>
            <a:ext cx="7500939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  <a:defRPr b="0" i="0" sz="3600" u="none" cap="none" strike="noStrike">
                <a:solidFill>
                  <a:srgbClr val="0E73B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4"/>
          <p:cNvSpPr txBox="1"/>
          <p:nvPr>
            <p:ph idx="1" type="body"/>
          </p:nvPr>
        </p:nvSpPr>
        <p:spPr>
          <a:xfrm>
            <a:off x="828675" y="1403663"/>
            <a:ext cx="7500938" cy="30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rtl="0" algn="l">
              <a:spcBef>
                <a:spcPts val="113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spcBef>
                <a:spcPts val="113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55600" lvl="3" marL="1828800" marR="0" rtl="0" algn="l">
              <a:spcBef>
                <a:spcPts val="113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EB Garamond"/>
              <a:buChar char="‒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55600" lvl="4" marL="2286000" marR="0" rtl="0" algn="l">
              <a:spcBef>
                <a:spcPts val="113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/>
          <p:nvPr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270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4475" y="4626026"/>
            <a:ext cx="1873076" cy="37461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4"/>
          <p:cNvSpPr txBox="1"/>
          <p:nvPr>
            <p:ph idx="12" type="sldNum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" name="Google Shape;12;p14"/>
          <p:cNvCxnSpPr/>
          <p:nvPr/>
        </p:nvCxnSpPr>
        <p:spPr>
          <a:xfrm>
            <a:off x="0" y="107870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vishekbista.pythonanywhere.com/" TargetMode="External"/><Relationship Id="rId4" Type="http://schemas.openxmlformats.org/officeDocument/2006/relationships/hyperlink" Target="https://avishekbista.pythonanywhere.com/admin/login/?next=/admin/shop/order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551948" y="2476782"/>
            <a:ext cx="7500939" cy="4161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"/>
              <a:buNone/>
            </a:pPr>
            <a:r>
              <a:rPr lang="en-US"/>
              <a:t>Online E-Commerce System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828675" y="2892920"/>
            <a:ext cx="7500938" cy="27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b="1" lang="en-US"/>
              <a:t>for Sales and Order Management</a:t>
            </a:r>
            <a:endParaRPr b="1"/>
          </a:p>
        </p:txBody>
      </p:sp>
      <p:sp>
        <p:nvSpPr>
          <p:cNvPr id="66" name="Google Shape;66;p1"/>
          <p:cNvSpPr txBox="1"/>
          <p:nvPr>
            <p:ph idx="2" type="body"/>
          </p:nvPr>
        </p:nvSpPr>
        <p:spPr>
          <a:xfrm>
            <a:off x="828675" y="3580408"/>
            <a:ext cx="4679325" cy="7876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lang="en-US"/>
              <a:t>Avishek Bista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b="0" lang="en-US"/>
              <a:t>TU Roll No: 14892/22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b="0" lang="en-US"/>
              <a:t>Supervisor: Pravin Ratna Shakya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b="0" lang="en-US"/>
              <a:t>Designation: Lecturer, SXC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b="0" lang="en-US">
                <a:latin typeface="Poppins"/>
                <a:ea typeface="Poppins"/>
                <a:cs typeface="Poppins"/>
                <a:sym typeface="Poppins"/>
              </a:rPr>
              <a:t>Date </a:t>
            </a:r>
            <a:r>
              <a:rPr b="0" lang="en-US"/>
              <a:t>2</a:t>
            </a:r>
            <a:r>
              <a:rPr b="0" lang="en-US">
                <a:latin typeface="Poppins"/>
                <a:ea typeface="Poppins"/>
                <a:cs typeface="Poppins"/>
                <a:sym typeface="Poppins"/>
              </a:rPr>
              <a:t>0/02/2026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477371" y="1271154"/>
            <a:ext cx="8169088" cy="3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1" marL="3175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Web-based e-commerce system for managing product sales and customer orders.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317500" rtl="0" algn="l">
              <a:spcBef>
                <a:spcPts val="1134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Automates product browsing, cart, order, and transaction recording.</a:t>
            </a:r>
            <a:endParaRPr/>
          </a:p>
          <a:p>
            <a:pPr indent="-317500" lvl="1" marL="317500" rtl="0" algn="l">
              <a:spcBef>
                <a:spcPts val="1134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Designed mainly for small &amp; medium businesses needing digital sales management.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2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477371" y="1271154"/>
            <a:ext cx="8169088" cy="3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1" marL="3175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/>
              <a:t>Limited market reach due to lack of online presence</a:t>
            </a:r>
            <a:endParaRPr/>
          </a:p>
          <a:p>
            <a:pPr indent="-317500" lvl="1" marL="317500" rtl="0" algn="l">
              <a:spcBef>
                <a:spcPts val="1134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No customer engagement or digital marketing tools</a:t>
            </a:r>
            <a:endParaRPr/>
          </a:p>
          <a:p>
            <a:pPr indent="-317500" lvl="1" marL="317500" rtl="0" algn="l">
              <a:spcBef>
                <a:spcPts val="1134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/>
              <a:t>Competition from bigger brands</a:t>
            </a:r>
            <a:endParaRPr/>
          </a:p>
          <a:p>
            <a:pPr indent="-317500" lvl="1" marL="317500" rtl="0" algn="l">
              <a:spcBef>
                <a:spcPts val="1134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No feedback or review system</a:t>
            </a:r>
            <a:endParaRPr/>
          </a:p>
          <a:p>
            <a:pPr indent="-317500" lvl="1" marL="317500" rtl="0" algn="l">
              <a:spcBef>
                <a:spcPts val="1134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/>
              <a:t>Need for an e-commer</a:t>
            </a:r>
            <a:r>
              <a:rPr lang="en-US"/>
              <a:t>ce platform to boost visibility and sales</a:t>
            </a:r>
            <a:endParaRPr b="0" i="0" sz="2000"/>
          </a:p>
          <a:p>
            <a:pPr indent="-190500" lvl="1" marL="317500" rtl="0" algn="l">
              <a:spcBef>
                <a:spcPts val="1134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/>
          </a:p>
        </p:txBody>
      </p:sp>
      <p:sp>
        <p:nvSpPr>
          <p:cNvPr id="80" name="Google Shape;80;p3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477371" y="1271154"/>
            <a:ext cx="8169088" cy="3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1" marL="3175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Develop a web-based e-commerce platform for online selling</a:t>
            </a:r>
            <a:endParaRPr/>
          </a:p>
          <a:p>
            <a:pPr indent="-317500" lvl="1" marL="317500" rtl="0" algn="l">
              <a:spcBef>
                <a:spcPts val="1134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Implement cart, order processing, and transaction recording</a:t>
            </a:r>
            <a:endParaRPr/>
          </a:p>
          <a:p>
            <a:pPr indent="-317500" lvl="1" marL="317500" rtl="0" algn="l">
              <a:spcBef>
                <a:spcPts val="1134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Provide admin dashboard for product &amp; order management</a:t>
            </a:r>
            <a:endParaRPr b="0" i="0" sz="2000"/>
          </a:p>
        </p:txBody>
      </p:sp>
      <p:sp>
        <p:nvSpPr>
          <p:cNvPr id="87" name="Google Shape;87;p4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0849" y="1308773"/>
            <a:ext cx="11166088" cy="281848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Design</a:t>
            </a:r>
            <a:endParaRPr/>
          </a:p>
        </p:txBody>
      </p:sp>
      <p:sp>
        <p:nvSpPr>
          <p:cNvPr id="94" name="Google Shape;94;p5"/>
          <p:cNvSpPr txBox="1"/>
          <p:nvPr>
            <p:ph idx="2" type="body"/>
          </p:nvPr>
        </p:nvSpPr>
        <p:spPr>
          <a:xfrm>
            <a:off x="477371" y="685802"/>
            <a:ext cx="7852242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lang="en-US"/>
              <a:t>System Design Flow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5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Tools Used</a:t>
            </a:r>
            <a:endParaRPr/>
          </a:p>
        </p:txBody>
      </p:sp>
      <p:sp>
        <p:nvSpPr>
          <p:cNvPr id="101" name="Google Shape;101;p6"/>
          <p:cNvSpPr txBox="1"/>
          <p:nvPr>
            <p:ph idx="2" type="body"/>
          </p:nvPr>
        </p:nvSpPr>
        <p:spPr>
          <a:xfrm>
            <a:off x="477371" y="685802"/>
            <a:ext cx="7852242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lang="en-US"/>
              <a:t>Tools &amp; Technologies Used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477838" y="1816567"/>
            <a:ext cx="270138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</a:rPr>
              <a:t>Python (Backend)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</a:rPr>
              <a:t>Django Framework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</a:rPr>
              <a:t>HTML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</a:rPr>
              <a:t>CSS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</a:rPr>
              <a:t>JavaScript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</a:rPr>
              <a:t>SQLite </a:t>
            </a:r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304" y="1466694"/>
            <a:ext cx="1332696" cy="1319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4664" y="1366490"/>
            <a:ext cx="3714812" cy="120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6205" y="2901475"/>
            <a:ext cx="3377450" cy="1538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7796" y="2798445"/>
            <a:ext cx="2605849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/>
              <a:t>Deliverables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7"/>
          <p:cNvSpPr txBox="1"/>
          <p:nvPr>
            <p:ph idx="2" type="body"/>
          </p:nvPr>
        </p:nvSpPr>
        <p:spPr>
          <a:xfrm>
            <a:off x="477371" y="685802"/>
            <a:ext cx="7852242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lang="en-US"/>
              <a:t>User Side Screens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7"/>
          <p:cNvSpPr txBox="1"/>
          <p:nvPr>
            <p:ph idx="1" type="body"/>
          </p:nvPr>
        </p:nvSpPr>
        <p:spPr>
          <a:xfrm>
            <a:off x="477371" y="1308773"/>
            <a:ext cx="1778051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</a:rPr>
              <a:t>Home Page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2983830" y="1308773"/>
            <a:ext cx="23220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 Listing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5871411" y="1308773"/>
            <a:ext cx="3038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 Detail Page</a:t>
            </a:r>
            <a:endParaRPr/>
          </a:p>
        </p:txBody>
      </p:sp>
      <p:pic>
        <p:nvPicPr>
          <p:cNvPr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371" y="1814888"/>
            <a:ext cx="2141313" cy="2493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8210" y="1814888"/>
            <a:ext cx="2033337" cy="2466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1933" y="1814888"/>
            <a:ext cx="2319533" cy="271662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/>
              <a:t>Deliverables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8"/>
          <p:cNvSpPr txBox="1"/>
          <p:nvPr>
            <p:ph idx="2" type="body"/>
          </p:nvPr>
        </p:nvSpPr>
        <p:spPr>
          <a:xfrm>
            <a:off x="477371" y="685802"/>
            <a:ext cx="7852242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lang="en-US"/>
              <a:t>Order Process Screens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77371" y="1226749"/>
            <a:ext cx="157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lang="en-US"/>
              <a:t>Cart Page</a:t>
            </a:r>
            <a:endParaRPr/>
          </a:p>
        </p:txBody>
      </p:sp>
      <p:sp>
        <p:nvSpPr>
          <p:cNvPr id="128" name="Google Shape;128;p8"/>
          <p:cNvSpPr txBox="1"/>
          <p:nvPr/>
        </p:nvSpPr>
        <p:spPr>
          <a:xfrm>
            <a:off x="3243823" y="1226779"/>
            <a:ext cx="22655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Checkout Page</a:t>
            </a:r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6099021" y="1226779"/>
            <a:ext cx="281045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Order Confirmation</a:t>
            </a:r>
            <a:endParaRPr/>
          </a:p>
        </p:txBody>
      </p:sp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729" y="1681096"/>
            <a:ext cx="2468681" cy="255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1213" y="1681096"/>
            <a:ext cx="2284557" cy="263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3000" y="1617547"/>
            <a:ext cx="2667271" cy="275713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/>
              <a:t>Deliverables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9"/>
          <p:cNvSpPr txBox="1"/>
          <p:nvPr>
            <p:ph idx="2" type="body"/>
          </p:nvPr>
        </p:nvSpPr>
        <p:spPr>
          <a:xfrm>
            <a:off x="477371" y="685802"/>
            <a:ext cx="7852242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1600"/>
              <a:buNone/>
            </a:pPr>
            <a:r>
              <a:rPr lang="en-US"/>
              <a:t>Admin Side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342113" y="1157873"/>
            <a:ext cx="262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lang="en-US"/>
              <a:t>Admin Dashboard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3106234" y="1157923"/>
            <a:ext cx="315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 Management</a:t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6562143" y="1157923"/>
            <a:ext cx="251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Order View Panel</a:t>
            </a:r>
            <a:endParaRPr/>
          </a:p>
        </p:txBody>
      </p:sp>
      <p:pic>
        <p:nvPicPr>
          <p:cNvPr id="143" name="Google Shape;1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688" y="1636550"/>
            <a:ext cx="2654499" cy="2821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3086" y="1636550"/>
            <a:ext cx="2583968" cy="2821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8416" y="1636551"/>
            <a:ext cx="2491060" cy="282114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9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/>
              <a:t>Critical Analysis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10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158889" y="2884871"/>
            <a:ext cx="4740442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Weaknesses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integrated payment gateway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Limited analytics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Basic inventory features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158889" y="1072001"/>
            <a:ext cx="485828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Strengths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Automated transaction recording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Improved data accuracy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Reduced manual errors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Scalable modular design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4403558" y="1072001"/>
            <a:ext cx="4740442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Integration with digital payment systems (eSewa, Khalti, etc.)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Expansion into full Management Information System (MIS)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Mobile app development for wider reach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4403558" y="2884871"/>
            <a:ext cx="4848726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</a:pPr>
            <a:r>
              <a:rPr b="1" lang="en-U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Threats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Strong competition from established platforms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Rapid technology changes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Regulatory compliance and data protection requirements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/>
              <a:t>Conclusion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477371" y="1271154"/>
            <a:ext cx="8169088" cy="3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lang="en-US"/>
              <a:t>Successfully developed a functional e-commerce TPS system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lang="en-US"/>
              <a:t>Automates sales and order management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lang="en-US"/>
              <a:t>Improves efficiency and data reliability</a:t>
            </a:r>
            <a:endParaRPr/>
          </a:p>
          <a:p>
            <a:pPr indent="-1270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</a:pPr>
            <a:r>
              <a:rPr b="0" lang="en-US"/>
              <a:t>Provides base for future MIS &amp; analytics features</a:t>
            </a:r>
            <a:endParaRPr/>
          </a:p>
        </p:txBody>
      </p:sp>
      <p:sp>
        <p:nvSpPr>
          <p:cNvPr id="163" name="Google Shape;163;p11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423583" y="270000"/>
            <a:ext cx="7906036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73B9"/>
              </a:buClr>
              <a:buSzPts val="3600"/>
              <a:buFont typeface="Poppins"/>
              <a:buNone/>
            </a:pPr>
            <a:r>
              <a:rPr b="1" lang="en-US"/>
              <a:t>Project Demo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12"/>
          <p:cNvSpPr txBox="1"/>
          <p:nvPr>
            <p:ph idx="1" type="body"/>
          </p:nvPr>
        </p:nvSpPr>
        <p:spPr>
          <a:xfrm>
            <a:off x="477371" y="1271154"/>
            <a:ext cx="8169088" cy="30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/>
          </a:p>
          <a:p>
            <a:pPr indent="-317500" lvl="1" marL="317500" rtl="0" algn="l">
              <a:spcBef>
                <a:spcPts val="1134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User panel –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https://avishekbista.pythonanywhere.com/</a:t>
            </a:r>
            <a:endParaRPr/>
          </a:p>
          <a:p>
            <a:pPr indent="0" lvl="0" marL="317500" rtl="0" algn="l">
              <a:spcBef>
                <a:spcPts val="1134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3175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Admin panel - </a:t>
            </a:r>
            <a:r>
              <a:rPr lang="en-US" u="sng">
                <a:hlinkClick r:id="rId4"/>
              </a:rPr>
              <a:t>https://avishekbista.pythonanywhere.com/admin/login/?next=/admin/shop/order/</a:t>
            </a:r>
            <a:endParaRPr/>
          </a:p>
          <a:p>
            <a:pPr indent="0" lvl="1" marL="0" rtl="0" algn="l">
              <a:spcBef>
                <a:spcPts val="1134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/>
          </a:p>
        </p:txBody>
      </p:sp>
      <p:sp>
        <p:nvSpPr>
          <p:cNvPr id="170" name="Google Shape;170;p12"/>
          <p:cNvSpPr txBox="1"/>
          <p:nvPr>
            <p:ph idx="12" type="sldNum"/>
          </p:nvPr>
        </p:nvSpPr>
        <p:spPr>
          <a:xfrm>
            <a:off x="6965795" y="3872346"/>
            <a:ext cx="1943681" cy="12007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ctrTitle"/>
          </p:nvPr>
        </p:nvSpPr>
        <p:spPr>
          <a:xfrm>
            <a:off x="-635623" y="2491525"/>
            <a:ext cx="52521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5EAE"/>
              </a:buClr>
              <a:buSzPts val="3600"/>
              <a:buFont typeface="Poppins"/>
              <a:buNone/>
            </a:pPr>
            <a:r>
              <a:rPr b="1" lang="en-US" sz="3600"/>
              <a:t>Thank  You</a:t>
            </a:r>
            <a:endParaRPr b="1"/>
          </a:p>
        </p:txBody>
      </p:sp>
      <p:sp>
        <p:nvSpPr>
          <p:cNvPr id="176" name="Google Shape;176;p13"/>
          <p:cNvSpPr txBox="1"/>
          <p:nvPr/>
        </p:nvSpPr>
        <p:spPr>
          <a:xfrm>
            <a:off x="829925" y="3130975"/>
            <a:ext cx="5147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5EAE"/>
                </a:solidFill>
                <a:latin typeface="Poppins"/>
                <a:ea typeface="Poppins"/>
                <a:cs typeface="Poppins"/>
                <a:sym typeface="Poppins"/>
              </a:rPr>
              <a:t>Avishek Bista</a:t>
            </a:r>
            <a:endParaRPr b="1" sz="2000">
              <a:solidFill>
                <a:srgbClr val="005E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5E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5EAE"/>
                </a:solidFill>
                <a:latin typeface="Poppins"/>
                <a:ea typeface="Poppins"/>
                <a:cs typeface="Poppins"/>
                <a:sym typeface="Poppins"/>
              </a:rPr>
              <a:t>TU Roll No: 14892/22</a:t>
            </a:r>
            <a:endParaRPr b="1" sz="2000">
              <a:solidFill>
                <a:srgbClr val="005E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5EAE"/>
                </a:solidFill>
                <a:latin typeface="Poppins"/>
                <a:ea typeface="Poppins"/>
                <a:cs typeface="Poppins"/>
                <a:sym typeface="Poppins"/>
              </a:rPr>
              <a:t>TU Registration No: 7-2-282-16-2022</a:t>
            </a:r>
            <a:endParaRPr b="1" sz="2000">
              <a:solidFill>
                <a:srgbClr val="005E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5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CD_PPT_Calibri_Option2a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2013-07-29T09:34:50Z</dcterms:created>
  <dc:creator>dtpgraphics</dc:creator>
</cp:coreProperties>
</file>